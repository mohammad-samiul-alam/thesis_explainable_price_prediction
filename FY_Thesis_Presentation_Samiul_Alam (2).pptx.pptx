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Default Extension="fntdata" ContentType="application/x-fontdata"/>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8288000" cy="10287000"/>
  <p:notesSz cx="6858000" cy="9144000"/>
  <p:embeddedFontLst>
    <p:embeddedFont>
      <p:font typeface="Times New Roman Bold" charset="0"/>
      <p:regular r:id="rId18"/>
    </p:embeddedFont>
    <p:embeddedFont>
      <p:font typeface="Times New Roman Italics" charset="0"/>
      <p:regular r:id="rId19"/>
    </p:embeddedFont>
    <p:embeddedFont>
      <p:font typeface="Calibri" pitchFamily="34" charset="0"/>
      <p:regular r:id="rId20"/>
      <p:bold r:id="rId21"/>
      <p:italic r:id="rId22"/>
      <p:boldItalic r:id="rId23"/>
    </p:embeddedFont>
    <p:embeddedFont>
      <p:font typeface="Calibri (MS)"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autoAdjust="0"/>
    <p:restoredTop sz="94622" autoAdjust="0"/>
  </p:normalViewPr>
  <p:slideViewPr>
    <p:cSldViewPr>
      <p:cViewPr varScale="1">
        <p:scale>
          <a:sx n="46" d="100"/>
          <a:sy n="46" d="100"/>
        </p:scale>
        <p:origin x="-756"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10/2/2026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10/2/2026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5143500"/>
            <a:chOff x="0" y="0"/>
            <a:chExt cx="24384000" cy="6858000"/>
          </a:xfrm>
        </p:grpSpPr>
        <p:sp>
          <p:nvSpPr>
            <p:cNvPr id="3" name="Freeform 3"/>
            <p:cNvSpPr/>
            <p:nvPr/>
          </p:nvSpPr>
          <p:spPr>
            <a:xfrm>
              <a:off x="0" y="0"/>
              <a:ext cx="24384000" cy="6858000"/>
            </a:xfrm>
            <a:custGeom>
              <a:avLst/>
              <a:gdLst/>
              <a:ahLst/>
              <a:cxnLst/>
              <a:rect l="l" t="t" r="r" b="b"/>
              <a:pathLst>
                <a:path w="24384000" h="6858000">
                  <a:moveTo>
                    <a:pt x="0" y="0"/>
                  </a:moveTo>
                  <a:lnTo>
                    <a:pt x="24384000" y="0"/>
                  </a:lnTo>
                  <a:lnTo>
                    <a:pt x="24384000" y="6858000"/>
                  </a:lnTo>
                  <a:lnTo>
                    <a:pt x="0" y="6858000"/>
                  </a:lnTo>
                  <a:close/>
                </a:path>
              </a:pathLst>
            </a:custGeom>
            <a:solidFill>
              <a:srgbClr val="DAE3F3"/>
            </a:solidFill>
          </p:spPr>
        </p:sp>
      </p:grpSp>
      <p:grpSp>
        <p:nvGrpSpPr>
          <p:cNvPr id="4" name="Group 4"/>
          <p:cNvGrpSpPr/>
          <p:nvPr/>
        </p:nvGrpSpPr>
        <p:grpSpPr>
          <a:xfrm>
            <a:off x="2286000" y="2925004"/>
            <a:ext cx="13716000" cy="1274997"/>
            <a:chOff x="0" y="0"/>
            <a:chExt cx="18288000" cy="1699997"/>
          </a:xfrm>
        </p:grpSpPr>
        <p:sp>
          <p:nvSpPr>
            <p:cNvPr id="5" name="Freeform 5"/>
            <p:cNvSpPr/>
            <p:nvPr/>
          </p:nvSpPr>
          <p:spPr>
            <a:xfrm>
              <a:off x="0" y="0"/>
              <a:ext cx="18288000" cy="1700000"/>
            </a:xfrm>
            <a:custGeom>
              <a:avLst/>
              <a:gdLst/>
              <a:ahLst/>
              <a:cxnLst/>
              <a:rect l="l" t="t" r="r" b="b"/>
              <a:pathLst>
                <a:path w="18288000" h="1700000">
                  <a:moveTo>
                    <a:pt x="0" y="0"/>
                  </a:moveTo>
                  <a:lnTo>
                    <a:pt x="18288000" y="0"/>
                  </a:lnTo>
                  <a:lnTo>
                    <a:pt x="18288000" y="1700000"/>
                  </a:lnTo>
                  <a:lnTo>
                    <a:pt x="0" y="1700000"/>
                  </a:lnTo>
                  <a:close/>
                </a:path>
              </a:pathLst>
            </a:custGeom>
            <a:blipFill>
              <a:blip r:embed="rId2">
                <a:alphaModFix amt="0"/>
              </a:blip>
              <a:stretch>
                <a:fillRect t="-159613" b="-159613"/>
              </a:stretch>
            </a:blipFill>
          </p:spPr>
        </p:sp>
        <p:sp>
          <p:nvSpPr>
            <p:cNvPr id="6" name="TextBox 6"/>
            <p:cNvSpPr txBox="1"/>
            <p:nvPr/>
          </p:nvSpPr>
          <p:spPr>
            <a:xfrm>
              <a:off x="0" y="9525"/>
              <a:ext cx="18288000" cy="1690472"/>
            </a:xfrm>
            <a:prstGeom prst="rect">
              <a:avLst/>
            </a:prstGeom>
          </p:spPr>
          <p:txBody>
            <a:bodyPr lIns="0" tIns="0" rIns="0" bIns="0" rtlCol="0" anchor="b"/>
            <a:lstStyle/>
            <a:p>
              <a:pPr algn="ctr">
                <a:lnSpc>
                  <a:spcPts val="4212"/>
                </a:lnSpc>
              </a:pPr>
              <a:r>
                <a:rPr lang="en-US" sz="3900" b="1" dirty="0">
                  <a:solidFill>
                    <a:srgbClr val="000000"/>
                  </a:solidFill>
                  <a:latin typeface="Times New Roman Bold"/>
                  <a:ea typeface="Times New Roman Bold"/>
                  <a:cs typeface="Times New Roman Bold"/>
                  <a:sym typeface="Times New Roman Bold"/>
                </a:rPr>
                <a:t>Explainable Price Prediction of Consumer Electronics in Bangladeshi E-Commerce</a:t>
              </a:r>
            </a:p>
          </p:txBody>
        </p:sp>
      </p:grpSp>
      <p:grpSp>
        <p:nvGrpSpPr>
          <p:cNvPr id="7" name="Group 7"/>
          <p:cNvGrpSpPr/>
          <p:nvPr/>
        </p:nvGrpSpPr>
        <p:grpSpPr>
          <a:xfrm>
            <a:off x="0" y="8919705"/>
            <a:ext cx="18288000" cy="1397117"/>
            <a:chOff x="0" y="0"/>
            <a:chExt cx="24384000" cy="1862823"/>
          </a:xfrm>
        </p:grpSpPr>
        <p:sp>
          <p:nvSpPr>
            <p:cNvPr id="8" name="Freeform 8"/>
            <p:cNvSpPr/>
            <p:nvPr/>
          </p:nvSpPr>
          <p:spPr>
            <a:xfrm>
              <a:off x="0" y="0"/>
              <a:ext cx="24384000" cy="1862836"/>
            </a:xfrm>
            <a:custGeom>
              <a:avLst/>
              <a:gdLst/>
              <a:ahLst/>
              <a:cxnLst/>
              <a:rect l="l" t="t" r="r" b="b"/>
              <a:pathLst>
                <a:path w="24384000" h="1862836">
                  <a:moveTo>
                    <a:pt x="0" y="0"/>
                  </a:moveTo>
                  <a:lnTo>
                    <a:pt x="24384000" y="0"/>
                  </a:lnTo>
                  <a:lnTo>
                    <a:pt x="24384000" y="1862836"/>
                  </a:lnTo>
                  <a:lnTo>
                    <a:pt x="0" y="1862836"/>
                  </a:lnTo>
                  <a:close/>
                </a:path>
              </a:pathLst>
            </a:custGeom>
            <a:solidFill>
              <a:srgbClr val="333F50"/>
            </a:solidFill>
          </p:spPr>
        </p:sp>
      </p:grpSp>
      <p:grpSp>
        <p:nvGrpSpPr>
          <p:cNvPr id="9" name="Group 9"/>
          <p:cNvGrpSpPr/>
          <p:nvPr/>
        </p:nvGrpSpPr>
        <p:grpSpPr>
          <a:xfrm>
            <a:off x="8578806" y="962196"/>
            <a:ext cx="1130389" cy="1119130"/>
            <a:chOff x="0" y="0"/>
            <a:chExt cx="1507185" cy="1492174"/>
          </a:xfrm>
        </p:grpSpPr>
        <p:sp>
          <p:nvSpPr>
            <p:cNvPr id="10" name="Freeform 10"/>
            <p:cNvSpPr/>
            <p:nvPr/>
          </p:nvSpPr>
          <p:spPr>
            <a:xfrm>
              <a:off x="0" y="0"/>
              <a:ext cx="1507236" cy="1492123"/>
            </a:xfrm>
            <a:custGeom>
              <a:avLst/>
              <a:gdLst/>
              <a:ahLst/>
              <a:cxnLst/>
              <a:rect l="l" t="t" r="r" b="b"/>
              <a:pathLst>
                <a:path w="1507236" h="1492123">
                  <a:moveTo>
                    <a:pt x="0" y="0"/>
                  </a:moveTo>
                  <a:lnTo>
                    <a:pt x="1507236" y="0"/>
                  </a:lnTo>
                  <a:lnTo>
                    <a:pt x="1507236" y="1492123"/>
                  </a:lnTo>
                  <a:lnTo>
                    <a:pt x="0" y="1492123"/>
                  </a:lnTo>
                  <a:lnTo>
                    <a:pt x="0" y="0"/>
                  </a:lnTo>
                  <a:close/>
                </a:path>
              </a:pathLst>
            </a:custGeom>
            <a:blipFill>
              <a:blip r:embed="rId3"/>
              <a:stretch>
                <a:fillRect r="3" b="-3"/>
              </a:stretch>
            </a:blipFill>
          </p:spPr>
        </p:sp>
      </p:grpSp>
      <p:sp>
        <p:nvSpPr>
          <p:cNvPr id="11" name="TextBox 11"/>
          <p:cNvSpPr txBox="1"/>
          <p:nvPr/>
        </p:nvSpPr>
        <p:spPr>
          <a:xfrm>
            <a:off x="2377440" y="2314766"/>
            <a:ext cx="13533120" cy="497053"/>
          </a:xfrm>
          <a:prstGeom prst="rect">
            <a:avLst/>
          </a:prstGeom>
        </p:spPr>
        <p:txBody>
          <a:bodyPr lIns="0" tIns="0" rIns="0" bIns="0" rtlCol="0" anchor="t">
            <a:spAutoFit/>
          </a:bodyPr>
          <a:lstStyle/>
          <a:p>
            <a:pPr algn="ctr">
              <a:lnSpc>
                <a:spcPts val="3564"/>
              </a:lnSpc>
            </a:pPr>
            <a:r>
              <a:rPr lang="en-US" sz="3300">
                <a:solidFill>
                  <a:srgbClr val="000000"/>
                </a:solidFill>
                <a:latin typeface="Times New Roman"/>
                <a:ea typeface="Times New Roman"/>
                <a:cs typeface="Times New Roman"/>
                <a:sym typeface="Times New Roman"/>
              </a:rPr>
              <a:t>Presentation on</a:t>
            </a:r>
          </a:p>
        </p:txBody>
      </p:sp>
      <p:sp>
        <p:nvSpPr>
          <p:cNvPr id="12" name="TextBox 12"/>
          <p:cNvSpPr txBox="1"/>
          <p:nvPr/>
        </p:nvSpPr>
        <p:spPr>
          <a:xfrm>
            <a:off x="5014770" y="9150658"/>
            <a:ext cx="8258451" cy="906628"/>
          </a:xfrm>
          <a:prstGeom prst="rect">
            <a:avLst/>
          </a:prstGeom>
        </p:spPr>
        <p:txBody>
          <a:bodyPr lIns="0" tIns="0" rIns="0" bIns="0" rtlCol="0" anchor="t">
            <a:spAutoFit/>
          </a:bodyPr>
          <a:lstStyle/>
          <a:p>
            <a:pPr algn="ctr">
              <a:lnSpc>
                <a:spcPts val="3600"/>
              </a:lnSpc>
            </a:pPr>
            <a:r>
              <a:rPr lang="en-US" sz="3000" b="1">
                <a:solidFill>
                  <a:srgbClr val="FFFFFF"/>
                </a:solidFill>
                <a:latin typeface="Times New Roman Bold"/>
                <a:ea typeface="Times New Roman Bold"/>
                <a:cs typeface="Times New Roman Bold"/>
                <a:sym typeface="Times New Roman Bold"/>
              </a:rPr>
              <a:t>Department of Computer Science &amp; Engineering</a:t>
            </a:r>
          </a:p>
          <a:p>
            <a:pPr algn="ctr">
              <a:lnSpc>
                <a:spcPts val="2879"/>
              </a:lnSpc>
            </a:pPr>
            <a:r>
              <a:rPr lang="en-US" sz="2400">
                <a:solidFill>
                  <a:srgbClr val="FFFFFF"/>
                </a:solidFill>
                <a:latin typeface="Times New Roman"/>
                <a:ea typeface="Times New Roman"/>
                <a:cs typeface="Times New Roman"/>
                <a:sym typeface="Times New Roman"/>
              </a:rPr>
              <a:t>Pundra University of Science &amp; Technology, Bogura – 5800 </a:t>
            </a:r>
          </a:p>
        </p:txBody>
      </p:sp>
      <p:sp>
        <p:nvSpPr>
          <p:cNvPr id="13" name="TextBox 13"/>
          <p:cNvSpPr txBox="1"/>
          <p:nvPr/>
        </p:nvSpPr>
        <p:spPr>
          <a:xfrm>
            <a:off x="4191000" y="4714389"/>
            <a:ext cx="1901933" cy="657711"/>
          </a:xfrm>
          <a:prstGeom prst="rect">
            <a:avLst/>
          </a:prstGeom>
        </p:spPr>
        <p:txBody>
          <a:bodyPr lIns="0" tIns="0" rIns="0" bIns="0" rtlCol="0" anchor="t">
            <a:spAutoFit/>
          </a:bodyPr>
          <a:lstStyle/>
          <a:p>
            <a:pPr algn="l">
              <a:lnSpc>
                <a:spcPts val="3240"/>
              </a:lnSpc>
            </a:pPr>
            <a:r>
              <a:rPr lang="en-US" sz="2700" i="1" dirty="0">
                <a:solidFill>
                  <a:srgbClr val="000000"/>
                </a:solidFill>
                <a:latin typeface="Times New Roman Italics"/>
                <a:ea typeface="Times New Roman Italics"/>
                <a:cs typeface="Times New Roman Italics"/>
                <a:sym typeface="Times New Roman Italics"/>
              </a:rPr>
              <a:t>Presented By</a:t>
            </a:r>
          </a:p>
        </p:txBody>
      </p:sp>
      <p:sp>
        <p:nvSpPr>
          <p:cNvPr id="14" name="TextBox 14"/>
          <p:cNvSpPr txBox="1"/>
          <p:nvPr/>
        </p:nvSpPr>
        <p:spPr>
          <a:xfrm>
            <a:off x="2377440" y="4736668"/>
            <a:ext cx="5638800" cy="3424014"/>
          </a:xfrm>
          <a:prstGeom prst="rect">
            <a:avLst/>
          </a:prstGeom>
        </p:spPr>
        <p:txBody>
          <a:bodyPr lIns="0" tIns="0" rIns="0" bIns="0" rtlCol="0" anchor="t">
            <a:spAutoFit/>
          </a:bodyPr>
          <a:lstStyle/>
          <a:p>
            <a:pPr algn="ctr">
              <a:lnSpc>
                <a:spcPts val="3240"/>
              </a:lnSpc>
            </a:pPr>
            <a:endParaRPr lang="en-US" sz="2700" b="1" dirty="0" smtClean="0">
              <a:solidFill>
                <a:srgbClr val="000000"/>
              </a:solidFill>
              <a:latin typeface="Times New Roman Bold"/>
              <a:ea typeface="Times New Roman Bold"/>
              <a:cs typeface="Times New Roman Bold"/>
              <a:sym typeface="Times New Roman Bold"/>
            </a:endParaRPr>
          </a:p>
          <a:p>
            <a:pPr algn="ctr">
              <a:lnSpc>
                <a:spcPts val="3240"/>
              </a:lnSpc>
            </a:pPr>
            <a:r>
              <a:rPr lang="en-US" sz="2700" b="1" dirty="0" smtClean="0">
                <a:solidFill>
                  <a:srgbClr val="000000"/>
                </a:solidFill>
                <a:latin typeface="Times New Roman Bold"/>
                <a:ea typeface="Times New Roman Bold"/>
                <a:cs typeface="Times New Roman Bold"/>
                <a:sym typeface="Times New Roman Bold"/>
              </a:rPr>
              <a:t>Md</a:t>
            </a:r>
            <a:r>
              <a:rPr lang="en-US" sz="2700" b="1" dirty="0">
                <a:solidFill>
                  <a:srgbClr val="000000"/>
                </a:solidFill>
                <a:latin typeface="Times New Roman Bold"/>
                <a:ea typeface="Times New Roman Bold"/>
                <a:cs typeface="Times New Roman Bold"/>
                <a:sym typeface="Times New Roman Bold"/>
              </a:rPr>
              <a:t>. </a:t>
            </a:r>
            <a:r>
              <a:rPr lang="en-US" sz="2700" b="1" dirty="0" err="1">
                <a:solidFill>
                  <a:srgbClr val="000000"/>
                </a:solidFill>
                <a:latin typeface="Times New Roman Bold"/>
                <a:ea typeface="Times New Roman Bold"/>
                <a:cs typeface="Times New Roman Bold"/>
                <a:sym typeface="Times New Roman Bold"/>
              </a:rPr>
              <a:t>Samiul</a:t>
            </a:r>
            <a:r>
              <a:rPr lang="en-US" sz="2700" b="1" dirty="0">
                <a:solidFill>
                  <a:srgbClr val="000000"/>
                </a:solidFill>
                <a:latin typeface="Times New Roman Bold"/>
                <a:ea typeface="Times New Roman Bold"/>
                <a:cs typeface="Times New Roman Bold"/>
                <a:sym typeface="Times New Roman Bold"/>
              </a:rPr>
              <a:t> </a:t>
            </a:r>
            <a:r>
              <a:rPr lang="en-US" sz="2700" b="1" dirty="0" err="1">
                <a:solidFill>
                  <a:srgbClr val="000000"/>
                </a:solidFill>
                <a:latin typeface="Times New Roman Bold"/>
                <a:ea typeface="Times New Roman Bold"/>
                <a:cs typeface="Times New Roman Bold"/>
                <a:sym typeface="Times New Roman Bold"/>
              </a:rPr>
              <a:t>Alam</a:t>
            </a:r>
            <a:endParaRPr lang="en-US" sz="2700" b="1" dirty="0">
              <a:solidFill>
                <a:srgbClr val="000000"/>
              </a:solidFill>
              <a:latin typeface="Times New Roman Bold"/>
              <a:ea typeface="Times New Roman Bold"/>
              <a:cs typeface="Times New Roman Bold"/>
              <a:sym typeface="Times New Roman Bold"/>
            </a:endParaRPr>
          </a:p>
          <a:p>
            <a:pPr algn="ctr">
              <a:lnSpc>
                <a:spcPts val="2879"/>
              </a:lnSpc>
            </a:pPr>
            <a:r>
              <a:rPr lang="en-US" sz="2400" dirty="0">
                <a:solidFill>
                  <a:srgbClr val="000000"/>
                </a:solidFill>
                <a:latin typeface="Times New Roman"/>
                <a:ea typeface="Times New Roman"/>
                <a:cs typeface="Times New Roman"/>
                <a:sym typeface="Times New Roman"/>
              </a:rPr>
              <a:t>Program: B.Sc. in CSE (HSC)</a:t>
            </a:r>
          </a:p>
          <a:p>
            <a:pPr algn="ctr">
              <a:lnSpc>
                <a:spcPts val="2879"/>
              </a:lnSpc>
            </a:pPr>
            <a:r>
              <a:rPr lang="en-US" sz="2400" dirty="0">
                <a:solidFill>
                  <a:srgbClr val="000000"/>
                </a:solidFill>
                <a:latin typeface="Times New Roman"/>
                <a:ea typeface="Times New Roman"/>
                <a:cs typeface="Times New Roman"/>
                <a:sym typeface="Times New Roman"/>
              </a:rPr>
              <a:t>ID: 0322320105101032</a:t>
            </a:r>
          </a:p>
          <a:p>
            <a:pPr algn="ctr">
              <a:lnSpc>
                <a:spcPts val="2879"/>
              </a:lnSpc>
            </a:pPr>
            <a:r>
              <a:rPr lang="en-US" sz="2400" dirty="0">
                <a:solidFill>
                  <a:srgbClr val="000000"/>
                </a:solidFill>
                <a:latin typeface="Times New Roman"/>
                <a:ea typeface="Times New Roman"/>
                <a:cs typeface="Times New Roman"/>
                <a:sym typeface="Times New Roman"/>
              </a:rPr>
              <a:t>Batch: 23ʳᵈ </a:t>
            </a:r>
          </a:p>
          <a:p>
            <a:pPr algn="ctr">
              <a:lnSpc>
                <a:spcPts val="2879"/>
              </a:lnSpc>
            </a:pPr>
            <a:r>
              <a:rPr lang="en-US" sz="2400" dirty="0">
                <a:solidFill>
                  <a:srgbClr val="000000"/>
                </a:solidFill>
                <a:latin typeface="Times New Roman"/>
                <a:ea typeface="Times New Roman"/>
                <a:cs typeface="Times New Roman"/>
                <a:sym typeface="Times New Roman"/>
              </a:rPr>
              <a:t>Semester: 7ᵗʰ </a:t>
            </a:r>
          </a:p>
          <a:p>
            <a:pPr algn="ctr">
              <a:lnSpc>
                <a:spcPts val="2879"/>
              </a:lnSpc>
            </a:pPr>
            <a:r>
              <a:rPr lang="en-US" sz="2400" dirty="0">
                <a:solidFill>
                  <a:srgbClr val="000000"/>
                </a:solidFill>
                <a:latin typeface="Times New Roman"/>
                <a:ea typeface="Times New Roman"/>
                <a:cs typeface="Times New Roman"/>
                <a:sym typeface="Times New Roman"/>
              </a:rPr>
              <a:t>Session: Summer - 2026</a:t>
            </a:r>
          </a:p>
          <a:p>
            <a:pPr algn="ctr">
              <a:lnSpc>
                <a:spcPts val="2879"/>
              </a:lnSpc>
            </a:pPr>
            <a:endParaRPr/>
          </a:p>
          <a:p>
            <a:pPr algn="ctr">
              <a:lnSpc>
                <a:spcPts val="2879"/>
              </a:lnSpc>
            </a:pPr>
            <a:endParaRPr/>
          </a:p>
        </p:txBody>
      </p:sp>
      <p:sp>
        <p:nvSpPr>
          <p:cNvPr id="15" name="TextBox 15"/>
          <p:cNvSpPr txBox="1"/>
          <p:nvPr/>
        </p:nvSpPr>
        <p:spPr>
          <a:xfrm>
            <a:off x="12100912" y="4738087"/>
            <a:ext cx="2758088" cy="481613"/>
          </a:xfrm>
          <a:prstGeom prst="rect">
            <a:avLst/>
          </a:prstGeom>
        </p:spPr>
        <p:txBody>
          <a:bodyPr lIns="0" tIns="0" rIns="0" bIns="0" rtlCol="0" anchor="t">
            <a:spAutoFit/>
          </a:bodyPr>
          <a:lstStyle/>
          <a:p>
            <a:pPr algn="l">
              <a:lnSpc>
                <a:spcPts val="3240"/>
              </a:lnSpc>
            </a:pPr>
            <a:r>
              <a:rPr lang="en-US" sz="2700" i="1" dirty="0">
                <a:solidFill>
                  <a:srgbClr val="000000"/>
                </a:solidFill>
                <a:latin typeface="Times New Roman Italics"/>
                <a:ea typeface="Times New Roman Italics"/>
                <a:cs typeface="Times New Roman Italics"/>
                <a:sym typeface="Times New Roman Italics"/>
              </a:rPr>
              <a:t>Supervised By</a:t>
            </a:r>
          </a:p>
        </p:txBody>
      </p:sp>
      <p:sp>
        <p:nvSpPr>
          <p:cNvPr id="16" name="TextBox 16"/>
          <p:cNvSpPr txBox="1"/>
          <p:nvPr/>
        </p:nvSpPr>
        <p:spPr>
          <a:xfrm>
            <a:off x="10271760" y="4736668"/>
            <a:ext cx="5638800" cy="2308324"/>
          </a:xfrm>
          <a:prstGeom prst="rect">
            <a:avLst/>
          </a:prstGeom>
        </p:spPr>
        <p:txBody>
          <a:bodyPr lIns="0" tIns="0" rIns="0" bIns="0" rtlCol="0" anchor="t">
            <a:spAutoFit/>
          </a:bodyPr>
          <a:lstStyle/>
          <a:p>
            <a:pPr algn="ctr">
              <a:lnSpc>
                <a:spcPts val="3240"/>
              </a:lnSpc>
            </a:pPr>
            <a:endParaRPr lang="en-US" sz="2700" b="1" dirty="0" smtClean="0">
              <a:solidFill>
                <a:srgbClr val="000000"/>
              </a:solidFill>
              <a:latin typeface="Times New Roman Bold"/>
              <a:ea typeface="Times New Roman Bold"/>
              <a:cs typeface="Times New Roman Bold"/>
              <a:sym typeface="Times New Roman Bold"/>
            </a:endParaRPr>
          </a:p>
          <a:p>
            <a:pPr algn="ctr">
              <a:lnSpc>
                <a:spcPts val="3240"/>
              </a:lnSpc>
            </a:pPr>
            <a:r>
              <a:rPr lang="en-US" sz="2700" b="1" dirty="0" smtClean="0">
                <a:solidFill>
                  <a:srgbClr val="000000"/>
                </a:solidFill>
                <a:latin typeface="Times New Roman Bold"/>
                <a:ea typeface="Times New Roman Bold"/>
                <a:cs typeface="Times New Roman Bold"/>
                <a:sym typeface="Times New Roman Bold"/>
              </a:rPr>
              <a:t>To </a:t>
            </a:r>
            <a:r>
              <a:rPr lang="en-US" sz="2700" b="1" dirty="0">
                <a:solidFill>
                  <a:srgbClr val="000000"/>
                </a:solidFill>
                <a:latin typeface="Times New Roman Bold"/>
                <a:ea typeface="Times New Roman Bold"/>
                <a:cs typeface="Times New Roman Bold"/>
                <a:sym typeface="Times New Roman Bold"/>
              </a:rPr>
              <a:t>be Assigned</a:t>
            </a:r>
          </a:p>
          <a:p>
            <a:pPr algn="ctr">
              <a:lnSpc>
                <a:spcPts val="2879"/>
              </a:lnSpc>
            </a:pPr>
            <a:r>
              <a:rPr lang="en-US" sz="2400" dirty="0">
                <a:solidFill>
                  <a:srgbClr val="000000"/>
                </a:solidFill>
                <a:latin typeface="Times New Roman"/>
                <a:ea typeface="Times New Roman"/>
                <a:cs typeface="Times New Roman"/>
                <a:sym typeface="Times New Roman"/>
              </a:rPr>
              <a:t>Supervisor</a:t>
            </a:r>
          </a:p>
          <a:p>
            <a:pPr algn="ctr">
              <a:lnSpc>
                <a:spcPts val="2879"/>
              </a:lnSpc>
            </a:pPr>
            <a:r>
              <a:rPr lang="en-US" sz="2400" dirty="0">
                <a:solidFill>
                  <a:srgbClr val="000000"/>
                </a:solidFill>
                <a:latin typeface="Times New Roman"/>
                <a:ea typeface="Times New Roman"/>
                <a:cs typeface="Times New Roman"/>
                <a:sym typeface="Times New Roman"/>
              </a:rPr>
              <a:t>Dept. of CSE, PUB</a:t>
            </a:r>
          </a:p>
          <a:p>
            <a:pPr algn="l">
              <a:lnSpc>
                <a:spcPts val="2879"/>
              </a:lnSpc>
            </a:pPr>
            <a:endParaRPr/>
          </a:p>
          <a:p>
            <a:pPr algn="l">
              <a:lnSpc>
                <a:spcPts val="2879"/>
              </a:lnSpc>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737360"/>
            <a:chOff x="0" y="0"/>
            <a:chExt cx="24384000" cy="2316480"/>
          </a:xfrm>
        </p:grpSpPr>
        <p:sp>
          <p:nvSpPr>
            <p:cNvPr id="3" name="Freeform 3"/>
            <p:cNvSpPr/>
            <p:nvPr/>
          </p:nvSpPr>
          <p:spPr>
            <a:xfrm>
              <a:off x="0" y="0"/>
              <a:ext cx="24384000" cy="2316480"/>
            </a:xfrm>
            <a:custGeom>
              <a:avLst/>
              <a:gdLst/>
              <a:ahLst/>
              <a:cxnLst/>
              <a:rect l="l" t="t" r="r" b="b"/>
              <a:pathLst>
                <a:path w="24384000" h="2316480">
                  <a:moveTo>
                    <a:pt x="0" y="0"/>
                  </a:moveTo>
                  <a:lnTo>
                    <a:pt x="24384000" y="0"/>
                  </a:lnTo>
                  <a:lnTo>
                    <a:pt x="24384000" y="2316480"/>
                  </a:lnTo>
                  <a:lnTo>
                    <a:pt x="0" y="2316480"/>
                  </a:lnTo>
                  <a:close/>
                </a:path>
              </a:pathLst>
            </a:custGeom>
            <a:solidFill>
              <a:srgbClr val="DAE3F3"/>
            </a:solidFill>
          </p:spPr>
        </p:sp>
      </p:grpSp>
      <p:grpSp>
        <p:nvGrpSpPr>
          <p:cNvPr id="4" name="Group 4"/>
          <p:cNvGrpSpPr/>
          <p:nvPr/>
        </p:nvGrpSpPr>
        <p:grpSpPr>
          <a:xfrm>
            <a:off x="0" y="9437199"/>
            <a:ext cx="18288000" cy="879615"/>
            <a:chOff x="0" y="0"/>
            <a:chExt cx="24384000" cy="1172820"/>
          </a:xfrm>
        </p:grpSpPr>
        <p:sp>
          <p:nvSpPr>
            <p:cNvPr id="5" name="Freeform 5"/>
            <p:cNvSpPr/>
            <p:nvPr/>
          </p:nvSpPr>
          <p:spPr>
            <a:xfrm>
              <a:off x="0" y="0"/>
              <a:ext cx="24384000" cy="1172845"/>
            </a:xfrm>
            <a:custGeom>
              <a:avLst/>
              <a:gdLst/>
              <a:ahLst/>
              <a:cxnLst/>
              <a:rect l="l" t="t" r="r" b="b"/>
              <a:pathLst>
                <a:path w="24384000" h="1172845">
                  <a:moveTo>
                    <a:pt x="0" y="0"/>
                  </a:moveTo>
                  <a:lnTo>
                    <a:pt x="24384000" y="0"/>
                  </a:lnTo>
                  <a:lnTo>
                    <a:pt x="24384000" y="1172845"/>
                  </a:lnTo>
                  <a:lnTo>
                    <a:pt x="0" y="1172845"/>
                  </a:lnTo>
                  <a:close/>
                </a:path>
              </a:pathLst>
            </a:custGeom>
            <a:solidFill>
              <a:srgbClr val="333F50"/>
            </a:solidFill>
          </p:spPr>
        </p:sp>
      </p:grpSp>
      <p:grpSp>
        <p:nvGrpSpPr>
          <p:cNvPr id="6" name="Group 6"/>
          <p:cNvGrpSpPr/>
          <p:nvPr/>
        </p:nvGrpSpPr>
        <p:grpSpPr>
          <a:xfrm>
            <a:off x="1257300" y="9534525"/>
            <a:ext cx="4114800" cy="547688"/>
            <a:chOff x="0" y="0"/>
            <a:chExt cx="5486400" cy="730250"/>
          </a:xfrm>
        </p:grpSpPr>
        <p:sp>
          <p:nvSpPr>
            <p:cNvPr id="7" name="Freeform 7"/>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2" cstate="print">
                <a:alphaModFix amt="0"/>
              </a:blip>
              <a:stretch>
                <a:fillRect t="-96391" b="-96391"/>
              </a:stretch>
            </a:blipFill>
          </p:spPr>
        </p:sp>
        <p:sp>
          <p:nvSpPr>
            <p:cNvPr id="8" name="TextBox 8"/>
            <p:cNvSpPr txBox="1"/>
            <p:nvPr/>
          </p:nvSpPr>
          <p:spPr>
            <a:xfrm>
              <a:off x="0" y="-19050"/>
              <a:ext cx="5486400" cy="749300"/>
            </a:xfrm>
            <a:prstGeom prst="rect">
              <a:avLst/>
            </a:prstGeom>
          </p:spPr>
          <p:txBody>
            <a:bodyPr lIns="0" tIns="0" rIns="0" bIns="0" rtlCol="0" anchor="ctr"/>
            <a:lstStyle/>
            <a:p>
              <a:pPr algn="l">
                <a:lnSpc>
                  <a:spcPts val="2160"/>
                </a:lnSpc>
              </a:pPr>
              <a:r>
                <a:rPr lang="en-US" sz="1800">
                  <a:solidFill>
                    <a:srgbClr val="FFFFFF"/>
                  </a:solidFill>
                  <a:latin typeface="Times New Roman"/>
                  <a:ea typeface="Times New Roman"/>
                  <a:cs typeface="Times New Roman"/>
                  <a:sym typeface="Times New Roman"/>
                </a:rPr>
                <a:t>Friday, August 1, 2025</a:t>
              </a:r>
            </a:p>
          </p:txBody>
        </p:sp>
      </p:grpSp>
      <p:grpSp>
        <p:nvGrpSpPr>
          <p:cNvPr id="9" name="Group 9"/>
          <p:cNvGrpSpPr/>
          <p:nvPr/>
        </p:nvGrpSpPr>
        <p:grpSpPr>
          <a:xfrm>
            <a:off x="6057900" y="9534525"/>
            <a:ext cx="6172200" cy="547688"/>
            <a:chOff x="0" y="0"/>
            <a:chExt cx="8229600" cy="730250"/>
          </a:xfrm>
        </p:grpSpPr>
        <p:sp>
          <p:nvSpPr>
            <p:cNvPr id="10" name="Freeform 10"/>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blipFill>
              <a:blip r:embed="rId3">
                <a:alphaModFix amt="0"/>
              </a:blip>
              <a:stretch>
                <a:fillRect t="-169587" b="-169587"/>
              </a:stretch>
            </a:blipFill>
          </p:spPr>
        </p:sp>
        <p:sp>
          <p:nvSpPr>
            <p:cNvPr id="11" name="TextBox 11"/>
            <p:cNvSpPr txBox="1"/>
            <p:nvPr/>
          </p:nvSpPr>
          <p:spPr>
            <a:xfrm>
              <a:off x="0" y="-19050"/>
              <a:ext cx="8229600" cy="749300"/>
            </a:xfrm>
            <a:prstGeom prst="rect">
              <a:avLst/>
            </a:prstGeom>
          </p:spPr>
          <p:txBody>
            <a:bodyPr lIns="0" tIns="0" rIns="0" bIns="0" rtlCol="0" anchor="ctr"/>
            <a:lstStyle/>
            <a:p>
              <a:pPr algn="ctr">
                <a:lnSpc>
                  <a:spcPts val="2160"/>
                </a:lnSpc>
              </a:pPr>
              <a:r>
                <a:rPr lang="en-US" sz="1800">
                  <a:solidFill>
                    <a:srgbClr val="FFFFFF"/>
                  </a:solidFill>
                  <a:latin typeface="Times New Roman"/>
                  <a:ea typeface="Times New Roman"/>
                  <a:cs typeface="Times New Roman"/>
                  <a:sym typeface="Times New Roman"/>
                </a:rPr>
                <a:t>Department of Computer Science &amp; Engineering, PUB</a:t>
              </a:r>
            </a:p>
          </p:txBody>
        </p:sp>
      </p:grpSp>
      <p:grpSp>
        <p:nvGrpSpPr>
          <p:cNvPr id="12" name="Group 12"/>
          <p:cNvGrpSpPr/>
          <p:nvPr/>
        </p:nvGrpSpPr>
        <p:grpSpPr>
          <a:xfrm>
            <a:off x="12915900" y="9534525"/>
            <a:ext cx="4114800" cy="547688"/>
            <a:chOff x="0" y="0"/>
            <a:chExt cx="5486400" cy="730250"/>
          </a:xfrm>
        </p:grpSpPr>
        <p:sp>
          <p:nvSpPr>
            <p:cNvPr id="13" name="Freeform 13"/>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2" cstate="print">
                <a:alphaModFix amt="0"/>
              </a:blip>
              <a:stretch>
                <a:fillRect t="-96391" b="-96391"/>
              </a:stretch>
            </a:blipFill>
          </p:spPr>
        </p:sp>
        <p:sp>
          <p:nvSpPr>
            <p:cNvPr id="14" name="TextBox 14"/>
            <p:cNvSpPr txBox="1"/>
            <p:nvPr/>
          </p:nvSpPr>
          <p:spPr>
            <a:xfrm>
              <a:off x="0" y="-19050"/>
              <a:ext cx="5486400" cy="749300"/>
            </a:xfrm>
            <a:prstGeom prst="rect">
              <a:avLst/>
            </a:prstGeom>
          </p:spPr>
          <p:txBody>
            <a:bodyPr lIns="0" tIns="0" rIns="0" bIns="0" rtlCol="0" anchor="ctr"/>
            <a:lstStyle/>
            <a:p>
              <a:pPr algn="r">
                <a:lnSpc>
                  <a:spcPts val="2160"/>
                </a:lnSpc>
              </a:pPr>
              <a:r>
                <a:rPr lang="en-US" sz="1800">
                  <a:solidFill>
                    <a:srgbClr val="FFFFFF"/>
                  </a:solidFill>
                  <a:latin typeface="Times New Roman"/>
                  <a:ea typeface="Times New Roman"/>
                  <a:cs typeface="Times New Roman"/>
                  <a:sym typeface="Times New Roman"/>
                </a:rPr>
                <a:t>4</a:t>
              </a:r>
            </a:p>
          </p:txBody>
        </p:sp>
      </p:grpSp>
      <p:grpSp>
        <p:nvGrpSpPr>
          <p:cNvPr id="15" name="Group 15"/>
          <p:cNvGrpSpPr/>
          <p:nvPr/>
        </p:nvGrpSpPr>
        <p:grpSpPr>
          <a:xfrm>
            <a:off x="769315" y="685800"/>
            <a:ext cx="888463" cy="879615"/>
            <a:chOff x="0" y="0"/>
            <a:chExt cx="1184618" cy="1172820"/>
          </a:xfrm>
        </p:grpSpPr>
        <p:sp>
          <p:nvSpPr>
            <p:cNvPr id="16" name="Freeform 16"/>
            <p:cNvSpPr/>
            <p:nvPr/>
          </p:nvSpPr>
          <p:spPr>
            <a:xfrm>
              <a:off x="0" y="0"/>
              <a:ext cx="1184656" cy="1172845"/>
            </a:xfrm>
            <a:custGeom>
              <a:avLst/>
              <a:gdLst/>
              <a:ahLst/>
              <a:cxnLst/>
              <a:rect l="l" t="t" r="r" b="b"/>
              <a:pathLst>
                <a:path w="1184656" h="1172845">
                  <a:moveTo>
                    <a:pt x="0" y="0"/>
                  </a:moveTo>
                  <a:lnTo>
                    <a:pt x="1184656" y="0"/>
                  </a:lnTo>
                  <a:lnTo>
                    <a:pt x="1184656" y="1172845"/>
                  </a:lnTo>
                  <a:lnTo>
                    <a:pt x="0" y="1172845"/>
                  </a:lnTo>
                  <a:lnTo>
                    <a:pt x="0" y="0"/>
                  </a:lnTo>
                  <a:close/>
                </a:path>
              </a:pathLst>
            </a:custGeom>
            <a:blipFill>
              <a:blip r:embed="rId4"/>
              <a:stretch>
                <a:fillRect r="3" b="2"/>
              </a:stretch>
            </a:blipFill>
          </p:spPr>
        </p:sp>
      </p:grpSp>
      <p:grpSp>
        <p:nvGrpSpPr>
          <p:cNvPr id="17" name="Group 17"/>
          <p:cNvGrpSpPr/>
          <p:nvPr/>
        </p:nvGrpSpPr>
        <p:grpSpPr>
          <a:xfrm>
            <a:off x="-19050" y="1730045"/>
            <a:ext cx="18288000" cy="27432"/>
            <a:chOff x="0" y="0"/>
            <a:chExt cx="24384000" cy="36576"/>
          </a:xfrm>
        </p:grpSpPr>
        <p:sp>
          <p:nvSpPr>
            <p:cNvPr id="18" name="Freeform 18"/>
            <p:cNvSpPr/>
            <p:nvPr/>
          </p:nvSpPr>
          <p:spPr>
            <a:xfrm>
              <a:off x="0" y="0"/>
              <a:ext cx="24384000" cy="36576"/>
            </a:xfrm>
            <a:custGeom>
              <a:avLst/>
              <a:gdLst/>
              <a:ahLst/>
              <a:cxnLst/>
              <a:rect l="l" t="t" r="r" b="b"/>
              <a:pathLst>
                <a:path w="24384000" h="36576">
                  <a:moveTo>
                    <a:pt x="0" y="0"/>
                  </a:moveTo>
                  <a:lnTo>
                    <a:pt x="24384000" y="0"/>
                  </a:lnTo>
                  <a:lnTo>
                    <a:pt x="24384000" y="36576"/>
                  </a:lnTo>
                  <a:lnTo>
                    <a:pt x="0" y="36576"/>
                  </a:lnTo>
                  <a:close/>
                </a:path>
              </a:pathLst>
            </a:custGeom>
            <a:gradFill rotWithShape="1">
              <a:gsLst>
                <a:gs pos="0">
                  <a:srgbClr val="B4C7E7">
                    <a:alpha val="100000"/>
                  </a:srgbClr>
                </a:gs>
                <a:gs pos="36000">
                  <a:srgbClr val="4D79C7">
                    <a:alpha val="100000"/>
                  </a:srgbClr>
                </a:gs>
                <a:gs pos="100000">
                  <a:srgbClr val="222A35">
                    <a:alpha val="100000"/>
                  </a:srgbClr>
                </a:gs>
              </a:gsLst>
              <a:path path="circle">
                <a:fillToRect l="50000" t="-30000" r="50000" b="130000"/>
              </a:path>
              <a:tileRect t="-160000"/>
            </a:gradFill>
          </p:spPr>
        </p:sp>
      </p:grpSp>
      <p:grpSp>
        <p:nvGrpSpPr>
          <p:cNvPr id="19" name="Group 19"/>
          <p:cNvGrpSpPr/>
          <p:nvPr/>
        </p:nvGrpSpPr>
        <p:grpSpPr>
          <a:xfrm>
            <a:off x="1910963" y="521122"/>
            <a:ext cx="15241657" cy="929716"/>
            <a:chOff x="0" y="0"/>
            <a:chExt cx="20322210" cy="1239622"/>
          </a:xfrm>
        </p:grpSpPr>
        <p:sp>
          <p:nvSpPr>
            <p:cNvPr id="20" name="Freeform 20"/>
            <p:cNvSpPr/>
            <p:nvPr/>
          </p:nvSpPr>
          <p:spPr>
            <a:xfrm>
              <a:off x="0" y="0"/>
              <a:ext cx="20322208" cy="1239626"/>
            </a:xfrm>
            <a:custGeom>
              <a:avLst/>
              <a:gdLst/>
              <a:ahLst/>
              <a:cxnLst/>
              <a:rect l="l" t="t" r="r" b="b"/>
              <a:pathLst>
                <a:path w="20322208" h="1239626">
                  <a:moveTo>
                    <a:pt x="0" y="0"/>
                  </a:moveTo>
                  <a:lnTo>
                    <a:pt x="20322208" y="0"/>
                  </a:lnTo>
                  <a:lnTo>
                    <a:pt x="20322208" y="1239626"/>
                  </a:lnTo>
                  <a:lnTo>
                    <a:pt x="0" y="1239626"/>
                  </a:lnTo>
                  <a:close/>
                </a:path>
              </a:pathLst>
            </a:custGeom>
            <a:blipFill>
              <a:blip r:embed="rId3">
                <a:alphaModFix amt="0"/>
              </a:blip>
              <a:stretch>
                <a:fillRect t="-269434" b="-269434"/>
              </a:stretch>
            </a:blipFill>
          </p:spPr>
        </p:sp>
        <p:sp>
          <p:nvSpPr>
            <p:cNvPr id="21" name="TextBox 21"/>
            <p:cNvSpPr txBox="1"/>
            <p:nvPr/>
          </p:nvSpPr>
          <p:spPr>
            <a:xfrm>
              <a:off x="0" y="28575"/>
              <a:ext cx="20322210" cy="1211047"/>
            </a:xfrm>
            <a:prstGeom prst="rect">
              <a:avLst/>
            </a:prstGeom>
          </p:spPr>
          <p:txBody>
            <a:bodyPr lIns="0" tIns="0" rIns="0" bIns="0" rtlCol="0" anchor="b"/>
            <a:lstStyle/>
            <a:p>
              <a:pPr algn="l">
                <a:lnSpc>
                  <a:spcPts val="5184"/>
                </a:lnSpc>
              </a:pPr>
              <a:r>
                <a:rPr lang="en-US" sz="4800" b="1">
                  <a:solidFill>
                    <a:srgbClr val="000000"/>
                  </a:solidFill>
                  <a:latin typeface="Times New Roman Bold"/>
                  <a:ea typeface="Times New Roman Bold"/>
                  <a:cs typeface="Times New Roman Bold"/>
                  <a:sym typeface="Times New Roman Bold"/>
                </a:rPr>
                <a:t>Outline</a:t>
              </a:r>
            </a:p>
          </p:txBody>
        </p:sp>
      </p:grpSp>
      <p:sp>
        <p:nvSpPr>
          <p:cNvPr id="22" name="TextBox 22"/>
          <p:cNvSpPr txBox="1"/>
          <p:nvPr/>
        </p:nvSpPr>
        <p:spPr>
          <a:xfrm>
            <a:off x="2002403" y="2178320"/>
            <a:ext cx="14936857" cy="6298587"/>
          </a:xfrm>
          <a:prstGeom prst="rect">
            <a:avLst/>
          </a:prstGeom>
        </p:spPr>
        <p:txBody>
          <a:bodyPr lIns="0" tIns="0" rIns="0" bIns="0" rtlCol="0" anchor="t">
            <a:spAutoFit/>
          </a:bodyPr>
          <a:lstStyle/>
          <a:p>
            <a:pPr marL="488632" lvl="1" indent="-244316" algn="l">
              <a:lnSpc>
                <a:spcPts val="3240"/>
              </a:lnSpc>
              <a:buAutoNum type="arabicPeriod"/>
            </a:pPr>
            <a:r>
              <a:rPr lang="en-US" sz="2700">
                <a:solidFill>
                  <a:srgbClr val="000000"/>
                </a:solidFill>
                <a:latin typeface="Times New Roman"/>
                <a:ea typeface="Times New Roman"/>
                <a:cs typeface="Times New Roman"/>
                <a:sym typeface="Times New Roman"/>
              </a:rPr>
              <a:t>Introduction</a:t>
            </a:r>
          </a:p>
          <a:p>
            <a:pPr marL="488632" lvl="1" indent="-244316" algn="l">
              <a:lnSpc>
                <a:spcPts val="3240"/>
              </a:lnSpc>
              <a:buAutoNum type="arabicPeriod"/>
            </a:pPr>
            <a:r>
              <a:rPr lang="en-US" sz="2700">
                <a:solidFill>
                  <a:srgbClr val="000000"/>
                </a:solidFill>
                <a:latin typeface="Times New Roman"/>
                <a:ea typeface="Times New Roman"/>
                <a:cs typeface="Times New Roman"/>
                <a:sym typeface="Times New Roman"/>
              </a:rPr>
              <a:t>Objectives</a:t>
            </a:r>
          </a:p>
          <a:p>
            <a:pPr marL="488632" lvl="1" indent="-244316" algn="l">
              <a:lnSpc>
                <a:spcPts val="3240"/>
              </a:lnSpc>
              <a:buAutoNum type="arabicPeriod"/>
            </a:pPr>
            <a:r>
              <a:rPr lang="en-US" sz="2700">
                <a:solidFill>
                  <a:srgbClr val="000000"/>
                </a:solidFill>
                <a:latin typeface="Times New Roman"/>
                <a:ea typeface="Times New Roman"/>
                <a:cs typeface="Times New Roman"/>
                <a:sym typeface="Times New Roman"/>
              </a:rPr>
              <a:t>Literature Review</a:t>
            </a:r>
          </a:p>
          <a:p>
            <a:pPr marL="488632" lvl="1" indent="-244316" algn="l">
              <a:lnSpc>
                <a:spcPts val="3240"/>
              </a:lnSpc>
              <a:buAutoNum type="arabicPeriod"/>
            </a:pPr>
            <a:r>
              <a:rPr lang="en-US" sz="2700">
                <a:solidFill>
                  <a:srgbClr val="000000"/>
                </a:solidFill>
                <a:latin typeface="Times New Roman"/>
                <a:ea typeface="Times New Roman"/>
                <a:cs typeface="Times New Roman"/>
                <a:sym typeface="Times New Roman"/>
              </a:rPr>
              <a:t>Problem Statement</a:t>
            </a:r>
          </a:p>
          <a:p>
            <a:pPr marL="488632" lvl="1" indent="-244316" algn="l">
              <a:lnSpc>
                <a:spcPts val="3240"/>
              </a:lnSpc>
              <a:buAutoNum type="arabicPeriod"/>
            </a:pPr>
            <a:r>
              <a:rPr lang="en-US" sz="2700">
                <a:solidFill>
                  <a:srgbClr val="000000"/>
                </a:solidFill>
                <a:latin typeface="Times New Roman"/>
                <a:ea typeface="Times New Roman"/>
                <a:cs typeface="Times New Roman"/>
                <a:sym typeface="Times New Roman"/>
              </a:rPr>
              <a:t>Dataset</a:t>
            </a:r>
          </a:p>
          <a:p>
            <a:pPr marL="488632" lvl="1" indent="-244316" algn="l">
              <a:lnSpc>
                <a:spcPts val="3240"/>
              </a:lnSpc>
              <a:buAutoNum type="arabicPeriod"/>
            </a:pPr>
            <a:r>
              <a:rPr lang="en-US" sz="2700">
                <a:solidFill>
                  <a:srgbClr val="000000"/>
                </a:solidFill>
                <a:latin typeface="Times New Roman"/>
                <a:ea typeface="Times New Roman"/>
                <a:cs typeface="Times New Roman"/>
                <a:sym typeface="Times New Roman"/>
              </a:rPr>
              <a:t>Methodology</a:t>
            </a:r>
          </a:p>
          <a:p>
            <a:pPr marL="488632" lvl="1" indent="-244316" algn="l">
              <a:lnSpc>
                <a:spcPts val="3240"/>
              </a:lnSpc>
              <a:buAutoNum type="arabicPeriod"/>
            </a:pPr>
            <a:r>
              <a:rPr lang="en-US" sz="2700">
                <a:solidFill>
                  <a:srgbClr val="000000"/>
                </a:solidFill>
                <a:latin typeface="Times New Roman"/>
                <a:ea typeface="Times New Roman"/>
                <a:cs typeface="Times New Roman"/>
                <a:sym typeface="Times New Roman"/>
              </a:rPr>
              <a:t>Expected Evaluation Plan</a:t>
            </a:r>
          </a:p>
          <a:p>
            <a:pPr marL="488632" lvl="1" indent="-244316" algn="l">
              <a:lnSpc>
                <a:spcPts val="3240"/>
              </a:lnSpc>
              <a:buAutoNum type="arabicPeriod"/>
            </a:pPr>
            <a:r>
              <a:rPr lang="en-US" sz="2700">
                <a:solidFill>
                  <a:srgbClr val="000000"/>
                </a:solidFill>
                <a:latin typeface="Times New Roman"/>
                <a:ea typeface="Times New Roman"/>
                <a:cs typeface="Times New Roman"/>
                <a:sym typeface="Times New Roman"/>
              </a:rPr>
              <a:t>Exploratory Data Insights</a:t>
            </a:r>
          </a:p>
          <a:p>
            <a:pPr marL="488632" lvl="1" indent="-244316" algn="l">
              <a:lnSpc>
                <a:spcPts val="3240"/>
              </a:lnSpc>
              <a:buAutoNum type="arabicPeriod"/>
            </a:pPr>
            <a:r>
              <a:rPr lang="en-US" sz="2700">
                <a:solidFill>
                  <a:srgbClr val="000000"/>
                </a:solidFill>
                <a:latin typeface="Times New Roman"/>
                <a:ea typeface="Times New Roman"/>
                <a:cs typeface="Times New Roman"/>
                <a:sym typeface="Times New Roman"/>
              </a:rPr>
              <a:t>Beneficiaries</a:t>
            </a:r>
          </a:p>
          <a:p>
            <a:pPr marL="488632" lvl="1" indent="-244316" algn="l">
              <a:lnSpc>
                <a:spcPts val="3240"/>
              </a:lnSpc>
              <a:buAutoNum type="arabicPeriod"/>
            </a:pPr>
            <a:r>
              <a:rPr lang="en-US" sz="2700">
                <a:solidFill>
                  <a:srgbClr val="000000"/>
                </a:solidFill>
                <a:latin typeface="Times New Roman"/>
                <a:ea typeface="Times New Roman"/>
                <a:cs typeface="Times New Roman"/>
                <a:sym typeface="Times New Roman"/>
              </a:rPr>
              <a:t>Conclusion</a:t>
            </a:r>
          </a:p>
          <a:p>
            <a:pPr marL="488632" lvl="1" indent="-244316" algn="l">
              <a:lnSpc>
                <a:spcPts val="3240"/>
              </a:lnSpc>
              <a:buAutoNum type="arabicPeriod"/>
            </a:pPr>
            <a:r>
              <a:rPr lang="en-US" sz="2700">
                <a:solidFill>
                  <a:srgbClr val="000000"/>
                </a:solidFill>
                <a:latin typeface="Times New Roman"/>
                <a:ea typeface="Times New Roman"/>
                <a:cs typeface="Times New Roman"/>
                <a:sym typeface="Times New Roman"/>
              </a:rPr>
              <a:t>Future Work</a:t>
            </a:r>
          </a:p>
          <a:p>
            <a:pPr marL="488632" lvl="1" indent="-244316" algn="l">
              <a:lnSpc>
                <a:spcPts val="3240"/>
              </a:lnSpc>
              <a:buAutoNum type="arabicPeriod"/>
            </a:pPr>
            <a:r>
              <a:rPr lang="en-US" sz="2700">
                <a:solidFill>
                  <a:srgbClr val="000000"/>
                </a:solidFill>
                <a:latin typeface="Times New Roman"/>
                <a:ea typeface="Times New Roman"/>
                <a:cs typeface="Times New Roman"/>
                <a:sym typeface="Times New Roman"/>
              </a:rPr>
              <a:t>References</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737360"/>
            <a:chOff x="0" y="0"/>
            <a:chExt cx="24384000" cy="2316480"/>
          </a:xfrm>
        </p:grpSpPr>
        <p:sp>
          <p:nvSpPr>
            <p:cNvPr id="3" name="Freeform 3"/>
            <p:cNvSpPr/>
            <p:nvPr/>
          </p:nvSpPr>
          <p:spPr>
            <a:xfrm>
              <a:off x="0" y="0"/>
              <a:ext cx="24384000" cy="2316480"/>
            </a:xfrm>
            <a:custGeom>
              <a:avLst/>
              <a:gdLst/>
              <a:ahLst/>
              <a:cxnLst/>
              <a:rect l="l" t="t" r="r" b="b"/>
              <a:pathLst>
                <a:path w="24384000" h="2316480">
                  <a:moveTo>
                    <a:pt x="0" y="0"/>
                  </a:moveTo>
                  <a:lnTo>
                    <a:pt x="24384000" y="0"/>
                  </a:lnTo>
                  <a:lnTo>
                    <a:pt x="24384000" y="2316480"/>
                  </a:lnTo>
                  <a:lnTo>
                    <a:pt x="0" y="2316480"/>
                  </a:lnTo>
                  <a:close/>
                </a:path>
              </a:pathLst>
            </a:custGeom>
            <a:solidFill>
              <a:srgbClr val="DAE3F3"/>
            </a:solidFill>
          </p:spPr>
        </p:sp>
      </p:grpSp>
      <p:grpSp>
        <p:nvGrpSpPr>
          <p:cNvPr id="4" name="Group 4"/>
          <p:cNvGrpSpPr/>
          <p:nvPr/>
        </p:nvGrpSpPr>
        <p:grpSpPr>
          <a:xfrm>
            <a:off x="0" y="9437199"/>
            <a:ext cx="18288000" cy="879615"/>
            <a:chOff x="0" y="0"/>
            <a:chExt cx="24384000" cy="1172820"/>
          </a:xfrm>
        </p:grpSpPr>
        <p:sp>
          <p:nvSpPr>
            <p:cNvPr id="5" name="Freeform 5"/>
            <p:cNvSpPr/>
            <p:nvPr/>
          </p:nvSpPr>
          <p:spPr>
            <a:xfrm>
              <a:off x="0" y="0"/>
              <a:ext cx="24384000" cy="1172845"/>
            </a:xfrm>
            <a:custGeom>
              <a:avLst/>
              <a:gdLst/>
              <a:ahLst/>
              <a:cxnLst/>
              <a:rect l="l" t="t" r="r" b="b"/>
              <a:pathLst>
                <a:path w="24384000" h="1172845">
                  <a:moveTo>
                    <a:pt x="0" y="0"/>
                  </a:moveTo>
                  <a:lnTo>
                    <a:pt x="24384000" y="0"/>
                  </a:lnTo>
                  <a:lnTo>
                    <a:pt x="24384000" y="1172845"/>
                  </a:lnTo>
                  <a:lnTo>
                    <a:pt x="0" y="1172845"/>
                  </a:lnTo>
                  <a:close/>
                </a:path>
              </a:pathLst>
            </a:custGeom>
            <a:solidFill>
              <a:srgbClr val="333F50"/>
            </a:solidFill>
          </p:spPr>
        </p:sp>
      </p:grpSp>
      <p:grpSp>
        <p:nvGrpSpPr>
          <p:cNvPr id="6" name="Group 6"/>
          <p:cNvGrpSpPr/>
          <p:nvPr/>
        </p:nvGrpSpPr>
        <p:grpSpPr>
          <a:xfrm>
            <a:off x="1257300" y="9534525"/>
            <a:ext cx="4114800" cy="547688"/>
            <a:chOff x="0" y="0"/>
            <a:chExt cx="5486400" cy="730250"/>
          </a:xfrm>
        </p:grpSpPr>
        <p:sp>
          <p:nvSpPr>
            <p:cNvPr id="7" name="Freeform 7"/>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2" cstate="print">
                <a:alphaModFix amt="0"/>
              </a:blip>
              <a:stretch>
                <a:fillRect t="-96391" b="-96391"/>
              </a:stretch>
            </a:blipFill>
          </p:spPr>
        </p:sp>
        <p:sp>
          <p:nvSpPr>
            <p:cNvPr id="8" name="TextBox 8"/>
            <p:cNvSpPr txBox="1"/>
            <p:nvPr/>
          </p:nvSpPr>
          <p:spPr>
            <a:xfrm>
              <a:off x="0" y="-19050"/>
              <a:ext cx="5486400" cy="749300"/>
            </a:xfrm>
            <a:prstGeom prst="rect">
              <a:avLst/>
            </a:prstGeom>
          </p:spPr>
          <p:txBody>
            <a:bodyPr lIns="0" tIns="0" rIns="0" bIns="0" rtlCol="0" anchor="ctr"/>
            <a:lstStyle/>
            <a:p>
              <a:pPr algn="l">
                <a:lnSpc>
                  <a:spcPts val="2160"/>
                </a:lnSpc>
              </a:pPr>
              <a:r>
                <a:rPr lang="en-US" sz="1800">
                  <a:solidFill>
                    <a:srgbClr val="FFFFFF"/>
                  </a:solidFill>
                  <a:latin typeface="Times New Roman"/>
                  <a:ea typeface="Times New Roman"/>
                  <a:cs typeface="Times New Roman"/>
                  <a:sym typeface="Times New Roman"/>
                </a:rPr>
                <a:t>Friday, August 1, 2025</a:t>
              </a:r>
            </a:p>
          </p:txBody>
        </p:sp>
      </p:grpSp>
      <p:grpSp>
        <p:nvGrpSpPr>
          <p:cNvPr id="9" name="Group 9"/>
          <p:cNvGrpSpPr/>
          <p:nvPr/>
        </p:nvGrpSpPr>
        <p:grpSpPr>
          <a:xfrm>
            <a:off x="6057900" y="9534525"/>
            <a:ext cx="6172200" cy="547688"/>
            <a:chOff x="0" y="0"/>
            <a:chExt cx="8229600" cy="730250"/>
          </a:xfrm>
        </p:grpSpPr>
        <p:sp>
          <p:nvSpPr>
            <p:cNvPr id="10" name="Freeform 10"/>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blipFill>
              <a:blip r:embed="rId3">
                <a:alphaModFix amt="0"/>
              </a:blip>
              <a:stretch>
                <a:fillRect t="-169587" b="-169587"/>
              </a:stretch>
            </a:blipFill>
          </p:spPr>
        </p:sp>
        <p:sp>
          <p:nvSpPr>
            <p:cNvPr id="11" name="TextBox 11"/>
            <p:cNvSpPr txBox="1"/>
            <p:nvPr/>
          </p:nvSpPr>
          <p:spPr>
            <a:xfrm>
              <a:off x="0" y="-19050"/>
              <a:ext cx="8229600" cy="749300"/>
            </a:xfrm>
            <a:prstGeom prst="rect">
              <a:avLst/>
            </a:prstGeom>
          </p:spPr>
          <p:txBody>
            <a:bodyPr lIns="0" tIns="0" rIns="0" bIns="0" rtlCol="0" anchor="ctr"/>
            <a:lstStyle/>
            <a:p>
              <a:pPr algn="ctr">
                <a:lnSpc>
                  <a:spcPts val="2160"/>
                </a:lnSpc>
              </a:pPr>
              <a:r>
                <a:rPr lang="en-US" sz="1800">
                  <a:solidFill>
                    <a:srgbClr val="FFFFFF"/>
                  </a:solidFill>
                  <a:latin typeface="Times New Roman"/>
                  <a:ea typeface="Times New Roman"/>
                  <a:cs typeface="Times New Roman"/>
                  <a:sym typeface="Times New Roman"/>
                </a:rPr>
                <a:t>Department of Computer Science &amp; Engineering, PUB</a:t>
              </a:r>
            </a:p>
          </p:txBody>
        </p:sp>
      </p:grpSp>
      <p:grpSp>
        <p:nvGrpSpPr>
          <p:cNvPr id="12" name="Group 12"/>
          <p:cNvGrpSpPr/>
          <p:nvPr/>
        </p:nvGrpSpPr>
        <p:grpSpPr>
          <a:xfrm>
            <a:off x="12915900" y="9534525"/>
            <a:ext cx="4114800" cy="547688"/>
            <a:chOff x="0" y="0"/>
            <a:chExt cx="5486400" cy="730250"/>
          </a:xfrm>
        </p:grpSpPr>
        <p:sp>
          <p:nvSpPr>
            <p:cNvPr id="13" name="Freeform 13"/>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2" cstate="print">
                <a:alphaModFix amt="0"/>
              </a:blip>
              <a:stretch>
                <a:fillRect t="-96391" b="-96391"/>
              </a:stretch>
            </a:blipFill>
          </p:spPr>
        </p:sp>
        <p:sp>
          <p:nvSpPr>
            <p:cNvPr id="14" name="TextBox 14"/>
            <p:cNvSpPr txBox="1"/>
            <p:nvPr/>
          </p:nvSpPr>
          <p:spPr>
            <a:xfrm>
              <a:off x="0" y="-19050"/>
              <a:ext cx="5486400" cy="749300"/>
            </a:xfrm>
            <a:prstGeom prst="rect">
              <a:avLst/>
            </a:prstGeom>
          </p:spPr>
          <p:txBody>
            <a:bodyPr lIns="0" tIns="0" rIns="0" bIns="0" rtlCol="0" anchor="ctr"/>
            <a:lstStyle/>
            <a:p>
              <a:pPr algn="r">
                <a:lnSpc>
                  <a:spcPts val="2160"/>
                </a:lnSpc>
              </a:pPr>
              <a:r>
                <a:rPr lang="en-US" sz="1800">
                  <a:solidFill>
                    <a:srgbClr val="FFFFFF"/>
                  </a:solidFill>
                  <a:latin typeface="Times New Roman"/>
                  <a:ea typeface="Times New Roman"/>
                  <a:cs typeface="Times New Roman"/>
                  <a:sym typeface="Times New Roman"/>
                </a:rPr>
                <a:t>5</a:t>
              </a:r>
            </a:p>
          </p:txBody>
        </p:sp>
      </p:grpSp>
      <p:grpSp>
        <p:nvGrpSpPr>
          <p:cNvPr id="15" name="Group 15"/>
          <p:cNvGrpSpPr/>
          <p:nvPr/>
        </p:nvGrpSpPr>
        <p:grpSpPr>
          <a:xfrm>
            <a:off x="769315" y="685800"/>
            <a:ext cx="888463" cy="879615"/>
            <a:chOff x="0" y="0"/>
            <a:chExt cx="1184618" cy="1172820"/>
          </a:xfrm>
        </p:grpSpPr>
        <p:sp>
          <p:nvSpPr>
            <p:cNvPr id="16" name="Freeform 16"/>
            <p:cNvSpPr/>
            <p:nvPr/>
          </p:nvSpPr>
          <p:spPr>
            <a:xfrm>
              <a:off x="0" y="0"/>
              <a:ext cx="1184656" cy="1172845"/>
            </a:xfrm>
            <a:custGeom>
              <a:avLst/>
              <a:gdLst/>
              <a:ahLst/>
              <a:cxnLst/>
              <a:rect l="l" t="t" r="r" b="b"/>
              <a:pathLst>
                <a:path w="1184656" h="1172845">
                  <a:moveTo>
                    <a:pt x="0" y="0"/>
                  </a:moveTo>
                  <a:lnTo>
                    <a:pt x="1184656" y="0"/>
                  </a:lnTo>
                  <a:lnTo>
                    <a:pt x="1184656" y="1172845"/>
                  </a:lnTo>
                  <a:lnTo>
                    <a:pt x="0" y="1172845"/>
                  </a:lnTo>
                  <a:lnTo>
                    <a:pt x="0" y="0"/>
                  </a:lnTo>
                  <a:close/>
                </a:path>
              </a:pathLst>
            </a:custGeom>
            <a:blipFill>
              <a:blip r:embed="rId4"/>
              <a:stretch>
                <a:fillRect r="3" b="2"/>
              </a:stretch>
            </a:blipFill>
          </p:spPr>
        </p:sp>
      </p:grpSp>
      <p:grpSp>
        <p:nvGrpSpPr>
          <p:cNvPr id="17" name="Group 17"/>
          <p:cNvGrpSpPr/>
          <p:nvPr/>
        </p:nvGrpSpPr>
        <p:grpSpPr>
          <a:xfrm>
            <a:off x="-19050" y="1730045"/>
            <a:ext cx="18288000" cy="27432"/>
            <a:chOff x="0" y="0"/>
            <a:chExt cx="24384000" cy="36576"/>
          </a:xfrm>
        </p:grpSpPr>
        <p:sp>
          <p:nvSpPr>
            <p:cNvPr id="18" name="Freeform 18"/>
            <p:cNvSpPr/>
            <p:nvPr/>
          </p:nvSpPr>
          <p:spPr>
            <a:xfrm>
              <a:off x="0" y="0"/>
              <a:ext cx="24384000" cy="36576"/>
            </a:xfrm>
            <a:custGeom>
              <a:avLst/>
              <a:gdLst/>
              <a:ahLst/>
              <a:cxnLst/>
              <a:rect l="l" t="t" r="r" b="b"/>
              <a:pathLst>
                <a:path w="24384000" h="36576">
                  <a:moveTo>
                    <a:pt x="0" y="0"/>
                  </a:moveTo>
                  <a:lnTo>
                    <a:pt x="24384000" y="0"/>
                  </a:lnTo>
                  <a:lnTo>
                    <a:pt x="24384000" y="36576"/>
                  </a:lnTo>
                  <a:lnTo>
                    <a:pt x="0" y="36576"/>
                  </a:lnTo>
                  <a:close/>
                </a:path>
              </a:pathLst>
            </a:custGeom>
            <a:gradFill rotWithShape="1">
              <a:gsLst>
                <a:gs pos="0">
                  <a:srgbClr val="B4C7E7">
                    <a:alpha val="100000"/>
                  </a:srgbClr>
                </a:gs>
                <a:gs pos="36000">
                  <a:srgbClr val="4D79C7">
                    <a:alpha val="100000"/>
                  </a:srgbClr>
                </a:gs>
                <a:gs pos="100000">
                  <a:srgbClr val="222A35">
                    <a:alpha val="100000"/>
                  </a:srgbClr>
                </a:gs>
              </a:gsLst>
              <a:path path="circle">
                <a:fillToRect l="50000" t="-30000" r="50000" b="130000"/>
              </a:path>
              <a:tileRect t="-160000"/>
            </a:gradFill>
          </p:spPr>
        </p:sp>
      </p:grpSp>
      <p:grpSp>
        <p:nvGrpSpPr>
          <p:cNvPr id="19" name="Group 19"/>
          <p:cNvGrpSpPr/>
          <p:nvPr/>
        </p:nvGrpSpPr>
        <p:grpSpPr>
          <a:xfrm>
            <a:off x="1910963" y="521122"/>
            <a:ext cx="15241657" cy="929716"/>
            <a:chOff x="0" y="0"/>
            <a:chExt cx="20322210" cy="1239622"/>
          </a:xfrm>
        </p:grpSpPr>
        <p:sp>
          <p:nvSpPr>
            <p:cNvPr id="20" name="Freeform 20"/>
            <p:cNvSpPr/>
            <p:nvPr/>
          </p:nvSpPr>
          <p:spPr>
            <a:xfrm>
              <a:off x="0" y="0"/>
              <a:ext cx="20322208" cy="1239626"/>
            </a:xfrm>
            <a:custGeom>
              <a:avLst/>
              <a:gdLst/>
              <a:ahLst/>
              <a:cxnLst/>
              <a:rect l="l" t="t" r="r" b="b"/>
              <a:pathLst>
                <a:path w="20322208" h="1239626">
                  <a:moveTo>
                    <a:pt x="0" y="0"/>
                  </a:moveTo>
                  <a:lnTo>
                    <a:pt x="20322208" y="0"/>
                  </a:lnTo>
                  <a:lnTo>
                    <a:pt x="20322208" y="1239626"/>
                  </a:lnTo>
                  <a:lnTo>
                    <a:pt x="0" y="1239626"/>
                  </a:lnTo>
                  <a:close/>
                </a:path>
              </a:pathLst>
            </a:custGeom>
            <a:blipFill>
              <a:blip r:embed="rId3">
                <a:alphaModFix amt="0"/>
              </a:blip>
              <a:stretch>
                <a:fillRect t="-269434" b="-269434"/>
              </a:stretch>
            </a:blipFill>
          </p:spPr>
        </p:sp>
        <p:sp>
          <p:nvSpPr>
            <p:cNvPr id="21" name="TextBox 21"/>
            <p:cNvSpPr txBox="1"/>
            <p:nvPr/>
          </p:nvSpPr>
          <p:spPr>
            <a:xfrm>
              <a:off x="0" y="28575"/>
              <a:ext cx="20322210" cy="1211047"/>
            </a:xfrm>
            <a:prstGeom prst="rect">
              <a:avLst/>
            </a:prstGeom>
          </p:spPr>
          <p:txBody>
            <a:bodyPr lIns="0" tIns="0" rIns="0" bIns="0" rtlCol="0" anchor="b"/>
            <a:lstStyle/>
            <a:p>
              <a:pPr algn="l">
                <a:lnSpc>
                  <a:spcPts val="5184"/>
                </a:lnSpc>
              </a:pPr>
              <a:r>
                <a:rPr lang="en-US" sz="4800" b="1">
                  <a:solidFill>
                    <a:srgbClr val="000000"/>
                  </a:solidFill>
                  <a:latin typeface="Times New Roman Bold"/>
                  <a:ea typeface="Times New Roman Bold"/>
                  <a:cs typeface="Times New Roman Bold"/>
                  <a:sym typeface="Times New Roman Bold"/>
                </a:rPr>
                <a:t>Introduction</a:t>
              </a:r>
            </a:p>
          </p:txBody>
        </p:sp>
      </p:grpSp>
      <p:sp>
        <p:nvSpPr>
          <p:cNvPr id="22" name="TextBox 22"/>
          <p:cNvSpPr txBox="1"/>
          <p:nvPr/>
        </p:nvSpPr>
        <p:spPr>
          <a:xfrm>
            <a:off x="2002403" y="2178320"/>
            <a:ext cx="14936857" cy="7129577"/>
          </a:xfrm>
          <a:prstGeom prst="rect">
            <a:avLst/>
          </a:prstGeom>
        </p:spPr>
        <p:txBody>
          <a:bodyPr lIns="0" tIns="0" rIns="0" bIns="0" rtlCol="0" anchor="t">
            <a:spAutoFit/>
          </a:bodyPr>
          <a:lstStyle/>
          <a:p>
            <a:pPr marL="488632" lvl="1" indent="-244316" algn="just">
              <a:lnSpc>
                <a:spcPts val="3240"/>
              </a:lnSpc>
              <a:buFont typeface="Arial"/>
              <a:buChar char="•"/>
            </a:pPr>
            <a:r>
              <a:rPr lang="en-US" sz="2700">
                <a:solidFill>
                  <a:srgbClr val="000000"/>
                </a:solidFill>
                <a:latin typeface="Times New Roman"/>
                <a:ea typeface="Times New Roman"/>
                <a:cs typeface="Times New Roman"/>
                <a:sym typeface="Times New Roman"/>
              </a:rPr>
              <a:t>Bangladesh's e-commerce sector has grown quickly, and platforms such as Daraz and Pickaboo are now a primary channel for buying consumer electronics.</a:t>
            </a:r>
          </a:p>
          <a:p>
            <a:pPr marL="488632" lvl="1" indent="-244316" algn="just">
              <a:lnSpc>
                <a:spcPts val="3240"/>
              </a:lnSpc>
              <a:buFont typeface="Arial"/>
              <a:buChar char="•"/>
            </a:pPr>
            <a:r>
              <a:rPr lang="en-US" sz="2700">
                <a:solidFill>
                  <a:srgbClr val="000000"/>
                </a:solidFill>
                <a:latin typeface="Times New Roman"/>
                <a:ea typeface="Times New Roman"/>
                <a:cs typeface="Times New Roman"/>
                <a:sym typeface="Times New Roman"/>
              </a:rPr>
              <a:t>Prices for similar electronics vary widely across platforms, brands, and sellers, and discounts are often inconsistent, making it hard for buyers to judge a fair price.</a:t>
            </a:r>
          </a:p>
          <a:p>
            <a:pPr marL="488632" lvl="1" indent="-244316" algn="just">
              <a:lnSpc>
                <a:spcPts val="3240"/>
              </a:lnSpc>
              <a:buFont typeface="Arial"/>
              <a:buChar char="•"/>
            </a:pPr>
            <a:r>
              <a:rPr lang="en-US" sz="2700">
                <a:solidFill>
                  <a:srgbClr val="000000"/>
                </a:solidFill>
                <a:latin typeface="Times New Roman"/>
                <a:ea typeface="Times New Roman"/>
                <a:cs typeface="Times New Roman"/>
                <a:sym typeface="Times New Roman"/>
              </a:rPr>
              <a:t>Most existing Bangladeshi e-commerce studies focus on customer sentiment or purchase intention; price modelling of electronics listings is largely unexplored.</a:t>
            </a:r>
          </a:p>
          <a:p>
            <a:pPr marL="488632" lvl="1" indent="-244316" algn="just">
              <a:lnSpc>
                <a:spcPts val="3240"/>
              </a:lnSpc>
              <a:buFont typeface="Arial"/>
              <a:buChar char="•"/>
            </a:pPr>
            <a:r>
              <a:rPr lang="en-US" sz="2700">
                <a:solidFill>
                  <a:srgbClr val="000000"/>
                </a:solidFill>
                <a:latin typeface="Times New Roman"/>
                <a:ea typeface="Times New Roman"/>
                <a:cs typeface="Times New Roman"/>
                <a:sym typeface="Times New Roman"/>
              </a:rPr>
              <a:t>This thesis proposes an explainable machine learning framework that predicts electronics prices on Daraz and Pickaboo and identifies which product attributes drive them.</a:t>
            </a: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737360"/>
            <a:chOff x="0" y="0"/>
            <a:chExt cx="24384000" cy="2316480"/>
          </a:xfrm>
        </p:grpSpPr>
        <p:sp>
          <p:nvSpPr>
            <p:cNvPr id="3" name="Freeform 3"/>
            <p:cNvSpPr/>
            <p:nvPr/>
          </p:nvSpPr>
          <p:spPr>
            <a:xfrm>
              <a:off x="0" y="0"/>
              <a:ext cx="24384000" cy="2316480"/>
            </a:xfrm>
            <a:custGeom>
              <a:avLst/>
              <a:gdLst/>
              <a:ahLst/>
              <a:cxnLst/>
              <a:rect l="l" t="t" r="r" b="b"/>
              <a:pathLst>
                <a:path w="24384000" h="2316480">
                  <a:moveTo>
                    <a:pt x="0" y="0"/>
                  </a:moveTo>
                  <a:lnTo>
                    <a:pt x="24384000" y="0"/>
                  </a:lnTo>
                  <a:lnTo>
                    <a:pt x="24384000" y="2316480"/>
                  </a:lnTo>
                  <a:lnTo>
                    <a:pt x="0" y="2316480"/>
                  </a:lnTo>
                  <a:close/>
                </a:path>
              </a:pathLst>
            </a:custGeom>
            <a:solidFill>
              <a:srgbClr val="DAE3F3"/>
            </a:solidFill>
          </p:spPr>
        </p:sp>
      </p:grpSp>
      <p:grpSp>
        <p:nvGrpSpPr>
          <p:cNvPr id="4" name="Group 4"/>
          <p:cNvGrpSpPr/>
          <p:nvPr/>
        </p:nvGrpSpPr>
        <p:grpSpPr>
          <a:xfrm>
            <a:off x="0" y="9437199"/>
            <a:ext cx="18288000" cy="879615"/>
            <a:chOff x="0" y="0"/>
            <a:chExt cx="24384000" cy="1172820"/>
          </a:xfrm>
        </p:grpSpPr>
        <p:sp>
          <p:nvSpPr>
            <p:cNvPr id="5" name="Freeform 5"/>
            <p:cNvSpPr/>
            <p:nvPr/>
          </p:nvSpPr>
          <p:spPr>
            <a:xfrm>
              <a:off x="0" y="0"/>
              <a:ext cx="24384000" cy="1172845"/>
            </a:xfrm>
            <a:custGeom>
              <a:avLst/>
              <a:gdLst/>
              <a:ahLst/>
              <a:cxnLst/>
              <a:rect l="l" t="t" r="r" b="b"/>
              <a:pathLst>
                <a:path w="24384000" h="1172845">
                  <a:moveTo>
                    <a:pt x="0" y="0"/>
                  </a:moveTo>
                  <a:lnTo>
                    <a:pt x="24384000" y="0"/>
                  </a:lnTo>
                  <a:lnTo>
                    <a:pt x="24384000" y="1172845"/>
                  </a:lnTo>
                  <a:lnTo>
                    <a:pt x="0" y="1172845"/>
                  </a:lnTo>
                  <a:close/>
                </a:path>
              </a:pathLst>
            </a:custGeom>
            <a:solidFill>
              <a:srgbClr val="333F50"/>
            </a:solidFill>
          </p:spPr>
        </p:sp>
      </p:grpSp>
      <p:grpSp>
        <p:nvGrpSpPr>
          <p:cNvPr id="6" name="Group 6"/>
          <p:cNvGrpSpPr/>
          <p:nvPr/>
        </p:nvGrpSpPr>
        <p:grpSpPr>
          <a:xfrm>
            <a:off x="1257300" y="9534525"/>
            <a:ext cx="4114800" cy="547688"/>
            <a:chOff x="0" y="0"/>
            <a:chExt cx="5486400" cy="730250"/>
          </a:xfrm>
        </p:grpSpPr>
        <p:sp>
          <p:nvSpPr>
            <p:cNvPr id="7" name="Freeform 7"/>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2" cstate="print">
                <a:alphaModFix amt="0"/>
              </a:blip>
              <a:stretch>
                <a:fillRect t="-96391" b="-96391"/>
              </a:stretch>
            </a:blipFill>
          </p:spPr>
        </p:sp>
        <p:sp>
          <p:nvSpPr>
            <p:cNvPr id="8" name="TextBox 8"/>
            <p:cNvSpPr txBox="1"/>
            <p:nvPr/>
          </p:nvSpPr>
          <p:spPr>
            <a:xfrm>
              <a:off x="0" y="-19050"/>
              <a:ext cx="5486400" cy="749300"/>
            </a:xfrm>
            <a:prstGeom prst="rect">
              <a:avLst/>
            </a:prstGeom>
          </p:spPr>
          <p:txBody>
            <a:bodyPr lIns="0" tIns="0" rIns="0" bIns="0" rtlCol="0" anchor="ctr"/>
            <a:lstStyle/>
            <a:p>
              <a:pPr algn="l">
                <a:lnSpc>
                  <a:spcPts val="2160"/>
                </a:lnSpc>
              </a:pPr>
              <a:r>
                <a:rPr lang="en-US" sz="1800">
                  <a:solidFill>
                    <a:srgbClr val="FFFFFF"/>
                  </a:solidFill>
                  <a:latin typeface="Times New Roman"/>
                  <a:ea typeface="Times New Roman"/>
                  <a:cs typeface="Times New Roman"/>
                  <a:sym typeface="Times New Roman"/>
                </a:rPr>
                <a:t>Friday, August 1, 2025</a:t>
              </a:r>
            </a:p>
          </p:txBody>
        </p:sp>
      </p:grpSp>
      <p:grpSp>
        <p:nvGrpSpPr>
          <p:cNvPr id="9" name="Group 9"/>
          <p:cNvGrpSpPr/>
          <p:nvPr/>
        </p:nvGrpSpPr>
        <p:grpSpPr>
          <a:xfrm>
            <a:off x="6057900" y="9534525"/>
            <a:ext cx="6172200" cy="547688"/>
            <a:chOff x="0" y="0"/>
            <a:chExt cx="8229600" cy="730250"/>
          </a:xfrm>
        </p:grpSpPr>
        <p:sp>
          <p:nvSpPr>
            <p:cNvPr id="10" name="Freeform 10"/>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blipFill>
              <a:blip r:embed="rId3">
                <a:alphaModFix amt="0"/>
              </a:blip>
              <a:stretch>
                <a:fillRect t="-169587" b="-169587"/>
              </a:stretch>
            </a:blipFill>
          </p:spPr>
        </p:sp>
        <p:sp>
          <p:nvSpPr>
            <p:cNvPr id="11" name="TextBox 11"/>
            <p:cNvSpPr txBox="1"/>
            <p:nvPr/>
          </p:nvSpPr>
          <p:spPr>
            <a:xfrm>
              <a:off x="0" y="-19050"/>
              <a:ext cx="8229600" cy="749300"/>
            </a:xfrm>
            <a:prstGeom prst="rect">
              <a:avLst/>
            </a:prstGeom>
          </p:spPr>
          <p:txBody>
            <a:bodyPr lIns="0" tIns="0" rIns="0" bIns="0" rtlCol="0" anchor="ctr"/>
            <a:lstStyle/>
            <a:p>
              <a:pPr algn="ctr">
                <a:lnSpc>
                  <a:spcPts val="2160"/>
                </a:lnSpc>
              </a:pPr>
              <a:r>
                <a:rPr lang="en-US" sz="1800">
                  <a:solidFill>
                    <a:srgbClr val="FFFFFF"/>
                  </a:solidFill>
                  <a:latin typeface="Times New Roman"/>
                  <a:ea typeface="Times New Roman"/>
                  <a:cs typeface="Times New Roman"/>
                  <a:sym typeface="Times New Roman"/>
                </a:rPr>
                <a:t>Department of Computer Science &amp; Engineering, PUB</a:t>
              </a:r>
            </a:p>
          </p:txBody>
        </p:sp>
      </p:grpSp>
      <p:grpSp>
        <p:nvGrpSpPr>
          <p:cNvPr id="12" name="Group 12"/>
          <p:cNvGrpSpPr/>
          <p:nvPr/>
        </p:nvGrpSpPr>
        <p:grpSpPr>
          <a:xfrm>
            <a:off x="12915900" y="9534525"/>
            <a:ext cx="4114800" cy="547688"/>
            <a:chOff x="0" y="0"/>
            <a:chExt cx="5486400" cy="730250"/>
          </a:xfrm>
        </p:grpSpPr>
        <p:sp>
          <p:nvSpPr>
            <p:cNvPr id="13" name="Freeform 13"/>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2" cstate="print">
                <a:alphaModFix amt="0"/>
              </a:blip>
              <a:stretch>
                <a:fillRect t="-96391" b="-96391"/>
              </a:stretch>
            </a:blipFill>
          </p:spPr>
        </p:sp>
        <p:sp>
          <p:nvSpPr>
            <p:cNvPr id="14" name="TextBox 14"/>
            <p:cNvSpPr txBox="1"/>
            <p:nvPr/>
          </p:nvSpPr>
          <p:spPr>
            <a:xfrm>
              <a:off x="0" y="-19050"/>
              <a:ext cx="5486400" cy="749300"/>
            </a:xfrm>
            <a:prstGeom prst="rect">
              <a:avLst/>
            </a:prstGeom>
          </p:spPr>
          <p:txBody>
            <a:bodyPr lIns="0" tIns="0" rIns="0" bIns="0" rtlCol="0" anchor="ctr"/>
            <a:lstStyle/>
            <a:p>
              <a:pPr algn="r">
                <a:lnSpc>
                  <a:spcPts val="2160"/>
                </a:lnSpc>
              </a:pPr>
              <a:r>
                <a:rPr lang="en-US" sz="1800">
                  <a:solidFill>
                    <a:srgbClr val="FFFFFF"/>
                  </a:solidFill>
                  <a:latin typeface="Times New Roman"/>
                  <a:ea typeface="Times New Roman"/>
                  <a:cs typeface="Times New Roman"/>
                  <a:sym typeface="Times New Roman"/>
                </a:rPr>
                <a:t>7</a:t>
              </a:r>
            </a:p>
          </p:txBody>
        </p:sp>
      </p:grpSp>
      <p:grpSp>
        <p:nvGrpSpPr>
          <p:cNvPr id="15" name="Group 15"/>
          <p:cNvGrpSpPr/>
          <p:nvPr/>
        </p:nvGrpSpPr>
        <p:grpSpPr>
          <a:xfrm>
            <a:off x="769315" y="685800"/>
            <a:ext cx="888463" cy="879615"/>
            <a:chOff x="0" y="0"/>
            <a:chExt cx="1184618" cy="1172820"/>
          </a:xfrm>
        </p:grpSpPr>
        <p:sp>
          <p:nvSpPr>
            <p:cNvPr id="16" name="Freeform 16"/>
            <p:cNvSpPr/>
            <p:nvPr/>
          </p:nvSpPr>
          <p:spPr>
            <a:xfrm>
              <a:off x="0" y="0"/>
              <a:ext cx="1184656" cy="1172845"/>
            </a:xfrm>
            <a:custGeom>
              <a:avLst/>
              <a:gdLst/>
              <a:ahLst/>
              <a:cxnLst/>
              <a:rect l="l" t="t" r="r" b="b"/>
              <a:pathLst>
                <a:path w="1184656" h="1172845">
                  <a:moveTo>
                    <a:pt x="0" y="0"/>
                  </a:moveTo>
                  <a:lnTo>
                    <a:pt x="1184656" y="0"/>
                  </a:lnTo>
                  <a:lnTo>
                    <a:pt x="1184656" y="1172845"/>
                  </a:lnTo>
                  <a:lnTo>
                    <a:pt x="0" y="1172845"/>
                  </a:lnTo>
                  <a:lnTo>
                    <a:pt x="0" y="0"/>
                  </a:lnTo>
                  <a:close/>
                </a:path>
              </a:pathLst>
            </a:custGeom>
            <a:blipFill>
              <a:blip r:embed="rId4"/>
              <a:stretch>
                <a:fillRect r="3" b="2"/>
              </a:stretch>
            </a:blipFill>
          </p:spPr>
        </p:sp>
      </p:grpSp>
      <p:grpSp>
        <p:nvGrpSpPr>
          <p:cNvPr id="17" name="Group 17"/>
          <p:cNvGrpSpPr/>
          <p:nvPr/>
        </p:nvGrpSpPr>
        <p:grpSpPr>
          <a:xfrm>
            <a:off x="-19050" y="1730045"/>
            <a:ext cx="18288000" cy="27432"/>
            <a:chOff x="0" y="0"/>
            <a:chExt cx="24384000" cy="36576"/>
          </a:xfrm>
        </p:grpSpPr>
        <p:sp>
          <p:nvSpPr>
            <p:cNvPr id="18" name="Freeform 18"/>
            <p:cNvSpPr/>
            <p:nvPr/>
          </p:nvSpPr>
          <p:spPr>
            <a:xfrm>
              <a:off x="0" y="0"/>
              <a:ext cx="24384000" cy="36576"/>
            </a:xfrm>
            <a:custGeom>
              <a:avLst/>
              <a:gdLst/>
              <a:ahLst/>
              <a:cxnLst/>
              <a:rect l="l" t="t" r="r" b="b"/>
              <a:pathLst>
                <a:path w="24384000" h="36576">
                  <a:moveTo>
                    <a:pt x="0" y="0"/>
                  </a:moveTo>
                  <a:lnTo>
                    <a:pt x="24384000" y="0"/>
                  </a:lnTo>
                  <a:lnTo>
                    <a:pt x="24384000" y="36576"/>
                  </a:lnTo>
                  <a:lnTo>
                    <a:pt x="0" y="36576"/>
                  </a:lnTo>
                  <a:close/>
                </a:path>
              </a:pathLst>
            </a:custGeom>
            <a:gradFill rotWithShape="1">
              <a:gsLst>
                <a:gs pos="0">
                  <a:srgbClr val="B4C7E7">
                    <a:alpha val="100000"/>
                  </a:srgbClr>
                </a:gs>
                <a:gs pos="36000">
                  <a:srgbClr val="4D79C7">
                    <a:alpha val="100000"/>
                  </a:srgbClr>
                </a:gs>
                <a:gs pos="100000">
                  <a:srgbClr val="222A35">
                    <a:alpha val="100000"/>
                  </a:srgbClr>
                </a:gs>
              </a:gsLst>
              <a:path path="circle">
                <a:fillToRect l="50000" t="-30000" r="50000" b="130000"/>
              </a:path>
              <a:tileRect t="-160000"/>
            </a:gradFill>
          </p:spPr>
        </p:sp>
      </p:grpSp>
      <p:grpSp>
        <p:nvGrpSpPr>
          <p:cNvPr id="19" name="Group 19"/>
          <p:cNvGrpSpPr/>
          <p:nvPr/>
        </p:nvGrpSpPr>
        <p:grpSpPr>
          <a:xfrm>
            <a:off x="1910963" y="521122"/>
            <a:ext cx="15241657" cy="929716"/>
            <a:chOff x="0" y="0"/>
            <a:chExt cx="20322210" cy="1239622"/>
          </a:xfrm>
        </p:grpSpPr>
        <p:sp>
          <p:nvSpPr>
            <p:cNvPr id="20" name="Freeform 20"/>
            <p:cNvSpPr/>
            <p:nvPr/>
          </p:nvSpPr>
          <p:spPr>
            <a:xfrm>
              <a:off x="0" y="0"/>
              <a:ext cx="20322208" cy="1239626"/>
            </a:xfrm>
            <a:custGeom>
              <a:avLst/>
              <a:gdLst/>
              <a:ahLst/>
              <a:cxnLst/>
              <a:rect l="l" t="t" r="r" b="b"/>
              <a:pathLst>
                <a:path w="20322208" h="1239626">
                  <a:moveTo>
                    <a:pt x="0" y="0"/>
                  </a:moveTo>
                  <a:lnTo>
                    <a:pt x="20322208" y="0"/>
                  </a:lnTo>
                  <a:lnTo>
                    <a:pt x="20322208" y="1239626"/>
                  </a:lnTo>
                  <a:lnTo>
                    <a:pt x="0" y="1239626"/>
                  </a:lnTo>
                  <a:close/>
                </a:path>
              </a:pathLst>
            </a:custGeom>
            <a:blipFill>
              <a:blip r:embed="rId3">
                <a:alphaModFix amt="0"/>
              </a:blip>
              <a:stretch>
                <a:fillRect t="-269434" b="-269434"/>
              </a:stretch>
            </a:blipFill>
          </p:spPr>
        </p:sp>
        <p:sp>
          <p:nvSpPr>
            <p:cNvPr id="21" name="TextBox 21"/>
            <p:cNvSpPr txBox="1"/>
            <p:nvPr/>
          </p:nvSpPr>
          <p:spPr>
            <a:xfrm>
              <a:off x="0" y="28575"/>
              <a:ext cx="20322210" cy="1211047"/>
            </a:xfrm>
            <a:prstGeom prst="rect">
              <a:avLst/>
            </a:prstGeom>
          </p:spPr>
          <p:txBody>
            <a:bodyPr lIns="0" tIns="0" rIns="0" bIns="0" rtlCol="0" anchor="b"/>
            <a:lstStyle/>
            <a:p>
              <a:pPr algn="l">
                <a:lnSpc>
                  <a:spcPts val="5184"/>
                </a:lnSpc>
              </a:pPr>
              <a:r>
                <a:rPr lang="en-US" sz="4800" b="1">
                  <a:solidFill>
                    <a:srgbClr val="000000"/>
                  </a:solidFill>
                  <a:latin typeface="Times New Roman Bold"/>
                  <a:ea typeface="Times New Roman Bold"/>
                  <a:cs typeface="Times New Roman Bold"/>
                  <a:sym typeface="Times New Roman Bold"/>
                </a:rPr>
                <a:t>Objectives</a:t>
              </a:r>
            </a:p>
          </p:txBody>
        </p:sp>
      </p:grpSp>
      <p:sp>
        <p:nvSpPr>
          <p:cNvPr id="22" name="TextBox 22"/>
          <p:cNvSpPr txBox="1"/>
          <p:nvPr/>
        </p:nvSpPr>
        <p:spPr>
          <a:xfrm>
            <a:off x="2002403" y="2285143"/>
            <a:ext cx="14936857" cy="2559101"/>
          </a:xfrm>
          <a:prstGeom prst="rect">
            <a:avLst/>
          </a:prstGeom>
        </p:spPr>
        <p:txBody>
          <a:bodyPr lIns="0" tIns="0" rIns="0" bIns="0" rtlCol="0" anchor="t">
            <a:spAutoFit/>
          </a:bodyPr>
          <a:lstStyle/>
          <a:p>
            <a:pPr marL="488632" lvl="1" indent="-244316" algn="just">
              <a:lnSpc>
                <a:spcPts val="3240"/>
              </a:lnSpc>
              <a:buFont typeface="Arial"/>
              <a:buChar char="•"/>
            </a:pPr>
            <a:r>
              <a:rPr lang="en-US" sz="2700">
                <a:solidFill>
                  <a:srgbClr val="000000"/>
                </a:solidFill>
                <a:latin typeface="Times New Roman"/>
                <a:ea typeface="Times New Roman"/>
                <a:cs typeface="Times New Roman"/>
                <a:sym typeface="Times New Roman"/>
              </a:rPr>
              <a:t>To build an explainable machine learning model that predicts the price of consumer electronics listed on Bangladeshi e-commerce platforms.</a:t>
            </a:r>
          </a:p>
          <a:p>
            <a:pPr marL="488632" lvl="1" indent="-244316" algn="just">
              <a:lnSpc>
                <a:spcPts val="3240"/>
              </a:lnSpc>
              <a:buFont typeface="Arial"/>
              <a:buChar char="•"/>
            </a:pPr>
            <a:r>
              <a:rPr lang="en-US" sz="2700">
                <a:solidFill>
                  <a:srgbClr val="000000"/>
                </a:solidFill>
                <a:latin typeface="Times New Roman"/>
                <a:ea typeface="Times New Roman"/>
                <a:cs typeface="Times New Roman"/>
                <a:sym typeface="Times New Roman"/>
              </a:rPr>
              <a:t>To clean and engineer features from raw scraped Daraz and Pickaboo listings, including category, brand, platform, discount, and warranty information.</a:t>
            </a:r>
          </a:p>
          <a:p>
            <a:pPr marL="488632" lvl="1" indent="-244316" algn="just">
              <a:lnSpc>
                <a:spcPts val="3240"/>
              </a:lnSpc>
              <a:buFont typeface="Arial"/>
              <a:buChar char="•"/>
            </a:pPr>
            <a:r>
              <a:rPr lang="en-US" sz="2700">
                <a:solidFill>
                  <a:srgbClr val="000000"/>
                </a:solidFill>
                <a:latin typeface="Times New Roman"/>
                <a:ea typeface="Times New Roman"/>
                <a:cs typeface="Times New Roman"/>
                <a:sym typeface="Times New Roman"/>
              </a:rPr>
              <a:t>To compare Linear Regression, Random Forest, and XGBoost for price prediction using MAE, RMSE, and R².</a:t>
            </a:r>
          </a:p>
          <a:p>
            <a:pPr marL="488632" lvl="1" indent="-244316" algn="just">
              <a:lnSpc>
                <a:spcPts val="3240"/>
              </a:lnSpc>
              <a:buFont typeface="Arial"/>
              <a:buChar char="•"/>
            </a:pPr>
            <a:r>
              <a:rPr lang="en-US" sz="2700">
                <a:solidFill>
                  <a:srgbClr val="000000"/>
                </a:solidFill>
                <a:latin typeface="Times New Roman"/>
                <a:ea typeface="Times New Roman"/>
                <a:cs typeface="Times New Roman"/>
                <a:sym typeface="Times New Roman"/>
              </a:rPr>
              <a:t>To apply SHAP to the best-performing model to identify which attributes most strongly influence electronics prices.</a:t>
            </a: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737360"/>
            <a:chOff x="0" y="0"/>
            <a:chExt cx="24384000" cy="2316480"/>
          </a:xfrm>
        </p:grpSpPr>
        <p:sp>
          <p:nvSpPr>
            <p:cNvPr id="3" name="Freeform 3"/>
            <p:cNvSpPr/>
            <p:nvPr/>
          </p:nvSpPr>
          <p:spPr>
            <a:xfrm>
              <a:off x="0" y="0"/>
              <a:ext cx="24384000" cy="2316480"/>
            </a:xfrm>
            <a:custGeom>
              <a:avLst/>
              <a:gdLst/>
              <a:ahLst/>
              <a:cxnLst/>
              <a:rect l="l" t="t" r="r" b="b"/>
              <a:pathLst>
                <a:path w="24384000" h="2316480">
                  <a:moveTo>
                    <a:pt x="0" y="0"/>
                  </a:moveTo>
                  <a:lnTo>
                    <a:pt x="24384000" y="0"/>
                  </a:lnTo>
                  <a:lnTo>
                    <a:pt x="24384000" y="2316480"/>
                  </a:lnTo>
                  <a:lnTo>
                    <a:pt x="0" y="2316480"/>
                  </a:lnTo>
                  <a:close/>
                </a:path>
              </a:pathLst>
            </a:custGeom>
            <a:solidFill>
              <a:srgbClr val="DAE3F3"/>
            </a:solidFill>
          </p:spPr>
        </p:sp>
      </p:grpSp>
      <p:grpSp>
        <p:nvGrpSpPr>
          <p:cNvPr id="4" name="Group 4"/>
          <p:cNvGrpSpPr/>
          <p:nvPr/>
        </p:nvGrpSpPr>
        <p:grpSpPr>
          <a:xfrm>
            <a:off x="0" y="9437199"/>
            <a:ext cx="18288000" cy="879615"/>
            <a:chOff x="0" y="0"/>
            <a:chExt cx="24384000" cy="1172820"/>
          </a:xfrm>
        </p:grpSpPr>
        <p:sp>
          <p:nvSpPr>
            <p:cNvPr id="5" name="Freeform 5"/>
            <p:cNvSpPr/>
            <p:nvPr/>
          </p:nvSpPr>
          <p:spPr>
            <a:xfrm>
              <a:off x="0" y="0"/>
              <a:ext cx="24384000" cy="1172845"/>
            </a:xfrm>
            <a:custGeom>
              <a:avLst/>
              <a:gdLst/>
              <a:ahLst/>
              <a:cxnLst/>
              <a:rect l="l" t="t" r="r" b="b"/>
              <a:pathLst>
                <a:path w="24384000" h="1172845">
                  <a:moveTo>
                    <a:pt x="0" y="0"/>
                  </a:moveTo>
                  <a:lnTo>
                    <a:pt x="24384000" y="0"/>
                  </a:lnTo>
                  <a:lnTo>
                    <a:pt x="24384000" y="1172845"/>
                  </a:lnTo>
                  <a:lnTo>
                    <a:pt x="0" y="1172845"/>
                  </a:lnTo>
                  <a:close/>
                </a:path>
              </a:pathLst>
            </a:custGeom>
            <a:solidFill>
              <a:srgbClr val="333F50"/>
            </a:solidFill>
          </p:spPr>
        </p:sp>
      </p:grpSp>
      <p:grpSp>
        <p:nvGrpSpPr>
          <p:cNvPr id="6" name="Group 6"/>
          <p:cNvGrpSpPr/>
          <p:nvPr/>
        </p:nvGrpSpPr>
        <p:grpSpPr>
          <a:xfrm>
            <a:off x="1257300" y="9534525"/>
            <a:ext cx="4114800" cy="547688"/>
            <a:chOff x="0" y="0"/>
            <a:chExt cx="5486400" cy="730250"/>
          </a:xfrm>
        </p:grpSpPr>
        <p:sp>
          <p:nvSpPr>
            <p:cNvPr id="7" name="Freeform 7"/>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2" cstate="print">
                <a:alphaModFix amt="0"/>
              </a:blip>
              <a:stretch>
                <a:fillRect t="-96391" b="-96391"/>
              </a:stretch>
            </a:blipFill>
          </p:spPr>
        </p:sp>
        <p:sp>
          <p:nvSpPr>
            <p:cNvPr id="8" name="TextBox 8"/>
            <p:cNvSpPr txBox="1"/>
            <p:nvPr/>
          </p:nvSpPr>
          <p:spPr>
            <a:xfrm>
              <a:off x="0" y="-19050"/>
              <a:ext cx="5486400" cy="749300"/>
            </a:xfrm>
            <a:prstGeom prst="rect">
              <a:avLst/>
            </a:prstGeom>
          </p:spPr>
          <p:txBody>
            <a:bodyPr lIns="0" tIns="0" rIns="0" bIns="0" rtlCol="0" anchor="ctr"/>
            <a:lstStyle/>
            <a:p>
              <a:pPr algn="l">
                <a:lnSpc>
                  <a:spcPts val="2160"/>
                </a:lnSpc>
              </a:pPr>
              <a:r>
                <a:rPr lang="en-US" sz="1800">
                  <a:solidFill>
                    <a:srgbClr val="FFFFFF"/>
                  </a:solidFill>
                  <a:latin typeface="Times New Roman"/>
                  <a:ea typeface="Times New Roman"/>
                  <a:cs typeface="Times New Roman"/>
                  <a:sym typeface="Times New Roman"/>
                </a:rPr>
                <a:t>Friday, August 1, 2025</a:t>
              </a:r>
            </a:p>
          </p:txBody>
        </p:sp>
      </p:grpSp>
      <p:grpSp>
        <p:nvGrpSpPr>
          <p:cNvPr id="9" name="Group 9"/>
          <p:cNvGrpSpPr/>
          <p:nvPr/>
        </p:nvGrpSpPr>
        <p:grpSpPr>
          <a:xfrm>
            <a:off x="6057900" y="9534525"/>
            <a:ext cx="6172200" cy="547688"/>
            <a:chOff x="0" y="0"/>
            <a:chExt cx="8229600" cy="730250"/>
          </a:xfrm>
        </p:grpSpPr>
        <p:sp>
          <p:nvSpPr>
            <p:cNvPr id="10" name="Freeform 10"/>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blipFill>
              <a:blip r:embed="rId3">
                <a:alphaModFix amt="0"/>
              </a:blip>
              <a:stretch>
                <a:fillRect t="-169587" b="-169587"/>
              </a:stretch>
            </a:blipFill>
          </p:spPr>
        </p:sp>
        <p:sp>
          <p:nvSpPr>
            <p:cNvPr id="11" name="TextBox 11"/>
            <p:cNvSpPr txBox="1"/>
            <p:nvPr/>
          </p:nvSpPr>
          <p:spPr>
            <a:xfrm>
              <a:off x="0" y="-19050"/>
              <a:ext cx="8229600" cy="749300"/>
            </a:xfrm>
            <a:prstGeom prst="rect">
              <a:avLst/>
            </a:prstGeom>
          </p:spPr>
          <p:txBody>
            <a:bodyPr lIns="0" tIns="0" rIns="0" bIns="0" rtlCol="0" anchor="ctr"/>
            <a:lstStyle/>
            <a:p>
              <a:pPr algn="ctr">
                <a:lnSpc>
                  <a:spcPts val="2160"/>
                </a:lnSpc>
              </a:pPr>
              <a:r>
                <a:rPr lang="en-US" sz="1800">
                  <a:solidFill>
                    <a:srgbClr val="FFFFFF"/>
                  </a:solidFill>
                  <a:latin typeface="Times New Roman"/>
                  <a:ea typeface="Times New Roman"/>
                  <a:cs typeface="Times New Roman"/>
                  <a:sym typeface="Times New Roman"/>
                </a:rPr>
                <a:t>Department of Computer Science &amp; Engineering, PUB</a:t>
              </a:r>
            </a:p>
          </p:txBody>
        </p:sp>
      </p:grpSp>
      <p:grpSp>
        <p:nvGrpSpPr>
          <p:cNvPr id="12" name="Group 12"/>
          <p:cNvGrpSpPr/>
          <p:nvPr/>
        </p:nvGrpSpPr>
        <p:grpSpPr>
          <a:xfrm>
            <a:off x="12915900" y="9534525"/>
            <a:ext cx="4114800" cy="547688"/>
            <a:chOff x="0" y="0"/>
            <a:chExt cx="5486400" cy="730250"/>
          </a:xfrm>
        </p:grpSpPr>
        <p:sp>
          <p:nvSpPr>
            <p:cNvPr id="13" name="Freeform 13"/>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2" cstate="print">
                <a:alphaModFix amt="0"/>
              </a:blip>
              <a:stretch>
                <a:fillRect t="-96391" b="-96391"/>
              </a:stretch>
            </a:blipFill>
          </p:spPr>
        </p:sp>
        <p:sp>
          <p:nvSpPr>
            <p:cNvPr id="14" name="TextBox 14"/>
            <p:cNvSpPr txBox="1"/>
            <p:nvPr/>
          </p:nvSpPr>
          <p:spPr>
            <a:xfrm>
              <a:off x="0" y="-19050"/>
              <a:ext cx="5486400" cy="749300"/>
            </a:xfrm>
            <a:prstGeom prst="rect">
              <a:avLst/>
            </a:prstGeom>
          </p:spPr>
          <p:txBody>
            <a:bodyPr lIns="0" tIns="0" rIns="0" bIns="0" rtlCol="0" anchor="ctr"/>
            <a:lstStyle/>
            <a:p>
              <a:pPr algn="r">
                <a:lnSpc>
                  <a:spcPts val="2160"/>
                </a:lnSpc>
              </a:pPr>
              <a:r>
                <a:rPr lang="en-US" sz="1800">
                  <a:solidFill>
                    <a:srgbClr val="FFFFFF"/>
                  </a:solidFill>
                  <a:latin typeface="Times New Roman"/>
                  <a:ea typeface="Times New Roman"/>
                  <a:cs typeface="Times New Roman"/>
                  <a:sym typeface="Times New Roman"/>
                </a:rPr>
                <a:t>8</a:t>
              </a:r>
            </a:p>
          </p:txBody>
        </p:sp>
      </p:grpSp>
      <p:grpSp>
        <p:nvGrpSpPr>
          <p:cNvPr id="15" name="Group 15"/>
          <p:cNvGrpSpPr/>
          <p:nvPr/>
        </p:nvGrpSpPr>
        <p:grpSpPr>
          <a:xfrm>
            <a:off x="769315" y="685800"/>
            <a:ext cx="888463" cy="879615"/>
            <a:chOff x="0" y="0"/>
            <a:chExt cx="1184618" cy="1172820"/>
          </a:xfrm>
        </p:grpSpPr>
        <p:sp>
          <p:nvSpPr>
            <p:cNvPr id="16" name="Freeform 16"/>
            <p:cNvSpPr/>
            <p:nvPr/>
          </p:nvSpPr>
          <p:spPr>
            <a:xfrm>
              <a:off x="0" y="0"/>
              <a:ext cx="1184656" cy="1172845"/>
            </a:xfrm>
            <a:custGeom>
              <a:avLst/>
              <a:gdLst/>
              <a:ahLst/>
              <a:cxnLst/>
              <a:rect l="l" t="t" r="r" b="b"/>
              <a:pathLst>
                <a:path w="1184656" h="1172845">
                  <a:moveTo>
                    <a:pt x="0" y="0"/>
                  </a:moveTo>
                  <a:lnTo>
                    <a:pt x="1184656" y="0"/>
                  </a:lnTo>
                  <a:lnTo>
                    <a:pt x="1184656" y="1172845"/>
                  </a:lnTo>
                  <a:lnTo>
                    <a:pt x="0" y="1172845"/>
                  </a:lnTo>
                  <a:lnTo>
                    <a:pt x="0" y="0"/>
                  </a:lnTo>
                  <a:close/>
                </a:path>
              </a:pathLst>
            </a:custGeom>
            <a:blipFill>
              <a:blip r:embed="rId4"/>
              <a:stretch>
                <a:fillRect r="3" b="2"/>
              </a:stretch>
            </a:blipFill>
          </p:spPr>
        </p:sp>
      </p:grpSp>
      <p:grpSp>
        <p:nvGrpSpPr>
          <p:cNvPr id="17" name="Group 17"/>
          <p:cNvGrpSpPr/>
          <p:nvPr/>
        </p:nvGrpSpPr>
        <p:grpSpPr>
          <a:xfrm>
            <a:off x="-19050" y="1730045"/>
            <a:ext cx="18288000" cy="27432"/>
            <a:chOff x="0" y="0"/>
            <a:chExt cx="24384000" cy="36576"/>
          </a:xfrm>
        </p:grpSpPr>
        <p:sp>
          <p:nvSpPr>
            <p:cNvPr id="18" name="Freeform 18"/>
            <p:cNvSpPr/>
            <p:nvPr/>
          </p:nvSpPr>
          <p:spPr>
            <a:xfrm>
              <a:off x="0" y="0"/>
              <a:ext cx="24384000" cy="36576"/>
            </a:xfrm>
            <a:custGeom>
              <a:avLst/>
              <a:gdLst/>
              <a:ahLst/>
              <a:cxnLst/>
              <a:rect l="l" t="t" r="r" b="b"/>
              <a:pathLst>
                <a:path w="24384000" h="36576">
                  <a:moveTo>
                    <a:pt x="0" y="0"/>
                  </a:moveTo>
                  <a:lnTo>
                    <a:pt x="24384000" y="0"/>
                  </a:lnTo>
                  <a:lnTo>
                    <a:pt x="24384000" y="36576"/>
                  </a:lnTo>
                  <a:lnTo>
                    <a:pt x="0" y="36576"/>
                  </a:lnTo>
                  <a:close/>
                </a:path>
              </a:pathLst>
            </a:custGeom>
            <a:gradFill rotWithShape="1">
              <a:gsLst>
                <a:gs pos="0">
                  <a:srgbClr val="B4C7E7">
                    <a:alpha val="100000"/>
                  </a:srgbClr>
                </a:gs>
                <a:gs pos="36000">
                  <a:srgbClr val="4D79C7">
                    <a:alpha val="100000"/>
                  </a:srgbClr>
                </a:gs>
                <a:gs pos="100000">
                  <a:srgbClr val="222A35">
                    <a:alpha val="100000"/>
                  </a:srgbClr>
                </a:gs>
              </a:gsLst>
              <a:path path="circle">
                <a:fillToRect l="50000" t="-30000" r="50000" b="130000"/>
              </a:path>
              <a:tileRect t="-160000"/>
            </a:gradFill>
          </p:spPr>
        </p:sp>
      </p:grpSp>
      <p:grpSp>
        <p:nvGrpSpPr>
          <p:cNvPr id="19" name="Group 19"/>
          <p:cNvGrpSpPr/>
          <p:nvPr/>
        </p:nvGrpSpPr>
        <p:grpSpPr>
          <a:xfrm>
            <a:off x="1910963" y="521122"/>
            <a:ext cx="15241657" cy="929716"/>
            <a:chOff x="0" y="0"/>
            <a:chExt cx="20322210" cy="1239622"/>
          </a:xfrm>
        </p:grpSpPr>
        <p:sp>
          <p:nvSpPr>
            <p:cNvPr id="20" name="Freeform 20"/>
            <p:cNvSpPr/>
            <p:nvPr/>
          </p:nvSpPr>
          <p:spPr>
            <a:xfrm>
              <a:off x="0" y="0"/>
              <a:ext cx="20322208" cy="1239626"/>
            </a:xfrm>
            <a:custGeom>
              <a:avLst/>
              <a:gdLst/>
              <a:ahLst/>
              <a:cxnLst/>
              <a:rect l="l" t="t" r="r" b="b"/>
              <a:pathLst>
                <a:path w="20322208" h="1239626">
                  <a:moveTo>
                    <a:pt x="0" y="0"/>
                  </a:moveTo>
                  <a:lnTo>
                    <a:pt x="20322208" y="0"/>
                  </a:lnTo>
                  <a:lnTo>
                    <a:pt x="20322208" y="1239626"/>
                  </a:lnTo>
                  <a:lnTo>
                    <a:pt x="0" y="1239626"/>
                  </a:lnTo>
                  <a:close/>
                </a:path>
              </a:pathLst>
            </a:custGeom>
            <a:blipFill>
              <a:blip r:embed="rId3">
                <a:alphaModFix amt="0"/>
              </a:blip>
              <a:stretch>
                <a:fillRect t="-269434" b="-269434"/>
              </a:stretch>
            </a:blipFill>
          </p:spPr>
        </p:sp>
        <p:sp>
          <p:nvSpPr>
            <p:cNvPr id="21" name="TextBox 21"/>
            <p:cNvSpPr txBox="1"/>
            <p:nvPr/>
          </p:nvSpPr>
          <p:spPr>
            <a:xfrm>
              <a:off x="0" y="28575"/>
              <a:ext cx="20322210" cy="1211047"/>
            </a:xfrm>
            <a:prstGeom prst="rect">
              <a:avLst/>
            </a:prstGeom>
          </p:spPr>
          <p:txBody>
            <a:bodyPr lIns="0" tIns="0" rIns="0" bIns="0" rtlCol="0" anchor="b"/>
            <a:lstStyle/>
            <a:p>
              <a:pPr algn="l">
                <a:lnSpc>
                  <a:spcPts val="5184"/>
                </a:lnSpc>
              </a:pPr>
              <a:r>
                <a:rPr lang="en-US" sz="4800" b="1">
                  <a:solidFill>
                    <a:srgbClr val="000000"/>
                  </a:solidFill>
                  <a:latin typeface="Times New Roman Bold"/>
                  <a:ea typeface="Times New Roman Bold"/>
                  <a:cs typeface="Times New Roman Bold"/>
                  <a:sym typeface="Times New Roman Bold"/>
                </a:rPr>
                <a:t>Literature Review (1/2)</a:t>
              </a:r>
            </a:p>
          </p:txBody>
        </p:sp>
      </p:grpSp>
      <p:sp>
        <p:nvSpPr>
          <p:cNvPr id="22" name="TextBox 22"/>
          <p:cNvSpPr txBox="1"/>
          <p:nvPr/>
        </p:nvSpPr>
        <p:spPr>
          <a:xfrm>
            <a:off x="2002403" y="2285142"/>
            <a:ext cx="14990197" cy="4514056"/>
          </a:xfrm>
          <a:prstGeom prst="rect">
            <a:avLst/>
          </a:prstGeom>
        </p:spPr>
        <p:txBody>
          <a:bodyPr wrap="square" lIns="0" tIns="0" rIns="0" bIns="0" rtlCol="0" anchor="t">
            <a:spAutoFit/>
          </a:bodyPr>
          <a:lstStyle/>
          <a:p>
            <a:pPr algn="just">
              <a:lnSpc>
                <a:spcPts val="3240"/>
              </a:lnSpc>
            </a:pPr>
            <a:r>
              <a:rPr lang="en-US" sz="2700" b="1" dirty="0">
                <a:solidFill>
                  <a:srgbClr val="000000"/>
                </a:solidFill>
                <a:latin typeface="Times New Roman Bold"/>
                <a:ea typeface="Times New Roman Bold"/>
                <a:cs typeface="Times New Roman Bold"/>
                <a:sym typeface="Times New Roman Bold"/>
              </a:rPr>
              <a:t>Title: </a:t>
            </a:r>
            <a:r>
              <a:rPr lang="en-US" sz="2700" dirty="0" err="1">
                <a:solidFill>
                  <a:srgbClr val="000000"/>
                </a:solidFill>
                <a:latin typeface="Times New Roman"/>
                <a:ea typeface="Times New Roman"/>
                <a:cs typeface="Times New Roman"/>
                <a:sym typeface="Times New Roman"/>
              </a:rPr>
              <a:t>Yoshi</a:t>
            </a:r>
            <a:r>
              <a:rPr lang="en-US" sz="2700" dirty="0">
                <a:solidFill>
                  <a:srgbClr val="000000"/>
                </a:solidFill>
                <a:latin typeface="Times New Roman"/>
                <a:ea typeface="Times New Roman"/>
                <a:cs typeface="Times New Roman"/>
                <a:sym typeface="Times New Roman"/>
              </a:rPr>
              <a:t> et al. [1] – Real-Time Dynamic Pricing Using Machine Learning: Integrating Customer Sentiment and Predictive Models for E-Commerce</a:t>
            </a:r>
          </a:p>
          <a:p>
            <a:pPr marL="488632" lvl="1" indent="-244316" algn="just">
              <a:lnSpc>
                <a:spcPts val="3240"/>
              </a:lnSpc>
            </a:pPr>
            <a:r>
              <a:rPr lang="en-US" sz="2700" b="1" dirty="0">
                <a:solidFill>
                  <a:srgbClr val="000000"/>
                </a:solidFill>
                <a:latin typeface="Times New Roman Bold"/>
                <a:ea typeface="Times New Roman Bold"/>
                <a:cs typeface="Times New Roman Bold"/>
                <a:sym typeface="Times New Roman Bold"/>
              </a:rPr>
              <a:t>Contribution:</a:t>
            </a:r>
          </a:p>
          <a:p>
            <a:pPr marL="1174432" lvl="2" indent="-391478" algn="just">
              <a:lnSpc>
                <a:spcPts val="3240"/>
              </a:lnSpc>
              <a:buFont typeface="Arial" pitchFamily="34" charset="0"/>
              <a:buChar char="•"/>
            </a:pPr>
            <a:r>
              <a:rPr lang="en-US" sz="2700" dirty="0">
                <a:solidFill>
                  <a:srgbClr val="000000"/>
                </a:solidFill>
                <a:latin typeface="Times New Roman"/>
                <a:ea typeface="Times New Roman"/>
                <a:cs typeface="Times New Roman"/>
                <a:sym typeface="Times New Roman"/>
              </a:rPr>
              <a:t>Combined transactional, behavioral, and review-sentiment data in one machine learning pricing framework</a:t>
            </a:r>
          </a:p>
          <a:p>
            <a:pPr marL="1174432" lvl="2" indent="-391478" algn="just">
              <a:lnSpc>
                <a:spcPts val="3240"/>
              </a:lnSpc>
              <a:buFont typeface="Arial" pitchFamily="34" charset="0"/>
              <a:buChar char="•"/>
            </a:pPr>
            <a:r>
              <a:rPr lang="en-US" sz="2700" dirty="0">
                <a:solidFill>
                  <a:srgbClr val="000000"/>
                </a:solidFill>
                <a:latin typeface="Times New Roman"/>
                <a:ea typeface="Times New Roman"/>
                <a:cs typeface="Times New Roman"/>
                <a:sym typeface="Times New Roman"/>
              </a:rPr>
              <a:t>Compared Random Forest, Gradient Boosting, Neural Networks, and </a:t>
            </a:r>
            <a:r>
              <a:rPr lang="en-US" sz="2700" dirty="0" err="1">
                <a:solidFill>
                  <a:srgbClr val="000000"/>
                </a:solidFill>
                <a:latin typeface="Times New Roman"/>
                <a:ea typeface="Times New Roman"/>
                <a:cs typeface="Times New Roman"/>
                <a:sym typeface="Times New Roman"/>
              </a:rPr>
              <a:t>XGBoost</a:t>
            </a:r>
            <a:r>
              <a:rPr lang="en-US" sz="2700" dirty="0">
                <a:solidFill>
                  <a:srgbClr val="000000"/>
                </a:solidFill>
                <a:latin typeface="Times New Roman"/>
                <a:ea typeface="Times New Roman"/>
                <a:cs typeface="Times New Roman"/>
                <a:sym typeface="Times New Roman"/>
              </a:rPr>
              <a:t>, with </a:t>
            </a:r>
            <a:r>
              <a:rPr lang="en-US" sz="2700" dirty="0" err="1">
                <a:solidFill>
                  <a:srgbClr val="000000"/>
                </a:solidFill>
                <a:latin typeface="Times New Roman"/>
                <a:ea typeface="Times New Roman"/>
                <a:cs typeface="Times New Roman"/>
                <a:sym typeface="Times New Roman"/>
              </a:rPr>
              <a:t>XGBoost</a:t>
            </a:r>
            <a:r>
              <a:rPr lang="en-US" sz="2700" dirty="0">
                <a:solidFill>
                  <a:srgbClr val="000000"/>
                </a:solidFill>
                <a:latin typeface="Times New Roman"/>
                <a:ea typeface="Times New Roman"/>
                <a:cs typeface="Times New Roman"/>
                <a:sym typeface="Times New Roman"/>
              </a:rPr>
              <a:t> performing best</a:t>
            </a:r>
          </a:p>
          <a:p>
            <a:pPr marL="1174432" lvl="2" indent="-391478" algn="just">
              <a:lnSpc>
                <a:spcPts val="3240"/>
              </a:lnSpc>
              <a:buFont typeface="Arial" pitchFamily="34" charset="0"/>
              <a:buChar char="•"/>
            </a:pPr>
            <a:r>
              <a:rPr lang="en-US" sz="2700" dirty="0">
                <a:solidFill>
                  <a:srgbClr val="000000"/>
                </a:solidFill>
                <a:latin typeface="Times New Roman"/>
                <a:ea typeface="Times New Roman"/>
                <a:cs typeface="Times New Roman"/>
                <a:sym typeface="Times New Roman"/>
              </a:rPr>
              <a:t>Reported strong accuracy on their retail dataset (MAE 1.29, RMSE 1.65, R² 0.97)</a:t>
            </a:r>
          </a:p>
          <a:p>
            <a:pPr marL="488632" lvl="1" indent="-244316" algn="just">
              <a:lnSpc>
                <a:spcPts val="3240"/>
              </a:lnSpc>
            </a:pPr>
            <a:r>
              <a:rPr lang="en-US" sz="2700" b="1" dirty="0">
                <a:solidFill>
                  <a:srgbClr val="000000"/>
                </a:solidFill>
                <a:latin typeface="Times New Roman Bold"/>
                <a:ea typeface="Times New Roman Bold"/>
                <a:cs typeface="Times New Roman Bold"/>
                <a:sym typeface="Times New Roman Bold"/>
              </a:rPr>
              <a:t>Limitation:</a:t>
            </a:r>
          </a:p>
          <a:p>
            <a:pPr marL="1174432" lvl="2" indent="-391478" algn="just">
              <a:lnSpc>
                <a:spcPts val="3240"/>
              </a:lnSpc>
              <a:buFont typeface="Arial" pitchFamily="34" charset="0"/>
              <a:buChar char="•"/>
            </a:pPr>
            <a:r>
              <a:rPr lang="en-US" sz="2700" dirty="0">
                <a:solidFill>
                  <a:srgbClr val="000000"/>
                </a:solidFill>
                <a:latin typeface="Times New Roman"/>
                <a:ea typeface="Times New Roman"/>
                <a:cs typeface="Times New Roman"/>
                <a:sym typeface="Times New Roman"/>
              </a:rPr>
              <a:t>Targets real-time, dynamic </a:t>
            </a:r>
            <a:r>
              <a:rPr lang="en-US" sz="2700" dirty="0" err="1">
                <a:solidFill>
                  <a:srgbClr val="000000"/>
                </a:solidFill>
                <a:latin typeface="Times New Roman"/>
                <a:ea typeface="Times New Roman"/>
                <a:cs typeface="Times New Roman"/>
                <a:sym typeface="Times New Roman"/>
              </a:rPr>
              <a:t>repricing</a:t>
            </a:r>
            <a:r>
              <a:rPr lang="en-US" sz="2700" dirty="0">
                <a:solidFill>
                  <a:srgbClr val="000000"/>
                </a:solidFill>
                <a:latin typeface="Times New Roman"/>
                <a:ea typeface="Times New Roman"/>
                <a:cs typeface="Times New Roman"/>
                <a:sym typeface="Times New Roman"/>
              </a:rPr>
              <a:t> rather than a one-off, explainable price estimate for an individual product listing</a:t>
            </a: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737360"/>
            <a:chOff x="0" y="0"/>
            <a:chExt cx="24384000" cy="2316480"/>
          </a:xfrm>
        </p:grpSpPr>
        <p:sp>
          <p:nvSpPr>
            <p:cNvPr id="3" name="Freeform 3"/>
            <p:cNvSpPr/>
            <p:nvPr/>
          </p:nvSpPr>
          <p:spPr>
            <a:xfrm>
              <a:off x="0" y="0"/>
              <a:ext cx="24384000" cy="2316480"/>
            </a:xfrm>
            <a:custGeom>
              <a:avLst/>
              <a:gdLst/>
              <a:ahLst/>
              <a:cxnLst/>
              <a:rect l="l" t="t" r="r" b="b"/>
              <a:pathLst>
                <a:path w="24384000" h="2316480">
                  <a:moveTo>
                    <a:pt x="0" y="0"/>
                  </a:moveTo>
                  <a:lnTo>
                    <a:pt x="24384000" y="0"/>
                  </a:lnTo>
                  <a:lnTo>
                    <a:pt x="24384000" y="2316480"/>
                  </a:lnTo>
                  <a:lnTo>
                    <a:pt x="0" y="2316480"/>
                  </a:lnTo>
                  <a:close/>
                </a:path>
              </a:pathLst>
            </a:custGeom>
            <a:solidFill>
              <a:srgbClr val="DAE3F3"/>
            </a:solidFill>
          </p:spPr>
        </p:sp>
      </p:grpSp>
      <p:grpSp>
        <p:nvGrpSpPr>
          <p:cNvPr id="4" name="Group 4"/>
          <p:cNvGrpSpPr/>
          <p:nvPr/>
        </p:nvGrpSpPr>
        <p:grpSpPr>
          <a:xfrm>
            <a:off x="0" y="9437199"/>
            <a:ext cx="18288000" cy="879615"/>
            <a:chOff x="0" y="0"/>
            <a:chExt cx="24384000" cy="1172820"/>
          </a:xfrm>
        </p:grpSpPr>
        <p:sp>
          <p:nvSpPr>
            <p:cNvPr id="5" name="Freeform 5"/>
            <p:cNvSpPr/>
            <p:nvPr/>
          </p:nvSpPr>
          <p:spPr>
            <a:xfrm>
              <a:off x="0" y="0"/>
              <a:ext cx="24384000" cy="1172845"/>
            </a:xfrm>
            <a:custGeom>
              <a:avLst/>
              <a:gdLst/>
              <a:ahLst/>
              <a:cxnLst/>
              <a:rect l="l" t="t" r="r" b="b"/>
              <a:pathLst>
                <a:path w="24384000" h="1172845">
                  <a:moveTo>
                    <a:pt x="0" y="0"/>
                  </a:moveTo>
                  <a:lnTo>
                    <a:pt x="24384000" y="0"/>
                  </a:lnTo>
                  <a:lnTo>
                    <a:pt x="24384000" y="1172845"/>
                  </a:lnTo>
                  <a:lnTo>
                    <a:pt x="0" y="1172845"/>
                  </a:lnTo>
                  <a:close/>
                </a:path>
              </a:pathLst>
            </a:custGeom>
            <a:solidFill>
              <a:srgbClr val="333F50"/>
            </a:solidFill>
          </p:spPr>
        </p:sp>
      </p:grpSp>
      <p:grpSp>
        <p:nvGrpSpPr>
          <p:cNvPr id="6" name="Group 6"/>
          <p:cNvGrpSpPr/>
          <p:nvPr/>
        </p:nvGrpSpPr>
        <p:grpSpPr>
          <a:xfrm>
            <a:off x="1257300" y="9534525"/>
            <a:ext cx="4114800" cy="547688"/>
            <a:chOff x="0" y="0"/>
            <a:chExt cx="5486400" cy="730250"/>
          </a:xfrm>
        </p:grpSpPr>
        <p:sp>
          <p:nvSpPr>
            <p:cNvPr id="7" name="Freeform 7"/>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2" cstate="print">
                <a:alphaModFix amt="0"/>
              </a:blip>
              <a:stretch>
                <a:fillRect t="-96391" b="-96391"/>
              </a:stretch>
            </a:blipFill>
          </p:spPr>
        </p:sp>
        <p:sp>
          <p:nvSpPr>
            <p:cNvPr id="8" name="TextBox 8"/>
            <p:cNvSpPr txBox="1"/>
            <p:nvPr/>
          </p:nvSpPr>
          <p:spPr>
            <a:xfrm>
              <a:off x="0" y="-19050"/>
              <a:ext cx="5486400" cy="749300"/>
            </a:xfrm>
            <a:prstGeom prst="rect">
              <a:avLst/>
            </a:prstGeom>
          </p:spPr>
          <p:txBody>
            <a:bodyPr lIns="0" tIns="0" rIns="0" bIns="0" rtlCol="0" anchor="ctr"/>
            <a:lstStyle/>
            <a:p>
              <a:pPr algn="l">
                <a:lnSpc>
                  <a:spcPts val="2160"/>
                </a:lnSpc>
              </a:pPr>
              <a:r>
                <a:rPr lang="en-US" sz="1800">
                  <a:solidFill>
                    <a:srgbClr val="FFFFFF"/>
                  </a:solidFill>
                  <a:latin typeface="Times New Roman"/>
                  <a:ea typeface="Times New Roman"/>
                  <a:cs typeface="Times New Roman"/>
                  <a:sym typeface="Times New Roman"/>
                </a:rPr>
                <a:t>Friday, August 1, 2025</a:t>
              </a:r>
            </a:p>
          </p:txBody>
        </p:sp>
      </p:grpSp>
      <p:grpSp>
        <p:nvGrpSpPr>
          <p:cNvPr id="9" name="Group 9"/>
          <p:cNvGrpSpPr/>
          <p:nvPr/>
        </p:nvGrpSpPr>
        <p:grpSpPr>
          <a:xfrm>
            <a:off x="6057900" y="9534525"/>
            <a:ext cx="6172200" cy="547688"/>
            <a:chOff x="0" y="0"/>
            <a:chExt cx="8229600" cy="730250"/>
          </a:xfrm>
        </p:grpSpPr>
        <p:sp>
          <p:nvSpPr>
            <p:cNvPr id="10" name="Freeform 10"/>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blipFill>
              <a:blip r:embed="rId3">
                <a:alphaModFix amt="0"/>
              </a:blip>
              <a:stretch>
                <a:fillRect t="-169587" b="-169587"/>
              </a:stretch>
            </a:blipFill>
          </p:spPr>
        </p:sp>
        <p:sp>
          <p:nvSpPr>
            <p:cNvPr id="11" name="TextBox 11"/>
            <p:cNvSpPr txBox="1"/>
            <p:nvPr/>
          </p:nvSpPr>
          <p:spPr>
            <a:xfrm>
              <a:off x="0" y="-19050"/>
              <a:ext cx="8229600" cy="749300"/>
            </a:xfrm>
            <a:prstGeom prst="rect">
              <a:avLst/>
            </a:prstGeom>
          </p:spPr>
          <p:txBody>
            <a:bodyPr lIns="0" tIns="0" rIns="0" bIns="0" rtlCol="0" anchor="ctr"/>
            <a:lstStyle/>
            <a:p>
              <a:pPr algn="ctr">
                <a:lnSpc>
                  <a:spcPts val="2160"/>
                </a:lnSpc>
              </a:pPr>
              <a:r>
                <a:rPr lang="en-US" sz="1800">
                  <a:solidFill>
                    <a:srgbClr val="FFFFFF"/>
                  </a:solidFill>
                  <a:latin typeface="Times New Roman"/>
                  <a:ea typeface="Times New Roman"/>
                  <a:cs typeface="Times New Roman"/>
                  <a:sym typeface="Times New Roman"/>
                </a:rPr>
                <a:t>Department of Computer Science &amp; Engineering, PUB</a:t>
              </a:r>
            </a:p>
          </p:txBody>
        </p:sp>
      </p:grpSp>
      <p:grpSp>
        <p:nvGrpSpPr>
          <p:cNvPr id="12" name="Group 12"/>
          <p:cNvGrpSpPr/>
          <p:nvPr/>
        </p:nvGrpSpPr>
        <p:grpSpPr>
          <a:xfrm>
            <a:off x="12915900" y="9534525"/>
            <a:ext cx="4114800" cy="547688"/>
            <a:chOff x="0" y="0"/>
            <a:chExt cx="5486400" cy="730250"/>
          </a:xfrm>
        </p:grpSpPr>
        <p:sp>
          <p:nvSpPr>
            <p:cNvPr id="13" name="Freeform 13"/>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2" cstate="print">
                <a:alphaModFix amt="0"/>
              </a:blip>
              <a:stretch>
                <a:fillRect t="-96391" b="-96391"/>
              </a:stretch>
            </a:blipFill>
          </p:spPr>
        </p:sp>
        <p:sp>
          <p:nvSpPr>
            <p:cNvPr id="14" name="TextBox 14"/>
            <p:cNvSpPr txBox="1"/>
            <p:nvPr/>
          </p:nvSpPr>
          <p:spPr>
            <a:xfrm>
              <a:off x="0" y="-19050"/>
              <a:ext cx="5486400" cy="749300"/>
            </a:xfrm>
            <a:prstGeom prst="rect">
              <a:avLst/>
            </a:prstGeom>
          </p:spPr>
          <p:txBody>
            <a:bodyPr lIns="0" tIns="0" rIns="0" bIns="0" rtlCol="0" anchor="ctr"/>
            <a:lstStyle/>
            <a:p>
              <a:pPr algn="r">
                <a:lnSpc>
                  <a:spcPts val="2160"/>
                </a:lnSpc>
              </a:pPr>
              <a:r>
                <a:rPr lang="en-US" sz="1800">
                  <a:solidFill>
                    <a:srgbClr val="FFFFFF"/>
                  </a:solidFill>
                  <a:latin typeface="Times New Roman"/>
                  <a:ea typeface="Times New Roman"/>
                  <a:cs typeface="Times New Roman"/>
                  <a:sym typeface="Times New Roman"/>
                </a:rPr>
                <a:t>8</a:t>
              </a:r>
            </a:p>
          </p:txBody>
        </p:sp>
      </p:grpSp>
      <p:grpSp>
        <p:nvGrpSpPr>
          <p:cNvPr id="15" name="Group 15"/>
          <p:cNvGrpSpPr/>
          <p:nvPr/>
        </p:nvGrpSpPr>
        <p:grpSpPr>
          <a:xfrm>
            <a:off x="769315" y="685800"/>
            <a:ext cx="888463" cy="879615"/>
            <a:chOff x="0" y="0"/>
            <a:chExt cx="1184618" cy="1172820"/>
          </a:xfrm>
        </p:grpSpPr>
        <p:sp>
          <p:nvSpPr>
            <p:cNvPr id="16" name="Freeform 16"/>
            <p:cNvSpPr/>
            <p:nvPr/>
          </p:nvSpPr>
          <p:spPr>
            <a:xfrm>
              <a:off x="0" y="0"/>
              <a:ext cx="1184656" cy="1172845"/>
            </a:xfrm>
            <a:custGeom>
              <a:avLst/>
              <a:gdLst/>
              <a:ahLst/>
              <a:cxnLst/>
              <a:rect l="l" t="t" r="r" b="b"/>
              <a:pathLst>
                <a:path w="1184656" h="1172845">
                  <a:moveTo>
                    <a:pt x="0" y="0"/>
                  </a:moveTo>
                  <a:lnTo>
                    <a:pt x="1184656" y="0"/>
                  </a:lnTo>
                  <a:lnTo>
                    <a:pt x="1184656" y="1172845"/>
                  </a:lnTo>
                  <a:lnTo>
                    <a:pt x="0" y="1172845"/>
                  </a:lnTo>
                  <a:lnTo>
                    <a:pt x="0" y="0"/>
                  </a:lnTo>
                  <a:close/>
                </a:path>
              </a:pathLst>
            </a:custGeom>
            <a:blipFill>
              <a:blip r:embed="rId4"/>
              <a:stretch>
                <a:fillRect r="3" b="2"/>
              </a:stretch>
            </a:blipFill>
          </p:spPr>
        </p:sp>
      </p:grpSp>
      <p:grpSp>
        <p:nvGrpSpPr>
          <p:cNvPr id="17" name="Group 17"/>
          <p:cNvGrpSpPr/>
          <p:nvPr/>
        </p:nvGrpSpPr>
        <p:grpSpPr>
          <a:xfrm>
            <a:off x="-19050" y="1730045"/>
            <a:ext cx="18288000" cy="27432"/>
            <a:chOff x="0" y="0"/>
            <a:chExt cx="24384000" cy="36576"/>
          </a:xfrm>
        </p:grpSpPr>
        <p:sp>
          <p:nvSpPr>
            <p:cNvPr id="18" name="Freeform 18"/>
            <p:cNvSpPr/>
            <p:nvPr/>
          </p:nvSpPr>
          <p:spPr>
            <a:xfrm>
              <a:off x="0" y="0"/>
              <a:ext cx="24384000" cy="36576"/>
            </a:xfrm>
            <a:custGeom>
              <a:avLst/>
              <a:gdLst/>
              <a:ahLst/>
              <a:cxnLst/>
              <a:rect l="l" t="t" r="r" b="b"/>
              <a:pathLst>
                <a:path w="24384000" h="36576">
                  <a:moveTo>
                    <a:pt x="0" y="0"/>
                  </a:moveTo>
                  <a:lnTo>
                    <a:pt x="24384000" y="0"/>
                  </a:lnTo>
                  <a:lnTo>
                    <a:pt x="24384000" y="36576"/>
                  </a:lnTo>
                  <a:lnTo>
                    <a:pt x="0" y="36576"/>
                  </a:lnTo>
                  <a:close/>
                </a:path>
              </a:pathLst>
            </a:custGeom>
            <a:gradFill rotWithShape="1">
              <a:gsLst>
                <a:gs pos="0">
                  <a:srgbClr val="B4C7E7">
                    <a:alpha val="100000"/>
                  </a:srgbClr>
                </a:gs>
                <a:gs pos="36000">
                  <a:srgbClr val="4D79C7">
                    <a:alpha val="100000"/>
                  </a:srgbClr>
                </a:gs>
                <a:gs pos="100000">
                  <a:srgbClr val="222A35">
                    <a:alpha val="100000"/>
                  </a:srgbClr>
                </a:gs>
              </a:gsLst>
              <a:path path="circle">
                <a:fillToRect l="50000" t="-30000" r="50000" b="130000"/>
              </a:path>
              <a:tileRect t="-160000"/>
            </a:gradFill>
          </p:spPr>
        </p:sp>
      </p:grpSp>
      <p:grpSp>
        <p:nvGrpSpPr>
          <p:cNvPr id="19" name="Group 19"/>
          <p:cNvGrpSpPr/>
          <p:nvPr/>
        </p:nvGrpSpPr>
        <p:grpSpPr>
          <a:xfrm>
            <a:off x="1910963" y="521122"/>
            <a:ext cx="15241657" cy="929716"/>
            <a:chOff x="0" y="0"/>
            <a:chExt cx="20322210" cy="1239622"/>
          </a:xfrm>
        </p:grpSpPr>
        <p:sp>
          <p:nvSpPr>
            <p:cNvPr id="20" name="Freeform 20"/>
            <p:cNvSpPr/>
            <p:nvPr/>
          </p:nvSpPr>
          <p:spPr>
            <a:xfrm>
              <a:off x="0" y="0"/>
              <a:ext cx="20322208" cy="1239626"/>
            </a:xfrm>
            <a:custGeom>
              <a:avLst/>
              <a:gdLst/>
              <a:ahLst/>
              <a:cxnLst/>
              <a:rect l="l" t="t" r="r" b="b"/>
              <a:pathLst>
                <a:path w="20322208" h="1239626">
                  <a:moveTo>
                    <a:pt x="0" y="0"/>
                  </a:moveTo>
                  <a:lnTo>
                    <a:pt x="20322208" y="0"/>
                  </a:lnTo>
                  <a:lnTo>
                    <a:pt x="20322208" y="1239626"/>
                  </a:lnTo>
                  <a:lnTo>
                    <a:pt x="0" y="1239626"/>
                  </a:lnTo>
                  <a:close/>
                </a:path>
              </a:pathLst>
            </a:custGeom>
            <a:blipFill>
              <a:blip r:embed="rId3">
                <a:alphaModFix amt="0"/>
              </a:blip>
              <a:stretch>
                <a:fillRect t="-269434" b="-269434"/>
              </a:stretch>
            </a:blipFill>
          </p:spPr>
        </p:sp>
        <p:sp>
          <p:nvSpPr>
            <p:cNvPr id="21" name="TextBox 21"/>
            <p:cNvSpPr txBox="1"/>
            <p:nvPr/>
          </p:nvSpPr>
          <p:spPr>
            <a:xfrm>
              <a:off x="0" y="28575"/>
              <a:ext cx="20322210" cy="1211047"/>
            </a:xfrm>
            <a:prstGeom prst="rect">
              <a:avLst/>
            </a:prstGeom>
          </p:spPr>
          <p:txBody>
            <a:bodyPr lIns="0" tIns="0" rIns="0" bIns="0" rtlCol="0" anchor="b"/>
            <a:lstStyle/>
            <a:p>
              <a:pPr algn="l">
                <a:lnSpc>
                  <a:spcPts val="5184"/>
                </a:lnSpc>
              </a:pPr>
              <a:r>
                <a:rPr lang="en-US" sz="4800" b="1">
                  <a:solidFill>
                    <a:srgbClr val="000000"/>
                  </a:solidFill>
                  <a:latin typeface="Times New Roman Bold"/>
                  <a:ea typeface="Times New Roman Bold"/>
                  <a:cs typeface="Times New Roman Bold"/>
                  <a:sym typeface="Times New Roman Bold"/>
                </a:rPr>
                <a:t>Literature Review (2/2)</a:t>
              </a:r>
            </a:p>
          </p:txBody>
        </p:sp>
      </p:grpSp>
      <p:sp>
        <p:nvSpPr>
          <p:cNvPr id="22" name="TextBox 22"/>
          <p:cNvSpPr txBox="1"/>
          <p:nvPr/>
        </p:nvSpPr>
        <p:spPr>
          <a:xfrm>
            <a:off x="2002403" y="2285143"/>
            <a:ext cx="14936857" cy="3282950"/>
          </a:xfrm>
          <a:prstGeom prst="rect">
            <a:avLst/>
          </a:prstGeom>
        </p:spPr>
        <p:txBody>
          <a:bodyPr lIns="0" tIns="0" rIns="0" bIns="0" rtlCol="0" anchor="t">
            <a:spAutoFit/>
          </a:bodyPr>
          <a:lstStyle/>
          <a:p>
            <a:pPr algn="just">
              <a:lnSpc>
                <a:spcPts val="3240"/>
              </a:lnSpc>
            </a:pPr>
            <a:r>
              <a:rPr lang="en-US" sz="2700" b="1" dirty="0">
                <a:solidFill>
                  <a:srgbClr val="000000"/>
                </a:solidFill>
                <a:latin typeface="Times New Roman Bold"/>
                <a:ea typeface="Times New Roman Bold"/>
                <a:cs typeface="Times New Roman Bold"/>
                <a:sym typeface="Times New Roman Bold"/>
              </a:rPr>
              <a:t>Title: </a:t>
            </a:r>
            <a:r>
              <a:rPr lang="en-US" sz="2700" dirty="0" err="1">
                <a:solidFill>
                  <a:srgbClr val="000000"/>
                </a:solidFill>
                <a:latin typeface="Times New Roman"/>
                <a:ea typeface="Times New Roman"/>
                <a:cs typeface="Times New Roman"/>
                <a:sym typeface="Times New Roman"/>
              </a:rPr>
              <a:t>Toan</a:t>
            </a:r>
            <a:r>
              <a:rPr lang="en-US" sz="2700" dirty="0">
                <a:solidFill>
                  <a:srgbClr val="000000"/>
                </a:solidFill>
                <a:latin typeface="Times New Roman"/>
                <a:ea typeface="Times New Roman"/>
                <a:cs typeface="Times New Roman"/>
                <a:sym typeface="Times New Roman"/>
              </a:rPr>
              <a:t> et al. [2] – Identify and Predict Incorrect Prices by Machine Learning Model</a:t>
            </a:r>
          </a:p>
          <a:p>
            <a:pPr marL="488632" lvl="1" indent="-244316" algn="just">
              <a:lnSpc>
                <a:spcPts val="3240"/>
              </a:lnSpc>
            </a:pPr>
            <a:r>
              <a:rPr lang="en-US" sz="2700" b="1" dirty="0">
                <a:solidFill>
                  <a:srgbClr val="000000"/>
                </a:solidFill>
                <a:latin typeface="Times New Roman Bold"/>
                <a:ea typeface="Times New Roman Bold"/>
                <a:cs typeface="Times New Roman Bold"/>
                <a:sym typeface="Times New Roman Bold"/>
              </a:rPr>
              <a:t>Contribution:</a:t>
            </a:r>
          </a:p>
          <a:p>
            <a:pPr marL="1174432" lvl="2" indent="-391478" algn="just">
              <a:lnSpc>
                <a:spcPts val="3240"/>
              </a:lnSpc>
              <a:buFont typeface="Arial" pitchFamily="34" charset="0"/>
              <a:buChar char="•"/>
            </a:pPr>
            <a:r>
              <a:rPr lang="en-US" sz="2700" dirty="0">
                <a:solidFill>
                  <a:srgbClr val="000000"/>
                </a:solidFill>
                <a:latin typeface="Times New Roman"/>
                <a:ea typeface="Times New Roman"/>
                <a:cs typeface="Times New Roman"/>
                <a:sym typeface="Times New Roman"/>
              </a:rPr>
              <a:t>Proposed a machine learning approach combined with price analysis to flag e-commerce listings priced incorrectly</a:t>
            </a:r>
          </a:p>
          <a:p>
            <a:pPr marL="1174432" lvl="2" indent="-391478" algn="just">
              <a:lnSpc>
                <a:spcPts val="3240"/>
              </a:lnSpc>
              <a:buFont typeface="Arial" pitchFamily="34" charset="0"/>
              <a:buChar char="•"/>
            </a:pPr>
            <a:r>
              <a:rPr lang="en-US" sz="2700" dirty="0">
                <a:solidFill>
                  <a:srgbClr val="000000"/>
                </a:solidFill>
                <a:latin typeface="Times New Roman"/>
                <a:ea typeface="Times New Roman"/>
                <a:cs typeface="Times New Roman"/>
                <a:sym typeface="Times New Roman"/>
              </a:rPr>
              <a:t>Addressed the difficulty platforms face in supervising prices set by many different retail shops</a:t>
            </a:r>
          </a:p>
          <a:p>
            <a:pPr marL="488632" lvl="1" indent="-244316" algn="just">
              <a:lnSpc>
                <a:spcPts val="3240"/>
              </a:lnSpc>
            </a:pPr>
            <a:r>
              <a:rPr lang="en-US" sz="2700" b="1" dirty="0">
                <a:solidFill>
                  <a:srgbClr val="000000"/>
                </a:solidFill>
                <a:latin typeface="Times New Roman Bold"/>
                <a:ea typeface="Times New Roman Bold"/>
                <a:cs typeface="Times New Roman Bold"/>
                <a:sym typeface="Times New Roman Bold"/>
              </a:rPr>
              <a:t>Limitation:</a:t>
            </a:r>
          </a:p>
          <a:p>
            <a:pPr marL="1174432" lvl="2" indent="-391478" algn="just">
              <a:lnSpc>
                <a:spcPts val="3240"/>
              </a:lnSpc>
              <a:buFont typeface="Arial" pitchFamily="34" charset="0"/>
              <a:buChar char="•"/>
            </a:pPr>
            <a:r>
              <a:rPr lang="en-US" sz="2700" dirty="0">
                <a:solidFill>
                  <a:srgbClr val="000000"/>
                </a:solidFill>
                <a:latin typeface="Times New Roman"/>
                <a:ea typeface="Times New Roman"/>
                <a:cs typeface="Times New Roman"/>
                <a:sym typeface="Times New Roman"/>
              </a:rPr>
              <a:t>Focused on detecting price anomalies rather than predicting a fair market price from product attributes, and was not evaluated on Bangladeshi data</a:t>
            </a: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737360"/>
            <a:chOff x="0" y="0"/>
            <a:chExt cx="24384000" cy="2316480"/>
          </a:xfrm>
        </p:grpSpPr>
        <p:sp>
          <p:nvSpPr>
            <p:cNvPr id="3" name="Freeform 3"/>
            <p:cNvSpPr/>
            <p:nvPr/>
          </p:nvSpPr>
          <p:spPr>
            <a:xfrm>
              <a:off x="0" y="0"/>
              <a:ext cx="24384000" cy="2316480"/>
            </a:xfrm>
            <a:custGeom>
              <a:avLst/>
              <a:gdLst/>
              <a:ahLst/>
              <a:cxnLst/>
              <a:rect l="l" t="t" r="r" b="b"/>
              <a:pathLst>
                <a:path w="24384000" h="2316480">
                  <a:moveTo>
                    <a:pt x="0" y="0"/>
                  </a:moveTo>
                  <a:lnTo>
                    <a:pt x="24384000" y="0"/>
                  </a:lnTo>
                  <a:lnTo>
                    <a:pt x="24384000" y="2316480"/>
                  </a:lnTo>
                  <a:lnTo>
                    <a:pt x="0" y="2316480"/>
                  </a:lnTo>
                  <a:close/>
                </a:path>
              </a:pathLst>
            </a:custGeom>
            <a:solidFill>
              <a:srgbClr val="DAE3F3"/>
            </a:solidFill>
          </p:spPr>
        </p:sp>
      </p:grpSp>
      <p:grpSp>
        <p:nvGrpSpPr>
          <p:cNvPr id="4" name="Group 4"/>
          <p:cNvGrpSpPr/>
          <p:nvPr/>
        </p:nvGrpSpPr>
        <p:grpSpPr>
          <a:xfrm>
            <a:off x="0" y="9437199"/>
            <a:ext cx="18288000" cy="879615"/>
            <a:chOff x="0" y="0"/>
            <a:chExt cx="24384000" cy="1172820"/>
          </a:xfrm>
        </p:grpSpPr>
        <p:sp>
          <p:nvSpPr>
            <p:cNvPr id="5" name="Freeform 5"/>
            <p:cNvSpPr/>
            <p:nvPr/>
          </p:nvSpPr>
          <p:spPr>
            <a:xfrm>
              <a:off x="0" y="0"/>
              <a:ext cx="24384000" cy="1172845"/>
            </a:xfrm>
            <a:custGeom>
              <a:avLst/>
              <a:gdLst/>
              <a:ahLst/>
              <a:cxnLst/>
              <a:rect l="l" t="t" r="r" b="b"/>
              <a:pathLst>
                <a:path w="24384000" h="1172845">
                  <a:moveTo>
                    <a:pt x="0" y="0"/>
                  </a:moveTo>
                  <a:lnTo>
                    <a:pt x="24384000" y="0"/>
                  </a:lnTo>
                  <a:lnTo>
                    <a:pt x="24384000" y="1172845"/>
                  </a:lnTo>
                  <a:lnTo>
                    <a:pt x="0" y="1172845"/>
                  </a:lnTo>
                  <a:close/>
                </a:path>
              </a:pathLst>
            </a:custGeom>
            <a:solidFill>
              <a:srgbClr val="333F50"/>
            </a:solidFill>
          </p:spPr>
        </p:sp>
      </p:grpSp>
      <p:grpSp>
        <p:nvGrpSpPr>
          <p:cNvPr id="6" name="Group 6"/>
          <p:cNvGrpSpPr/>
          <p:nvPr/>
        </p:nvGrpSpPr>
        <p:grpSpPr>
          <a:xfrm>
            <a:off x="1257300" y="9534525"/>
            <a:ext cx="4114800" cy="547688"/>
            <a:chOff x="0" y="0"/>
            <a:chExt cx="5486400" cy="730250"/>
          </a:xfrm>
        </p:grpSpPr>
        <p:sp>
          <p:nvSpPr>
            <p:cNvPr id="7" name="Freeform 7"/>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2" cstate="print">
                <a:alphaModFix amt="0"/>
              </a:blip>
              <a:stretch>
                <a:fillRect t="-96391" b="-96391"/>
              </a:stretch>
            </a:blipFill>
          </p:spPr>
        </p:sp>
        <p:sp>
          <p:nvSpPr>
            <p:cNvPr id="8" name="TextBox 8"/>
            <p:cNvSpPr txBox="1"/>
            <p:nvPr/>
          </p:nvSpPr>
          <p:spPr>
            <a:xfrm>
              <a:off x="0" y="-19050"/>
              <a:ext cx="5486400" cy="749300"/>
            </a:xfrm>
            <a:prstGeom prst="rect">
              <a:avLst/>
            </a:prstGeom>
          </p:spPr>
          <p:txBody>
            <a:bodyPr lIns="0" tIns="0" rIns="0" bIns="0" rtlCol="0" anchor="ctr"/>
            <a:lstStyle/>
            <a:p>
              <a:pPr algn="l">
                <a:lnSpc>
                  <a:spcPts val="2160"/>
                </a:lnSpc>
              </a:pPr>
              <a:r>
                <a:rPr lang="en-US" sz="1800">
                  <a:solidFill>
                    <a:srgbClr val="FFFFFF"/>
                  </a:solidFill>
                  <a:latin typeface="Times New Roman"/>
                  <a:ea typeface="Times New Roman"/>
                  <a:cs typeface="Times New Roman"/>
                  <a:sym typeface="Times New Roman"/>
                </a:rPr>
                <a:t>Friday, August 1, 2025</a:t>
              </a:r>
            </a:p>
          </p:txBody>
        </p:sp>
      </p:grpSp>
      <p:grpSp>
        <p:nvGrpSpPr>
          <p:cNvPr id="9" name="Group 9"/>
          <p:cNvGrpSpPr/>
          <p:nvPr/>
        </p:nvGrpSpPr>
        <p:grpSpPr>
          <a:xfrm>
            <a:off x="6057900" y="9534525"/>
            <a:ext cx="6172200" cy="547688"/>
            <a:chOff x="0" y="0"/>
            <a:chExt cx="8229600" cy="730250"/>
          </a:xfrm>
        </p:grpSpPr>
        <p:sp>
          <p:nvSpPr>
            <p:cNvPr id="10" name="Freeform 10"/>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blipFill>
              <a:blip r:embed="rId3">
                <a:alphaModFix amt="0"/>
              </a:blip>
              <a:stretch>
                <a:fillRect t="-169587" b="-169587"/>
              </a:stretch>
            </a:blipFill>
          </p:spPr>
        </p:sp>
        <p:sp>
          <p:nvSpPr>
            <p:cNvPr id="11" name="TextBox 11"/>
            <p:cNvSpPr txBox="1"/>
            <p:nvPr/>
          </p:nvSpPr>
          <p:spPr>
            <a:xfrm>
              <a:off x="0" y="-19050"/>
              <a:ext cx="8229600" cy="749300"/>
            </a:xfrm>
            <a:prstGeom prst="rect">
              <a:avLst/>
            </a:prstGeom>
          </p:spPr>
          <p:txBody>
            <a:bodyPr lIns="0" tIns="0" rIns="0" bIns="0" rtlCol="0" anchor="ctr"/>
            <a:lstStyle/>
            <a:p>
              <a:pPr algn="ctr">
                <a:lnSpc>
                  <a:spcPts val="2160"/>
                </a:lnSpc>
              </a:pPr>
              <a:r>
                <a:rPr lang="en-US" sz="1800">
                  <a:solidFill>
                    <a:srgbClr val="FFFFFF"/>
                  </a:solidFill>
                  <a:latin typeface="Times New Roman"/>
                  <a:ea typeface="Times New Roman"/>
                  <a:cs typeface="Times New Roman"/>
                  <a:sym typeface="Times New Roman"/>
                </a:rPr>
                <a:t>Department of Computer Science &amp; Engineering, PUB</a:t>
              </a:r>
            </a:p>
          </p:txBody>
        </p:sp>
      </p:grpSp>
      <p:grpSp>
        <p:nvGrpSpPr>
          <p:cNvPr id="12" name="Group 12"/>
          <p:cNvGrpSpPr/>
          <p:nvPr/>
        </p:nvGrpSpPr>
        <p:grpSpPr>
          <a:xfrm>
            <a:off x="12915900" y="9534525"/>
            <a:ext cx="4114800" cy="547688"/>
            <a:chOff x="0" y="0"/>
            <a:chExt cx="5486400" cy="730250"/>
          </a:xfrm>
        </p:grpSpPr>
        <p:sp>
          <p:nvSpPr>
            <p:cNvPr id="13" name="Freeform 13"/>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2" cstate="print">
                <a:alphaModFix amt="0"/>
              </a:blip>
              <a:stretch>
                <a:fillRect t="-96391" b="-96391"/>
              </a:stretch>
            </a:blipFill>
          </p:spPr>
        </p:sp>
        <p:sp>
          <p:nvSpPr>
            <p:cNvPr id="14" name="TextBox 14"/>
            <p:cNvSpPr txBox="1"/>
            <p:nvPr/>
          </p:nvSpPr>
          <p:spPr>
            <a:xfrm>
              <a:off x="0" y="-19050"/>
              <a:ext cx="5486400" cy="749300"/>
            </a:xfrm>
            <a:prstGeom prst="rect">
              <a:avLst/>
            </a:prstGeom>
          </p:spPr>
          <p:txBody>
            <a:bodyPr lIns="0" tIns="0" rIns="0" bIns="0" rtlCol="0" anchor="ctr"/>
            <a:lstStyle/>
            <a:p>
              <a:pPr algn="r">
                <a:lnSpc>
                  <a:spcPts val="2160"/>
                </a:lnSpc>
              </a:pPr>
              <a:r>
                <a:rPr lang="en-US" sz="1800">
                  <a:solidFill>
                    <a:srgbClr val="FFFFFF"/>
                  </a:solidFill>
                  <a:latin typeface="Times New Roman"/>
                  <a:ea typeface="Times New Roman"/>
                  <a:cs typeface="Times New Roman"/>
                  <a:sym typeface="Times New Roman"/>
                </a:rPr>
                <a:t>9</a:t>
              </a:r>
            </a:p>
          </p:txBody>
        </p:sp>
      </p:grpSp>
      <p:grpSp>
        <p:nvGrpSpPr>
          <p:cNvPr id="15" name="Group 15"/>
          <p:cNvGrpSpPr/>
          <p:nvPr/>
        </p:nvGrpSpPr>
        <p:grpSpPr>
          <a:xfrm>
            <a:off x="769315" y="685800"/>
            <a:ext cx="888463" cy="879615"/>
            <a:chOff x="0" y="0"/>
            <a:chExt cx="1184618" cy="1172820"/>
          </a:xfrm>
        </p:grpSpPr>
        <p:sp>
          <p:nvSpPr>
            <p:cNvPr id="16" name="Freeform 16"/>
            <p:cNvSpPr/>
            <p:nvPr/>
          </p:nvSpPr>
          <p:spPr>
            <a:xfrm>
              <a:off x="0" y="0"/>
              <a:ext cx="1184656" cy="1172845"/>
            </a:xfrm>
            <a:custGeom>
              <a:avLst/>
              <a:gdLst/>
              <a:ahLst/>
              <a:cxnLst/>
              <a:rect l="l" t="t" r="r" b="b"/>
              <a:pathLst>
                <a:path w="1184656" h="1172845">
                  <a:moveTo>
                    <a:pt x="0" y="0"/>
                  </a:moveTo>
                  <a:lnTo>
                    <a:pt x="1184656" y="0"/>
                  </a:lnTo>
                  <a:lnTo>
                    <a:pt x="1184656" y="1172845"/>
                  </a:lnTo>
                  <a:lnTo>
                    <a:pt x="0" y="1172845"/>
                  </a:lnTo>
                  <a:lnTo>
                    <a:pt x="0" y="0"/>
                  </a:lnTo>
                  <a:close/>
                </a:path>
              </a:pathLst>
            </a:custGeom>
            <a:blipFill>
              <a:blip r:embed="rId4"/>
              <a:stretch>
                <a:fillRect r="3" b="2"/>
              </a:stretch>
            </a:blipFill>
          </p:spPr>
        </p:sp>
      </p:grpSp>
      <p:grpSp>
        <p:nvGrpSpPr>
          <p:cNvPr id="17" name="Group 17"/>
          <p:cNvGrpSpPr/>
          <p:nvPr/>
        </p:nvGrpSpPr>
        <p:grpSpPr>
          <a:xfrm>
            <a:off x="-19050" y="1730045"/>
            <a:ext cx="18288000" cy="27432"/>
            <a:chOff x="0" y="0"/>
            <a:chExt cx="24384000" cy="36576"/>
          </a:xfrm>
        </p:grpSpPr>
        <p:sp>
          <p:nvSpPr>
            <p:cNvPr id="18" name="Freeform 18"/>
            <p:cNvSpPr/>
            <p:nvPr/>
          </p:nvSpPr>
          <p:spPr>
            <a:xfrm>
              <a:off x="0" y="0"/>
              <a:ext cx="24384000" cy="36576"/>
            </a:xfrm>
            <a:custGeom>
              <a:avLst/>
              <a:gdLst/>
              <a:ahLst/>
              <a:cxnLst/>
              <a:rect l="l" t="t" r="r" b="b"/>
              <a:pathLst>
                <a:path w="24384000" h="36576">
                  <a:moveTo>
                    <a:pt x="0" y="0"/>
                  </a:moveTo>
                  <a:lnTo>
                    <a:pt x="24384000" y="0"/>
                  </a:lnTo>
                  <a:lnTo>
                    <a:pt x="24384000" y="36576"/>
                  </a:lnTo>
                  <a:lnTo>
                    <a:pt x="0" y="36576"/>
                  </a:lnTo>
                  <a:close/>
                </a:path>
              </a:pathLst>
            </a:custGeom>
            <a:gradFill rotWithShape="1">
              <a:gsLst>
                <a:gs pos="0">
                  <a:srgbClr val="B4C7E7">
                    <a:alpha val="100000"/>
                  </a:srgbClr>
                </a:gs>
                <a:gs pos="36000">
                  <a:srgbClr val="4D79C7">
                    <a:alpha val="100000"/>
                  </a:srgbClr>
                </a:gs>
                <a:gs pos="100000">
                  <a:srgbClr val="222A35">
                    <a:alpha val="100000"/>
                  </a:srgbClr>
                </a:gs>
              </a:gsLst>
              <a:path path="circle">
                <a:fillToRect l="50000" t="-30000" r="50000" b="130000"/>
              </a:path>
              <a:tileRect t="-160000"/>
            </a:gradFill>
          </p:spPr>
        </p:sp>
      </p:grpSp>
      <p:grpSp>
        <p:nvGrpSpPr>
          <p:cNvPr id="19" name="Group 19"/>
          <p:cNvGrpSpPr/>
          <p:nvPr/>
        </p:nvGrpSpPr>
        <p:grpSpPr>
          <a:xfrm>
            <a:off x="1910963" y="521122"/>
            <a:ext cx="15241657" cy="929716"/>
            <a:chOff x="0" y="0"/>
            <a:chExt cx="20322210" cy="1239622"/>
          </a:xfrm>
        </p:grpSpPr>
        <p:sp>
          <p:nvSpPr>
            <p:cNvPr id="20" name="Freeform 20"/>
            <p:cNvSpPr/>
            <p:nvPr/>
          </p:nvSpPr>
          <p:spPr>
            <a:xfrm>
              <a:off x="0" y="0"/>
              <a:ext cx="20322208" cy="1239626"/>
            </a:xfrm>
            <a:custGeom>
              <a:avLst/>
              <a:gdLst/>
              <a:ahLst/>
              <a:cxnLst/>
              <a:rect l="l" t="t" r="r" b="b"/>
              <a:pathLst>
                <a:path w="20322208" h="1239626">
                  <a:moveTo>
                    <a:pt x="0" y="0"/>
                  </a:moveTo>
                  <a:lnTo>
                    <a:pt x="20322208" y="0"/>
                  </a:lnTo>
                  <a:lnTo>
                    <a:pt x="20322208" y="1239626"/>
                  </a:lnTo>
                  <a:lnTo>
                    <a:pt x="0" y="1239626"/>
                  </a:lnTo>
                  <a:close/>
                </a:path>
              </a:pathLst>
            </a:custGeom>
            <a:blipFill>
              <a:blip r:embed="rId3">
                <a:alphaModFix amt="0"/>
              </a:blip>
              <a:stretch>
                <a:fillRect t="-269434" b="-269434"/>
              </a:stretch>
            </a:blipFill>
          </p:spPr>
        </p:sp>
        <p:sp>
          <p:nvSpPr>
            <p:cNvPr id="21" name="TextBox 21"/>
            <p:cNvSpPr txBox="1"/>
            <p:nvPr/>
          </p:nvSpPr>
          <p:spPr>
            <a:xfrm>
              <a:off x="0" y="28575"/>
              <a:ext cx="20322210" cy="1211047"/>
            </a:xfrm>
            <a:prstGeom prst="rect">
              <a:avLst/>
            </a:prstGeom>
          </p:spPr>
          <p:txBody>
            <a:bodyPr lIns="0" tIns="0" rIns="0" bIns="0" rtlCol="0" anchor="b"/>
            <a:lstStyle/>
            <a:p>
              <a:pPr algn="l">
                <a:lnSpc>
                  <a:spcPts val="5184"/>
                </a:lnSpc>
              </a:pPr>
              <a:r>
                <a:rPr lang="en-US" sz="4800" b="1">
                  <a:solidFill>
                    <a:srgbClr val="000000"/>
                  </a:solidFill>
                  <a:latin typeface="Times New Roman Bold"/>
                  <a:ea typeface="Times New Roman Bold"/>
                  <a:cs typeface="Times New Roman Bold"/>
                  <a:sym typeface="Times New Roman Bold"/>
                </a:rPr>
                <a:t>Problem Statement</a:t>
              </a:r>
            </a:p>
          </p:txBody>
        </p:sp>
      </p:grpSp>
      <p:sp>
        <p:nvSpPr>
          <p:cNvPr id="22" name="TextBox 22"/>
          <p:cNvSpPr txBox="1"/>
          <p:nvPr/>
        </p:nvSpPr>
        <p:spPr>
          <a:xfrm>
            <a:off x="2002403" y="2285143"/>
            <a:ext cx="14936857" cy="4636589"/>
          </a:xfrm>
          <a:prstGeom prst="rect">
            <a:avLst/>
          </a:prstGeom>
        </p:spPr>
        <p:txBody>
          <a:bodyPr lIns="0" tIns="0" rIns="0" bIns="0" rtlCol="0" anchor="t">
            <a:spAutoFit/>
          </a:bodyPr>
          <a:lstStyle/>
          <a:p>
            <a:pPr marL="488632" lvl="1" indent="-244316" algn="just">
              <a:lnSpc>
                <a:spcPts val="3240"/>
              </a:lnSpc>
              <a:buFont typeface="Arial"/>
              <a:buChar char="•"/>
            </a:pPr>
            <a:r>
              <a:rPr lang="en-US" sz="2700" dirty="0">
                <a:solidFill>
                  <a:srgbClr val="000000"/>
                </a:solidFill>
                <a:latin typeface="Times New Roman"/>
                <a:ea typeface="Times New Roman"/>
                <a:cs typeface="Times New Roman"/>
                <a:sym typeface="Times New Roman"/>
              </a:rPr>
              <a:t>Prices for the same or similar electronics vary widely across </a:t>
            </a:r>
            <a:r>
              <a:rPr lang="en-US" sz="2700" dirty="0" err="1">
                <a:solidFill>
                  <a:srgbClr val="000000"/>
                </a:solidFill>
                <a:latin typeface="Times New Roman"/>
                <a:ea typeface="Times New Roman"/>
                <a:cs typeface="Times New Roman"/>
                <a:sym typeface="Times New Roman"/>
              </a:rPr>
              <a:t>Daraz</a:t>
            </a:r>
            <a:r>
              <a:rPr lang="en-US" sz="2700" dirty="0">
                <a:solidFill>
                  <a:srgbClr val="000000"/>
                </a:solidFill>
                <a:latin typeface="Times New Roman"/>
                <a:ea typeface="Times New Roman"/>
                <a:cs typeface="Times New Roman"/>
                <a:sym typeface="Times New Roman"/>
              </a:rPr>
              <a:t>, </a:t>
            </a:r>
            <a:r>
              <a:rPr lang="en-US" sz="2700" dirty="0" err="1">
                <a:solidFill>
                  <a:srgbClr val="000000"/>
                </a:solidFill>
                <a:latin typeface="Times New Roman"/>
                <a:ea typeface="Times New Roman"/>
                <a:cs typeface="Times New Roman"/>
                <a:sym typeface="Times New Roman"/>
              </a:rPr>
              <a:t>Pickaboo</a:t>
            </a:r>
            <a:r>
              <a:rPr lang="en-US" sz="2700" dirty="0">
                <a:solidFill>
                  <a:srgbClr val="000000"/>
                </a:solidFill>
                <a:latin typeface="Times New Roman"/>
                <a:ea typeface="Times New Roman"/>
                <a:cs typeface="Times New Roman"/>
                <a:sym typeface="Times New Roman"/>
              </a:rPr>
              <a:t>, and different sellers, with discounts that are not always consistent.</a:t>
            </a:r>
          </a:p>
          <a:p>
            <a:pPr marL="488632" lvl="1" indent="-244316" algn="just">
              <a:lnSpc>
                <a:spcPts val="3240"/>
              </a:lnSpc>
              <a:buFont typeface="Arial"/>
              <a:buChar char="•"/>
            </a:pPr>
            <a:r>
              <a:rPr lang="en-US" sz="2700" dirty="0">
                <a:solidFill>
                  <a:srgbClr val="000000"/>
                </a:solidFill>
                <a:latin typeface="Times New Roman"/>
                <a:ea typeface="Times New Roman"/>
                <a:cs typeface="Times New Roman"/>
                <a:sym typeface="Times New Roman"/>
              </a:rPr>
              <a:t>This matters because buyers cannot easily tell whether a listed price is fair, and sellers lack a transparent, data-driven reference when setting prices.</a:t>
            </a:r>
          </a:p>
          <a:p>
            <a:pPr marL="488632" lvl="1" indent="-244316" algn="just">
              <a:lnSpc>
                <a:spcPts val="3240"/>
              </a:lnSpc>
              <a:buFont typeface="Arial"/>
              <a:buChar char="•"/>
            </a:pPr>
            <a:r>
              <a:rPr lang="en-US" sz="2700" dirty="0">
                <a:solidFill>
                  <a:srgbClr val="000000"/>
                </a:solidFill>
                <a:latin typeface="Times New Roman"/>
                <a:ea typeface="Times New Roman"/>
                <a:cs typeface="Times New Roman"/>
                <a:sym typeface="Times New Roman"/>
              </a:rPr>
              <a:t>Online shoppers, sellers, and the platforms themselves are all affected by this lack of price transparency in Bangladesh's electronics market.</a:t>
            </a:r>
          </a:p>
          <a:p>
            <a:pPr marL="488632" lvl="1" indent="-244316" algn="just">
              <a:lnSpc>
                <a:spcPts val="3240"/>
              </a:lnSpc>
              <a:buFont typeface="Arial"/>
              <a:buChar char="•"/>
            </a:pPr>
            <a:r>
              <a:rPr lang="en-US" sz="2700" dirty="0">
                <a:solidFill>
                  <a:srgbClr val="000000"/>
                </a:solidFill>
                <a:latin typeface="Times New Roman"/>
                <a:ea typeface="Times New Roman"/>
                <a:cs typeface="Times New Roman"/>
                <a:sym typeface="Times New Roman"/>
              </a:rPr>
              <a:t>Existing Bangladeshi e-commerce research has focused on sentiment and purchase intention, leaving price </a:t>
            </a:r>
            <a:r>
              <a:rPr lang="en-US" sz="2700" dirty="0" err="1">
                <a:solidFill>
                  <a:srgbClr val="000000"/>
                </a:solidFill>
                <a:latin typeface="Times New Roman"/>
                <a:ea typeface="Times New Roman"/>
                <a:cs typeface="Times New Roman"/>
                <a:sym typeface="Times New Roman"/>
              </a:rPr>
              <a:t>modelling</a:t>
            </a:r>
            <a:r>
              <a:rPr lang="en-US" sz="2700" dirty="0">
                <a:solidFill>
                  <a:srgbClr val="000000"/>
                </a:solidFill>
                <a:latin typeface="Times New Roman"/>
                <a:ea typeface="Times New Roman"/>
                <a:cs typeface="Times New Roman"/>
                <a:sym typeface="Times New Roman"/>
              </a:rPr>
              <a:t> of real product listings unexplored.</a:t>
            </a:r>
          </a:p>
          <a:p>
            <a:pPr marL="488632" lvl="1" indent="-244316" algn="just">
              <a:lnSpc>
                <a:spcPts val="3240"/>
              </a:lnSpc>
              <a:buFont typeface="Arial"/>
              <a:buChar char="•"/>
            </a:pPr>
            <a:r>
              <a:rPr lang="en-US" sz="2700" dirty="0">
                <a:solidFill>
                  <a:srgbClr val="000000"/>
                </a:solidFill>
                <a:latin typeface="Times New Roman"/>
                <a:ea typeface="Times New Roman"/>
                <a:cs typeface="Times New Roman"/>
                <a:sym typeface="Times New Roman"/>
              </a:rPr>
              <a:t>This thesis addresses that gap with an explainable machine learning framework that predicts electronics prices and explains what drives them.</a:t>
            </a: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737360"/>
            <a:chOff x="0" y="0"/>
            <a:chExt cx="24384000" cy="2316480"/>
          </a:xfrm>
        </p:grpSpPr>
        <p:sp>
          <p:nvSpPr>
            <p:cNvPr id="3" name="Freeform 3"/>
            <p:cNvSpPr/>
            <p:nvPr/>
          </p:nvSpPr>
          <p:spPr>
            <a:xfrm>
              <a:off x="0" y="0"/>
              <a:ext cx="24384000" cy="2316480"/>
            </a:xfrm>
            <a:custGeom>
              <a:avLst/>
              <a:gdLst/>
              <a:ahLst/>
              <a:cxnLst/>
              <a:rect l="l" t="t" r="r" b="b"/>
              <a:pathLst>
                <a:path w="24384000" h="2316480">
                  <a:moveTo>
                    <a:pt x="0" y="0"/>
                  </a:moveTo>
                  <a:lnTo>
                    <a:pt x="24384000" y="0"/>
                  </a:lnTo>
                  <a:lnTo>
                    <a:pt x="24384000" y="2316480"/>
                  </a:lnTo>
                  <a:lnTo>
                    <a:pt x="0" y="2316480"/>
                  </a:lnTo>
                  <a:close/>
                </a:path>
              </a:pathLst>
            </a:custGeom>
            <a:solidFill>
              <a:srgbClr val="DAE3F3"/>
            </a:solidFill>
          </p:spPr>
        </p:sp>
      </p:grpSp>
      <p:grpSp>
        <p:nvGrpSpPr>
          <p:cNvPr id="4" name="Group 4"/>
          <p:cNvGrpSpPr/>
          <p:nvPr/>
        </p:nvGrpSpPr>
        <p:grpSpPr>
          <a:xfrm>
            <a:off x="0" y="9437199"/>
            <a:ext cx="18288000" cy="879615"/>
            <a:chOff x="0" y="0"/>
            <a:chExt cx="24384000" cy="1172820"/>
          </a:xfrm>
        </p:grpSpPr>
        <p:sp>
          <p:nvSpPr>
            <p:cNvPr id="5" name="Freeform 5"/>
            <p:cNvSpPr/>
            <p:nvPr/>
          </p:nvSpPr>
          <p:spPr>
            <a:xfrm>
              <a:off x="0" y="0"/>
              <a:ext cx="24384000" cy="1172845"/>
            </a:xfrm>
            <a:custGeom>
              <a:avLst/>
              <a:gdLst/>
              <a:ahLst/>
              <a:cxnLst/>
              <a:rect l="l" t="t" r="r" b="b"/>
              <a:pathLst>
                <a:path w="24384000" h="1172845">
                  <a:moveTo>
                    <a:pt x="0" y="0"/>
                  </a:moveTo>
                  <a:lnTo>
                    <a:pt x="24384000" y="0"/>
                  </a:lnTo>
                  <a:lnTo>
                    <a:pt x="24384000" y="1172845"/>
                  </a:lnTo>
                  <a:lnTo>
                    <a:pt x="0" y="1172845"/>
                  </a:lnTo>
                  <a:close/>
                </a:path>
              </a:pathLst>
            </a:custGeom>
            <a:solidFill>
              <a:srgbClr val="333F50"/>
            </a:solidFill>
          </p:spPr>
        </p:sp>
      </p:grpSp>
      <p:grpSp>
        <p:nvGrpSpPr>
          <p:cNvPr id="6" name="Group 6"/>
          <p:cNvGrpSpPr/>
          <p:nvPr/>
        </p:nvGrpSpPr>
        <p:grpSpPr>
          <a:xfrm>
            <a:off x="1257300" y="9534525"/>
            <a:ext cx="4114800" cy="547688"/>
            <a:chOff x="0" y="0"/>
            <a:chExt cx="5486400" cy="730250"/>
          </a:xfrm>
        </p:grpSpPr>
        <p:sp>
          <p:nvSpPr>
            <p:cNvPr id="7" name="Freeform 7"/>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2" cstate="print">
                <a:alphaModFix amt="0"/>
              </a:blip>
              <a:stretch>
                <a:fillRect t="-96391" b="-96391"/>
              </a:stretch>
            </a:blipFill>
          </p:spPr>
        </p:sp>
        <p:sp>
          <p:nvSpPr>
            <p:cNvPr id="8" name="TextBox 8"/>
            <p:cNvSpPr txBox="1"/>
            <p:nvPr/>
          </p:nvSpPr>
          <p:spPr>
            <a:xfrm>
              <a:off x="0" y="-19050"/>
              <a:ext cx="5486400" cy="749300"/>
            </a:xfrm>
            <a:prstGeom prst="rect">
              <a:avLst/>
            </a:prstGeom>
          </p:spPr>
          <p:txBody>
            <a:bodyPr lIns="0" tIns="0" rIns="0" bIns="0" rtlCol="0" anchor="ctr"/>
            <a:lstStyle/>
            <a:p>
              <a:pPr algn="l">
                <a:lnSpc>
                  <a:spcPts val="2160"/>
                </a:lnSpc>
              </a:pPr>
              <a:r>
                <a:rPr lang="en-US" sz="1800">
                  <a:solidFill>
                    <a:srgbClr val="FFFFFF"/>
                  </a:solidFill>
                  <a:latin typeface="Times New Roman"/>
                  <a:ea typeface="Times New Roman"/>
                  <a:cs typeface="Times New Roman"/>
                  <a:sym typeface="Times New Roman"/>
                </a:rPr>
                <a:t>Friday, August 1, 2025</a:t>
              </a:r>
            </a:p>
          </p:txBody>
        </p:sp>
      </p:grpSp>
      <p:grpSp>
        <p:nvGrpSpPr>
          <p:cNvPr id="9" name="Group 9"/>
          <p:cNvGrpSpPr/>
          <p:nvPr/>
        </p:nvGrpSpPr>
        <p:grpSpPr>
          <a:xfrm>
            <a:off x="6057900" y="9534525"/>
            <a:ext cx="6172200" cy="547688"/>
            <a:chOff x="0" y="0"/>
            <a:chExt cx="8229600" cy="730250"/>
          </a:xfrm>
        </p:grpSpPr>
        <p:sp>
          <p:nvSpPr>
            <p:cNvPr id="10" name="Freeform 10"/>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blipFill>
              <a:blip r:embed="rId3">
                <a:alphaModFix amt="0"/>
              </a:blip>
              <a:stretch>
                <a:fillRect t="-169587" b="-169587"/>
              </a:stretch>
            </a:blipFill>
          </p:spPr>
        </p:sp>
        <p:sp>
          <p:nvSpPr>
            <p:cNvPr id="11" name="TextBox 11"/>
            <p:cNvSpPr txBox="1"/>
            <p:nvPr/>
          </p:nvSpPr>
          <p:spPr>
            <a:xfrm>
              <a:off x="0" y="-19050"/>
              <a:ext cx="8229600" cy="749300"/>
            </a:xfrm>
            <a:prstGeom prst="rect">
              <a:avLst/>
            </a:prstGeom>
          </p:spPr>
          <p:txBody>
            <a:bodyPr lIns="0" tIns="0" rIns="0" bIns="0" rtlCol="0" anchor="ctr"/>
            <a:lstStyle/>
            <a:p>
              <a:pPr algn="ctr">
                <a:lnSpc>
                  <a:spcPts val="2160"/>
                </a:lnSpc>
              </a:pPr>
              <a:r>
                <a:rPr lang="en-US" sz="1800">
                  <a:solidFill>
                    <a:srgbClr val="FFFFFF"/>
                  </a:solidFill>
                  <a:latin typeface="Times New Roman"/>
                  <a:ea typeface="Times New Roman"/>
                  <a:cs typeface="Times New Roman"/>
                  <a:sym typeface="Times New Roman"/>
                </a:rPr>
                <a:t>Department of Computer Science &amp; Engineering, PUB</a:t>
              </a:r>
            </a:p>
          </p:txBody>
        </p:sp>
      </p:grpSp>
      <p:grpSp>
        <p:nvGrpSpPr>
          <p:cNvPr id="12" name="Group 12"/>
          <p:cNvGrpSpPr/>
          <p:nvPr/>
        </p:nvGrpSpPr>
        <p:grpSpPr>
          <a:xfrm>
            <a:off x="12915900" y="9534525"/>
            <a:ext cx="4114800" cy="547688"/>
            <a:chOff x="0" y="0"/>
            <a:chExt cx="5486400" cy="730250"/>
          </a:xfrm>
        </p:grpSpPr>
        <p:sp>
          <p:nvSpPr>
            <p:cNvPr id="13" name="Freeform 13"/>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2" cstate="print">
                <a:alphaModFix amt="0"/>
              </a:blip>
              <a:stretch>
                <a:fillRect t="-96391" b="-96391"/>
              </a:stretch>
            </a:blipFill>
          </p:spPr>
        </p:sp>
        <p:sp>
          <p:nvSpPr>
            <p:cNvPr id="14" name="TextBox 14"/>
            <p:cNvSpPr txBox="1"/>
            <p:nvPr/>
          </p:nvSpPr>
          <p:spPr>
            <a:xfrm>
              <a:off x="0" y="-19050"/>
              <a:ext cx="5486400" cy="749300"/>
            </a:xfrm>
            <a:prstGeom prst="rect">
              <a:avLst/>
            </a:prstGeom>
          </p:spPr>
          <p:txBody>
            <a:bodyPr lIns="0" tIns="0" rIns="0" bIns="0" rtlCol="0" anchor="ctr"/>
            <a:lstStyle/>
            <a:p>
              <a:pPr algn="r">
                <a:lnSpc>
                  <a:spcPts val="2160"/>
                </a:lnSpc>
              </a:pPr>
              <a:r>
                <a:rPr lang="en-US" sz="1800">
                  <a:solidFill>
                    <a:srgbClr val="FFFFFF"/>
                  </a:solidFill>
                  <a:latin typeface="Times New Roman"/>
                  <a:ea typeface="Times New Roman"/>
                  <a:cs typeface="Times New Roman"/>
                  <a:sym typeface="Times New Roman"/>
                </a:rPr>
                <a:t>10</a:t>
              </a:r>
            </a:p>
          </p:txBody>
        </p:sp>
      </p:grpSp>
      <p:grpSp>
        <p:nvGrpSpPr>
          <p:cNvPr id="15" name="Group 15"/>
          <p:cNvGrpSpPr/>
          <p:nvPr/>
        </p:nvGrpSpPr>
        <p:grpSpPr>
          <a:xfrm>
            <a:off x="769315" y="685800"/>
            <a:ext cx="888463" cy="879615"/>
            <a:chOff x="0" y="0"/>
            <a:chExt cx="1184618" cy="1172820"/>
          </a:xfrm>
        </p:grpSpPr>
        <p:sp>
          <p:nvSpPr>
            <p:cNvPr id="16" name="Freeform 16"/>
            <p:cNvSpPr/>
            <p:nvPr/>
          </p:nvSpPr>
          <p:spPr>
            <a:xfrm>
              <a:off x="0" y="0"/>
              <a:ext cx="1184656" cy="1172845"/>
            </a:xfrm>
            <a:custGeom>
              <a:avLst/>
              <a:gdLst/>
              <a:ahLst/>
              <a:cxnLst/>
              <a:rect l="l" t="t" r="r" b="b"/>
              <a:pathLst>
                <a:path w="1184656" h="1172845">
                  <a:moveTo>
                    <a:pt x="0" y="0"/>
                  </a:moveTo>
                  <a:lnTo>
                    <a:pt x="1184656" y="0"/>
                  </a:lnTo>
                  <a:lnTo>
                    <a:pt x="1184656" y="1172845"/>
                  </a:lnTo>
                  <a:lnTo>
                    <a:pt x="0" y="1172845"/>
                  </a:lnTo>
                  <a:lnTo>
                    <a:pt x="0" y="0"/>
                  </a:lnTo>
                  <a:close/>
                </a:path>
              </a:pathLst>
            </a:custGeom>
            <a:blipFill>
              <a:blip r:embed="rId4"/>
              <a:stretch>
                <a:fillRect r="3" b="2"/>
              </a:stretch>
            </a:blipFill>
          </p:spPr>
        </p:sp>
      </p:grpSp>
      <p:grpSp>
        <p:nvGrpSpPr>
          <p:cNvPr id="17" name="Group 17"/>
          <p:cNvGrpSpPr/>
          <p:nvPr/>
        </p:nvGrpSpPr>
        <p:grpSpPr>
          <a:xfrm>
            <a:off x="-19050" y="1730045"/>
            <a:ext cx="18288000" cy="27432"/>
            <a:chOff x="0" y="0"/>
            <a:chExt cx="24384000" cy="36576"/>
          </a:xfrm>
        </p:grpSpPr>
        <p:sp>
          <p:nvSpPr>
            <p:cNvPr id="18" name="Freeform 18"/>
            <p:cNvSpPr/>
            <p:nvPr/>
          </p:nvSpPr>
          <p:spPr>
            <a:xfrm>
              <a:off x="0" y="0"/>
              <a:ext cx="24384000" cy="36576"/>
            </a:xfrm>
            <a:custGeom>
              <a:avLst/>
              <a:gdLst/>
              <a:ahLst/>
              <a:cxnLst/>
              <a:rect l="l" t="t" r="r" b="b"/>
              <a:pathLst>
                <a:path w="24384000" h="36576">
                  <a:moveTo>
                    <a:pt x="0" y="0"/>
                  </a:moveTo>
                  <a:lnTo>
                    <a:pt x="24384000" y="0"/>
                  </a:lnTo>
                  <a:lnTo>
                    <a:pt x="24384000" y="36576"/>
                  </a:lnTo>
                  <a:lnTo>
                    <a:pt x="0" y="36576"/>
                  </a:lnTo>
                  <a:close/>
                </a:path>
              </a:pathLst>
            </a:custGeom>
            <a:gradFill rotWithShape="1">
              <a:gsLst>
                <a:gs pos="0">
                  <a:srgbClr val="B4C7E7">
                    <a:alpha val="100000"/>
                  </a:srgbClr>
                </a:gs>
                <a:gs pos="36000">
                  <a:srgbClr val="4D79C7">
                    <a:alpha val="100000"/>
                  </a:srgbClr>
                </a:gs>
                <a:gs pos="100000">
                  <a:srgbClr val="222A35">
                    <a:alpha val="100000"/>
                  </a:srgbClr>
                </a:gs>
              </a:gsLst>
              <a:path path="circle">
                <a:fillToRect l="50000" t="-30000" r="50000" b="130000"/>
              </a:path>
              <a:tileRect t="-160000"/>
            </a:gradFill>
          </p:spPr>
        </p:sp>
      </p:grpSp>
      <p:grpSp>
        <p:nvGrpSpPr>
          <p:cNvPr id="19" name="Group 19"/>
          <p:cNvGrpSpPr/>
          <p:nvPr/>
        </p:nvGrpSpPr>
        <p:grpSpPr>
          <a:xfrm>
            <a:off x="1910963" y="521122"/>
            <a:ext cx="15241657" cy="929716"/>
            <a:chOff x="0" y="0"/>
            <a:chExt cx="20322210" cy="1239622"/>
          </a:xfrm>
        </p:grpSpPr>
        <p:sp>
          <p:nvSpPr>
            <p:cNvPr id="20" name="Freeform 20"/>
            <p:cNvSpPr/>
            <p:nvPr/>
          </p:nvSpPr>
          <p:spPr>
            <a:xfrm>
              <a:off x="0" y="0"/>
              <a:ext cx="20322208" cy="1239626"/>
            </a:xfrm>
            <a:custGeom>
              <a:avLst/>
              <a:gdLst/>
              <a:ahLst/>
              <a:cxnLst/>
              <a:rect l="l" t="t" r="r" b="b"/>
              <a:pathLst>
                <a:path w="20322208" h="1239626">
                  <a:moveTo>
                    <a:pt x="0" y="0"/>
                  </a:moveTo>
                  <a:lnTo>
                    <a:pt x="20322208" y="0"/>
                  </a:lnTo>
                  <a:lnTo>
                    <a:pt x="20322208" y="1239626"/>
                  </a:lnTo>
                  <a:lnTo>
                    <a:pt x="0" y="1239626"/>
                  </a:lnTo>
                  <a:close/>
                </a:path>
              </a:pathLst>
            </a:custGeom>
            <a:blipFill>
              <a:blip r:embed="rId3">
                <a:alphaModFix amt="0"/>
              </a:blip>
              <a:stretch>
                <a:fillRect t="-269434" b="-269434"/>
              </a:stretch>
            </a:blipFill>
          </p:spPr>
        </p:sp>
        <p:sp>
          <p:nvSpPr>
            <p:cNvPr id="21" name="TextBox 21"/>
            <p:cNvSpPr txBox="1"/>
            <p:nvPr/>
          </p:nvSpPr>
          <p:spPr>
            <a:xfrm>
              <a:off x="0" y="28575"/>
              <a:ext cx="20322210" cy="1211047"/>
            </a:xfrm>
            <a:prstGeom prst="rect">
              <a:avLst/>
            </a:prstGeom>
          </p:spPr>
          <p:txBody>
            <a:bodyPr lIns="0" tIns="0" rIns="0" bIns="0" rtlCol="0" anchor="b"/>
            <a:lstStyle/>
            <a:p>
              <a:pPr algn="l">
                <a:lnSpc>
                  <a:spcPts val="5184"/>
                </a:lnSpc>
              </a:pPr>
              <a:r>
                <a:rPr lang="en-US" sz="4800" b="1">
                  <a:solidFill>
                    <a:srgbClr val="000000"/>
                  </a:solidFill>
                  <a:latin typeface="Times New Roman Bold"/>
                  <a:ea typeface="Times New Roman Bold"/>
                  <a:cs typeface="Times New Roman Bold"/>
                  <a:sym typeface="Times New Roman Bold"/>
                </a:rPr>
                <a:t>Dataset</a:t>
              </a:r>
            </a:p>
          </p:txBody>
        </p:sp>
      </p:grpSp>
      <p:pic>
        <p:nvPicPr>
          <p:cNvPr id="22" name="Picture 22"/>
          <p:cNvPicPr>
            <a:picLocks noChangeAspect="1"/>
          </p:cNvPicPr>
          <p:nvPr/>
        </p:nvPicPr>
        <p:blipFill>
          <a:blip r:embed="rId5"/>
          <a:stretch>
            <a:fillRect/>
          </a:stretch>
        </p:blipFill>
        <p:spPr>
          <a:xfrm>
            <a:off x="10649808" y="1888298"/>
            <a:ext cx="7592471" cy="7158769"/>
          </a:xfrm>
          <a:prstGeom prst="rect">
            <a:avLst/>
          </a:prstGeom>
        </p:spPr>
      </p:pic>
      <p:sp>
        <p:nvSpPr>
          <p:cNvPr id="23" name="TextBox 23"/>
          <p:cNvSpPr txBox="1"/>
          <p:nvPr/>
        </p:nvSpPr>
        <p:spPr>
          <a:xfrm>
            <a:off x="2002403" y="2806989"/>
            <a:ext cx="9188672" cy="5627608"/>
          </a:xfrm>
          <a:prstGeom prst="rect">
            <a:avLst/>
          </a:prstGeom>
        </p:spPr>
        <p:txBody>
          <a:bodyPr lIns="0" tIns="0" rIns="0" bIns="0" rtlCol="0" anchor="t">
            <a:spAutoFit/>
          </a:bodyPr>
          <a:lstStyle/>
          <a:p>
            <a:pPr marL="461486" lvl="1" indent="-230743" algn="l">
              <a:lnSpc>
                <a:spcPts val="3060"/>
              </a:lnSpc>
              <a:buFont typeface="Arial"/>
              <a:buChar char="•"/>
            </a:pPr>
            <a:r>
              <a:rPr lang="en-US" sz="2550">
                <a:solidFill>
                  <a:srgbClr val="000000"/>
                </a:solidFill>
                <a:latin typeface="Times New Roman"/>
                <a:ea typeface="Times New Roman"/>
                <a:cs typeface="Times New Roman"/>
                <a:sym typeface="Times New Roman"/>
              </a:rPr>
              <a:t>Source: "Bangladeshi E-Commerce Dataset (Daraz and Pickaboo)" on Kaggle, by Fahim Hasan Talukder</a:t>
            </a:r>
          </a:p>
          <a:p>
            <a:pPr marL="461486" lvl="1" indent="-230743" algn="l">
              <a:lnSpc>
                <a:spcPts val="3060"/>
              </a:lnSpc>
              <a:buFont typeface="Arial"/>
              <a:buChar char="•"/>
            </a:pPr>
            <a:r>
              <a:rPr lang="en-US" sz="2550">
                <a:solidFill>
                  <a:srgbClr val="000000"/>
                </a:solidFill>
                <a:latin typeface="Times New Roman"/>
                <a:ea typeface="Times New Roman"/>
                <a:cs typeface="Times New Roman"/>
                <a:sym typeface="Times New Roman"/>
              </a:rPr>
              <a:t>Size: 6,504 scraped product listings, 13 raw fields; 5,998 listings have a usable price after cleaning</a:t>
            </a:r>
          </a:p>
          <a:p>
            <a:pPr marL="461486" lvl="1" indent="-230743" algn="l">
              <a:lnSpc>
                <a:spcPts val="3060"/>
              </a:lnSpc>
              <a:buFont typeface="Arial"/>
              <a:buChar char="•"/>
            </a:pPr>
            <a:r>
              <a:rPr lang="en-US" sz="2550">
                <a:solidFill>
                  <a:srgbClr val="000000"/>
                </a:solidFill>
                <a:latin typeface="Times New Roman"/>
                <a:ea typeface="Times New Roman"/>
                <a:cs typeface="Times New Roman"/>
                <a:sym typeface="Times New Roman"/>
              </a:rPr>
              <a:t>Format: CSV — text fields (name, brand, description) plus numeric price, discount, and rating fields</a:t>
            </a:r>
          </a:p>
          <a:p>
            <a:pPr marL="461486" lvl="1" indent="-230743" algn="l">
              <a:lnSpc>
                <a:spcPts val="3060"/>
              </a:lnSpc>
              <a:buFont typeface="Arial"/>
              <a:buChar char="•"/>
            </a:pPr>
            <a:r>
              <a:rPr lang="en-US" sz="2550">
                <a:solidFill>
                  <a:srgbClr val="000000"/>
                </a:solidFill>
                <a:latin typeface="Times New Roman"/>
                <a:ea typeface="Times New Roman"/>
                <a:cs typeface="Times New Roman"/>
                <a:sym typeface="Times New Roman"/>
              </a:rPr>
              <a:t>Relevance: real electronics prices and discounts from Bangladesh’s two major marketplaces</a:t>
            </a:r>
          </a:p>
          <a:p>
            <a:pPr marL="461486" lvl="1" indent="-230743" algn="l">
              <a:lnSpc>
                <a:spcPts val="3060"/>
              </a:lnSpc>
              <a:buFont typeface="Arial"/>
              <a:buChar char="•"/>
            </a:pPr>
            <a:r>
              <a:rPr lang="en-US" sz="2550">
                <a:solidFill>
                  <a:srgbClr val="000000"/>
                </a:solidFill>
                <a:latin typeface="Times New Roman"/>
                <a:ea typeface="Times New Roman"/>
                <a:cs typeface="Times New Roman"/>
                <a:sym typeface="Times New Roman"/>
              </a:rPr>
              <a:t>Preprocessing planned: parse currency text to numeric prices, derive platform from URL, engineer category, log-transform price</a:t>
            </a:r>
          </a:p>
          <a:p>
            <a:pPr marL="461486" lvl="1" indent="-230743" algn="l">
              <a:lnSpc>
                <a:spcPts val="3060"/>
              </a:lnSpc>
              <a:buFont typeface="Arial"/>
              <a:buChar char="•"/>
            </a:pPr>
            <a:r>
              <a:rPr lang="en-US" sz="2550">
                <a:solidFill>
                  <a:srgbClr val="000000"/>
                </a:solidFill>
                <a:latin typeface="Times New Roman"/>
                <a:ea typeface="Times New Roman"/>
                <a:cs typeface="Times New Roman"/>
                <a:sym typeface="Times New Roman"/>
              </a:rPr>
              <a:t>Limitations: ~28% listings show "No Brand" (mostly Daraz), 506 rows missing price, only ~28% carry a rating</a:t>
            </a: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737360"/>
            <a:chOff x="0" y="0"/>
            <a:chExt cx="24384000" cy="2316480"/>
          </a:xfrm>
        </p:grpSpPr>
        <p:sp>
          <p:nvSpPr>
            <p:cNvPr id="3" name="Freeform 3"/>
            <p:cNvSpPr/>
            <p:nvPr/>
          </p:nvSpPr>
          <p:spPr>
            <a:xfrm>
              <a:off x="0" y="0"/>
              <a:ext cx="24384000" cy="2316480"/>
            </a:xfrm>
            <a:custGeom>
              <a:avLst/>
              <a:gdLst/>
              <a:ahLst/>
              <a:cxnLst/>
              <a:rect l="l" t="t" r="r" b="b"/>
              <a:pathLst>
                <a:path w="24384000" h="2316480">
                  <a:moveTo>
                    <a:pt x="0" y="0"/>
                  </a:moveTo>
                  <a:lnTo>
                    <a:pt x="24384000" y="0"/>
                  </a:lnTo>
                  <a:lnTo>
                    <a:pt x="24384000" y="2316480"/>
                  </a:lnTo>
                  <a:lnTo>
                    <a:pt x="0" y="2316480"/>
                  </a:lnTo>
                  <a:close/>
                </a:path>
              </a:pathLst>
            </a:custGeom>
            <a:solidFill>
              <a:srgbClr val="DAE3F3"/>
            </a:solidFill>
          </p:spPr>
        </p:sp>
      </p:grpSp>
      <p:grpSp>
        <p:nvGrpSpPr>
          <p:cNvPr id="4" name="Group 4"/>
          <p:cNvGrpSpPr/>
          <p:nvPr/>
        </p:nvGrpSpPr>
        <p:grpSpPr>
          <a:xfrm>
            <a:off x="0" y="9437199"/>
            <a:ext cx="18288000" cy="879615"/>
            <a:chOff x="0" y="0"/>
            <a:chExt cx="24384000" cy="1172820"/>
          </a:xfrm>
        </p:grpSpPr>
        <p:sp>
          <p:nvSpPr>
            <p:cNvPr id="5" name="Freeform 5"/>
            <p:cNvSpPr/>
            <p:nvPr/>
          </p:nvSpPr>
          <p:spPr>
            <a:xfrm>
              <a:off x="0" y="0"/>
              <a:ext cx="24384000" cy="1172845"/>
            </a:xfrm>
            <a:custGeom>
              <a:avLst/>
              <a:gdLst/>
              <a:ahLst/>
              <a:cxnLst/>
              <a:rect l="l" t="t" r="r" b="b"/>
              <a:pathLst>
                <a:path w="24384000" h="1172845">
                  <a:moveTo>
                    <a:pt x="0" y="0"/>
                  </a:moveTo>
                  <a:lnTo>
                    <a:pt x="24384000" y="0"/>
                  </a:lnTo>
                  <a:lnTo>
                    <a:pt x="24384000" y="1172845"/>
                  </a:lnTo>
                  <a:lnTo>
                    <a:pt x="0" y="1172845"/>
                  </a:lnTo>
                  <a:close/>
                </a:path>
              </a:pathLst>
            </a:custGeom>
            <a:solidFill>
              <a:srgbClr val="333F50"/>
            </a:solidFill>
          </p:spPr>
        </p:sp>
      </p:grpSp>
      <p:grpSp>
        <p:nvGrpSpPr>
          <p:cNvPr id="6" name="Group 6"/>
          <p:cNvGrpSpPr/>
          <p:nvPr/>
        </p:nvGrpSpPr>
        <p:grpSpPr>
          <a:xfrm>
            <a:off x="1257300" y="9534525"/>
            <a:ext cx="4114800" cy="547688"/>
            <a:chOff x="0" y="0"/>
            <a:chExt cx="5486400" cy="730250"/>
          </a:xfrm>
        </p:grpSpPr>
        <p:sp>
          <p:nvSpPr>
            <p:cNvPr id="7" name="Freeform 7"/>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2" cstate="print">
                <a:alphaModFix amt="0"/>
              </a:blip>
              <a:stretch>
                <a:fillRect t="-96391" b="-96391"/>
              </a:stretch>
            </a:blipFill>
          </p:spPr>
        </p:sp>
        <p:sp>
          <p:nvSpPr>
            <p:cNvPr id="8" name="TextBox 8"/>
            <p:cNvSpPr txBox="1"/>
            <p:nvPr/>
          </p:nvSpPr>
          <p:spPr>
            <a:xfrm>
              <a:off x="0" y="-19050"/>
              <a:ext cx="5486400" cy="749300"/>
            </a:xfrm>
            <a:prstGeom prst="rect">
              <a:avLst/>
            </a:prstGeom>
          </p:spPr>
          <p:txBody>
            <a:bodyPr lIns="0" tIns="0" rIns="0" bIns="0" rtlCol="0" anchor="ctr"/>
            <a:lstStyle/>
            <a:p>
              <a:pPr algn="l">
                <a:lnSpc>
                  <a:spcPts val="2160"/>
                </a:lnSpc>
              </a:pPr>
              <a:r>
                <a:rPr lang="en-US" sz="1800">
                  <a:solidFill>
                    <a:srgbClr val="FFFFFF"/>
                  </a:solidFill>
                  <a:latin typeface="Times New Roman"/>
                  <a:ea typeface="Times New Roman"/>
                  <a:cs typeface="Times New Roman"/>
                  <a:sym typeface="Times New Roman"/>
                </a:rPr>
                <a:t>Friday, August 1, 2025</a:t>
              </a:r>
            </a:p>
          </p:txBody>
        </p:sp>
      </p:grpSp>
      <p:grpSp>
        <p:nvGrpSpPr>
          <p:cNvPr id="9" name="Group 9"/>
          <p:cNvGrpSpPr/>
          <p:nvPr/>
        </p:nvGrpSpPr>
        <p:grpSpPr>
          <a:xfrm>
            <a:off x="6057900" y="9534525"/>
            <a:ext cx="6172200" cy="547688"/>
            <a:chOff x="0" y="0"/>
            <a:chExt cx="8229600" cy="730250"/>
          </a:xfrm>
        </p:grpSpPr>
        <p:sp>
          <p:nvSpPr>
            <p:cNvPr id="10" name="Freeform 10"/>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blipFill>
              <a:blip r:embed="rId3">
                <a:alphaModFix amt="0"/>
              </a:blip>
              <a:stretch>
                <a:fillRect t="-169587" b="-169587"/>
              </a:stretch>
            </a:blipFill>
          </p:spPr>
        </p:sp>
        <p:sp>
          <p:nvSpPr>
            <p:cNvPr id="11" name="TextBox 11"/>
            <p:cNvSpPr txBox="1"/>
            <p:nvPr/>
          </p:nvSpPr>
          <p:spPr>
            <a:xfrm>
              <a:off x="0" y="-19050"/>
              <a:ext cx="8229600" cy="749300"/>
            </a:xfrm>
            <a:prstGeom prst="rect">
              <a:avLst/>
            </a:prstGeom>
          </p:spPr>
          <p:txBody>
            <a:bodyPr lIns="0" tIns="0" rIns="0" bIns="0" rtlCol="0" anchor="ctr"/>
            <a:lstStyle/>
            <a:p>
              <a:pPr algn="ctr">
                <a:lnSpc>
                  <a:spcPts val="2160"/>
                </a:lnSpc>
              </a:pPr>
              <a:r>
                <a:rPr lang="en-US" sz="1800">
                  <a:solidFill>
                    <a:srgbClr val="FFFFFF"/>
                  </a:solidFill>
                  <a:latin typeface="Times New Roman"/>
                  <a:ea typeface="Times New Roman"/>
                  <a:cs typeface="Times New Roman"/>
                  <a:sym typeface="Times New Roman"/>
                </a:rPr>
                <a:t>Department of Computer Science &amp; Engineering, PUB</a:t>
              </a:r>
            </a:p>
          </p:txBody>
        </p:sp>
      </p:grpSp>
      <p:grpSp>
        <p:nvGrpSpPr>
          <p:cNvPr id="12" name="Group 12"/>
          <p:cNvGrpSpPr/>
          <p:nvPr/>
        </p:nvGrpSpPr>
        <p:grpSpPr>
          <a:xfrm>
            <a:off x="12915900" y="9534525"/>
            <a:ext cx="4114800" cy="547688"/>
            <a:chOff x="0" y="0"/>
            <a:chExt cx="5486400" cy="730250"/>
          </a:xfrm>
        </p:grpSpPr>
        <p:sp>
          <p:nvSpPr>
            <p:cNvPr id="13" name="Freeform 13"/>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2" cstate="print">
                <a:alphaModFix amt="0"/>
              </a:blip>
              <a:stretch>
                <a:fillRect t="-96391" b="-96391"/>
              </a:stretch>
            </a:blipFill>
          </p:spPr>
        </p:sp>
        <p:sp>
          <p:nvSpPr>
            <p:cNvPr id="14" name="TextBox 14"/>
            <p:cNvSpPr txBox="1"/>
            <p:nvPr/>
          </p:nvSpPr>
          <p:spPr>
            <a:xfrm>
              <a:off x="0" y="-19050"/>
              <a:ext cx="5486400" cy="749300"/>
            </a:xfrm>
            <a:prstGeom prst="rect">
              <a:avLst/>
            </a:prstGeom>
          </p:spPr>
          <p:txBody>
            <a:bodyPr lIns="0" tIns="0" rIns="0" bIns="0" rtlCol="0" anchor="ctr"/>
            <a:lstStyle/>
            <a:p>
              <a:pPr algn="r">
                <a:lnSpc>
                  <a:spcPts val="2160"/>
                </a:lnSpc>
              </a:pPr>
              <a:r>
                <a:rPr lang="en-US" sz="1800">
                  <a:solidFill>
                    <a:srgbClr val="FFFFFF"/>
                  </a:solidFill>
                  <a:latin typeface="Times New Roman"/>
                  <a:ea typeface="Times New Roman"/>
                  <a:cs typeface="Times New Roman"/>
                  <a:sym typeface="Times New Roman"/>
                </a:rPr>
                <a:t>11</a:t>
              </a:r>
            </a:p>
          </p:txBody>
        </p:sp>
      </p:grpSp>
      <p:grpSp>
        <p:nvGrpSpPr>
          <p:cNvPr id="15" name="Group 15"/>
          <p:cNvGrpSpPr/>
          <p:nvPr/>
        </p:nvGrpSpPr>
        <p:grpSpPr>
          <a:xfrm>
            <a:off x="769315" y="685800"/>
            <a:ext cx="888463" cy="879615"/>
            <a:chOff x="0" y="0"/>
            <a:chExt cx="1184618" cy="1172820"/>
          </a:xfrm>
        </p:grpSpPr>
        <p:sp>
          <p:nvSpPr>
            <p:cNvPr id="16" name="Freeform 16"/>
            <p:cNvSpPr/>
            <p:nvPr/>
          </p:nvSpPr>
          <p:spPr>
            <a:xfrm>
              <a:off x="0" y="0"/>
              <a:ext cx="1184656" cy="1172845"/>
            </a:xfrm>
            <a:custGeom>
              <a:avLst/>
              <a:gdLst/>
              <a:ahLst/>
              <a:cxnLst/>
              <a:rect l="l" t="t" r="r" b="b"/>
              <a:pathLst>
                <a:path w="1184656" h="1172845">
                  <a:moveTo>
                    <a:pt x="0" y="0"/>
                  </a:moveTo>
                  <a:lnTo>
                    <a:pt x="1184656" y="0"/>
                  </a:lnTo>
                  <a:lnTo>
                    <a:pt x="1184656" y="1172845"/>
                  </a:lnTo>
                  <a:lnTo>
                    <a:pt x="0" y="1172845"/>
                  </a:lnTo>
                  <a:lnTo>
                    <a:pt x="0" y="0"/>
                  </a:lnTo>
                  <a:close/>
                </a:path>
              </a:pathLst>
            </a:custGeom>
            <a:blipFill>
              <a:blip r:embed="rId4"/>
              <a:stretch>
                <a:fillRect r="3" b="2"/>
              </a:stretch>
            </a:blipFill>
          </p:spPr>
        </p:sp>
      </p:grpSp>
      <p:grpSp>
        <p:nvGrpSpPr>
          <p:cNvPr id="17" name="Group 17"/>
          <p:cNvGrpSpPr/>
          <p:nvPr/>
        </p:nvGrpSpPr>
        <p:grpSpPr>
          <a:xfrm>
            <a:off x="-19050" y="1730045"/>
            <a:ext cx="18288000" cy="27432"/>
            <a:chOff x="0" y="0"/>
            <a:chExt cx="24384000" cy="36576"/>
          </a:xfrm>
        </p:grpSpPr>
        <p:sp>
          <p:nvSpPr>
            <p:cNvPr id="18" name="Freeform 18"/>
            <p:cNvSpPr/>
            <p:nvPr/>
          </p:nvSpPr>
          <p:spPr>
            <a:xfrm>
              <a:off x="0" y="0"/>
              <a:ext cx="24384000" cy="36576"/>
            </a:xfrm>
            <a:custGeom>
              <a:avLst/>
              <a:gdLst/>
              <a:ahLst/>
              <a:cxnLst/>
              <a:rect l="l" t="t" r="r" b="b"/>
              <a:pathLst>
                <a:path w="24384000" h="36576">
                  <a:moveTo>
                    <a:pt x="0" y="0"/>
                  </a:moveTo>
                  <a:lnTo>
                    <a:pt x="24384000" y="0"/>
                  </a:lnTo>
                  <a:lnTo>
                    <a:pt x="24384000" y="36576"/>
                  </a:lnTo>
                  <a:lnTo>
                    <a:pt x="0" y="36576"/>
                  </a:lnTo>
                  <a:close/>
                </a:path>
              </a:pathLst>
            </a:custGeom>
            <a:gradFill rotWithShape="1">
              <a:gsLst>
                <a:gs pos="0">
                  <a:srgbClr val="B4C7E7">
                    <a:alpha val="100000"/>
                  </a:srgbClr>
                </a:gs>
                <a:gs pos="36000">
                  <a:srgbClr val="4D79C7">
                    <a:alpha val="100000"/>
                  </a:srgbClr>
                </a:gs>
                <a:gs pos="100000">
                  <a:srgbClr val="222A35">
                    <a:alpha val="100000"/>
                  </a:srgbClr>
                </a:gs>
              </a:gsLst>
              <a:path path="circle">
                <a:fillToRect l="50000" t="-30000" r="50000" b="130000"/>
              </a:path>
              <a:tileRect t="-160000"/>
            </a:gradFill>
          </p:spPr>
        </p:sp>
      </p:grpSp>
      <p:grpSp>
        <p:nvGrpSpPr>
          <p:cNvPr id="19" name="Group 19"/>
          <p:cNvGrpSpPr/>
          <p:nvPr/>
        </p:nvGrpSpPr>
        <p:grpSpPr>
          <a:xfrm>
            <a:off x="1910963" y="521122"/>
            <a:ext cx="15241657" cy="929716"/>
            <a:chOff x="0" y="0"/>
            <a:chExt cx="20322210" cy="1239622"/>
          </a:xfrm>
        </p:grpSpPr>
        <p:sp>
          <p:nvSpPr>
            <p:cNvPr id="20" name="Freeform 20"/>
            <p:cNvSpPr/>
            <p:nvPr/>
          </p:nvSpPr>
          <p:spPr>
            <a:xfrm>
              <a:off x="0" y="0"/>
              <a:ext cx="20322208" cy="1239626"/>
            </a:xfrm>
            <a:custGeom>
              <a:avLst/>
              <a:gdLst/>
              <a:ahLst/>
              <a:cxnLst/>
              <a:rect l="l" t="t" r="r" b="b"/>
              <a:pathLst>
                <a:path w="20322208" h="1239626">
                  <a:moveTo>
                    <a:pt x="0" y="0"/>
                  </a:moveTo>
                  <a:lnTo>
                    <a:pt x="20322208" y="0"/>
                  </a:lnTo>
                  <a:lnTo>
                    <a:pt x="20322208" y="1239626"/>
                  </a:lnTo>
                  <a:lnTo>
                    <a:pt x="0" y="1239626"/>
                  </a:lnTo>
                  <a:close/>
                </a:path>
              </a:pathLst>
            </a:custGeom>
            <a:blipFill>
              <a:blip r:embed="rId3">
                <a:alphaModFix amt="0"/>
              </a:blip>
              <a:stretch>
                <a:fillRect t="-269434" b="-269434"/>
              </a:stretch>
            </a:blipFill>
          </p:spPr>
        </p:sp>
        <p:sp>
          <p:nvSpPr>
            <p:cNvPr id="21" name="TextBox 21"/>
            <p:cNvSpPr txBox="1"/>
            <p:nvPr/>
          </p:nvSpPr>
          <p:spPr>
            <a:xfrm>
              <a:off x="0" y="28575"/>
              <a:ext cx="20322210" cy="1211047"/>
            </a:xfrm>
            <a:prstGeom prst="rect">
              <a:avLst/>
            </a:prstGeom>
          </p:spPr>
          <p:txBody>
            <a:bodyPr lIns="0" tIns="0" rIns="0" bIns="0" rtlCol="0" anchor="b"/>
            <a:lstStyle/>
            <a:p>
              <a:pPr algn="l">
                <a:lnSpc>
                  <a:spcPts val="5184"/>
                </a:lnSpc>
              </a:pPr>
              <a:r>
                <a:rPr lang="en-US" sz="4800" b="1">
                  <a:solidFill>
                    <a:srgbClr val="000000"/>
                  </a:solidFill>
                  <a:latin typeface="Times New Roman Bold"/>
                  <a:ea typeface="Times New Roman Bold"/>
                  <a:cs typeface="Times New Roman Bold"/>
                  <a:sym typeface="Times New Roman Bold"/>
                </a:rPr>
                <a:t>Methodology</a:t>
              </a:r>
            </a:p>
          </p:txBody>
        </p:sp>
      </p:grpSp>
      <p:grpSp>
        <p:nvGrpSpPr>
          <p:cNvPr id="22" name="Group 22"/>
          <p:cNvGrpSpPr/>
          <p:nvPr/>
        </p:nvGrpSpPr>
        <p:grpSpPr>
          <a:xfrm>
            <a:off x="1910963" y="2502179"/>
            <a:ext cx="15348337" cy="4064330"/>
            <a:chOff x="0" y="0"/>
            <a:chExt cx="20159650" cy="5338393"/>
          </a:xfrm>
        </p:grpSpPr>
        <p:sp>
          <p:nvSpPr>
            <p:cNvPr id="23" name="Freeform 23"/>
            <p:cNvSpPr/>
            <p:nvPr/>
          </p:nvSpPr>
          <p:spPr>
            <a:xfrm>
              <a:off x="0" y="0"/>
              <a:ext cx="20159650" cy="5338390"/>
            </a:xfrm>
            <a:custGeom>
              <a:avLst/>
              <a:gdLst/>
              <a:ahLst/>
              <a:cxnLst/>
              <a:rect l="l" t="t" r="r" b="b"/>
              <a:pathLst>
                <a:path w="20159650" h="5338390">
                  <a:moveTo>
                    <a:pt x="0" y="0"/>
                  </a:moveTo>
                  <a:lnTo>
                    <a:pt x="20159650" y="0"/>
                  </a:lnTo>
                  <a:lnTo>
                    <a:pt x="20159650" y="5338390"/>
                  </a:lnTo>
                  <a:lnTo>
                    <a:pt x="0" y="5338390"/>
                  </a:lnTo>
                  <a:close/>
                </a:path>
              </a:pathLst>
            </a:custGeom>
            <a:blipFill>
              <a:blip r:embed="rId3">
                <a:alphaModFix amt="0"/>
              </a:blip>
              <a:stretch>
                <a:fillRect t="-40719" b="-6444"/>
              </a:stretch>
            </a:blipFill>
          </p:spPr>
        </p:sp>
        <p:sp>
          <p:nvSpPr>
            <p:cNvPr id="24" name="TextBox 24"/>
            <p:cNvSpPr txBox="1"/>
            <p:nvPr/>
          </p:nvSpPr>
          <p:spPr>
            <a:xfrm>
              <a:off x="0" y="-19050"/>
              <a:ext cx="20159650" cy="5357443"/>
            </a:xfrm>
            <a:prstGeom prst="rect">
              <a:avLst/>
            </a:prstGeom>
          </p:spPr>
          <p:txBody>
            <a:bodyPr lIns="0" tIns="0" rIns="0" bIns="0" rtlCol="0" anchor="ctr"/>
            <a:lstStyle/>
            <a:p>
              <a:pPr marL="488632" lvl="1" indent="-244316" algn="l">
                <a:lnSpc>
                  <a:spcPts val="3240"/>
                </a:lnSpc>
                <a:buFont typeface="Arial"/>
                <a:buChar char="•"/>
              </a:pPr>
              <a:r>
                <a:rPr lang="en-US" sz="2700">
                  <a:solidFill>
                    <a:srgbClr val="000000"/>
                  </a:solidFill>
                  <a:latin typeface="Times New Roman"/>
                  <a:ea typeface="Times New Roman"/>
                  <a:cs typeface="Times New Roman"/>
                  <a:sym typeface="Times New Roman"/>
                </a:rPr>
                <a:t>Data acquisition: use the 6,504 scraped electronics listings from Daraz and Pickaboo (Kaggle dataset)</a:t>
              </a:r>
            </a:p>
            <a:p>
              <a:pPr marL="488632" lvl="1" indent="-244316" algn="l">
                <a:lnSpc>
                  <a:spcPts val="3240"/>
                </a:lnSpc>
                <a:buFont typeface="Arial"/>
                <a:buChar char="•"/>
              </a:pPr>
              <a:r>
                <a:rPr lang="en-US" sz="2700">
                  <a:solidFill>
                    <a:srgbClr val="000000"/>
                  </a:solidFill>
                  <a:latin typeface="Times New Roman"/>
                  <a:ea typeface="Times New Roman"/>
                  <a:cs typeface="Times New Roman"/>
                  <a:sym typeface="Times New Roman"/>
                </a:rPr>
                <a:t>Data cleaning: parse currency text to numeric prices, remove duplicate or incomplete records, and derive the platform from each product URL</a:t>
              </a:r>
            </a:p>
            <a:p>
              <a:pPr marL="488632" lvl="1" indent="-244316" algn="l">
                <a:lnSpc>
                  <a:spcPts val="3240"/>
                </a:lnSpc>
                <a:buFont typeface="Arial"/>
                <a:buChar char="•"/>
              </a:pPr>
              <a:r>
                <a:rPr lang="en-US" sz="2700">
                  <a:solidFill>
                    <a:srgbClr val="000000"/>
                  </a:solidFill>
                  <a:latin typeface="Times New Roman"/>
                  <a:ea typeface="Times New Roman"/>
                  <a:cs typeface="Times New Roman"/>
                  <a:sym typeface="Times New Roman"/>
                </a:rPr>
                <a:t>Feature engineering: derive product category and key specifications from product names; encode brand, platform, discount, and warranty type</a:t>
              </a:r>
            </a:p>
            <a:p>
              <a:pPr marL="488632" lvl="1" indent="-244316" algn="l">
                <a:lnSpc>
                  <a:spcPts val="3240"/>
                </a:lnSpc>
                <a:buFont typeface="Arial"/>
                <a:buChar char="•"/>
              </a:pPr>
              <a:r>
                <a:rPr lang="en-US" sz="2700">
                  <a:solidFill>
                    <a:srgbClr val="000000"/>
                  </a:solidFill>
                  <a:latin typeface="Times New Roman"/>
                  <a:ea typeface="Times New Roman"/>
                  <a:cs typeface="Times New Roman"/>
                  <a:sym typeface="Times New Roman"/>
                </a:rPr>
                <a:t>Target transformation: use the logarithm of price as the regression target to handle its strong right-skew</a:t>
              </a:r>
            </a:p>
            <a:p>
              <a:pPr marL="488632" lvl="1" indent="-244316" algn="l">
                <a:lnSpc>
                  <a:spcPts val="3240"/>
                </a:lnSpc>
                <a:buFont typeface="Arial"/>
                <a:buChar char="•"/>
              </a:pPr>
              <a:r>
                <a:rPr lang="en-US" sz="2700">
                  <a:solidFill>
                    <a:srgbClr val="000000"/>
                  </a:solidFill>
                  <a:latin typeface="Times New Roman"/>
                  <a:ea typeface="Times New Roman"/>
                  <a:cs typeface="Times New Roman"/>
                  <a:sym typeface="Times New Roman"/>
                </a:rPr>
                <a:t>Model training: train and tune Linear Regression, Random Forest, and XGBoost using cross-validation</a:t>
              </a:r>
            </a:p>
            <a:p>
              <a:pPr marL="488632" lvl="1" indent="-244316" algn="l">
                <a:lnSpc>
                  <a:spcPts val="3240"/>
                </a:lnSpc>
                <a:buFont typeface="Arial"/>
                <a:buChar char="•"/>
              </a:pPr>
              <a:r>
                <a:rPr lang="en-US" sz="2700">
                  <a:solidFill>
                    <a:srgbClr val="000000"/>
                  </a:solidFill>
                  <a:latin typeface="Times New Roman"/>
                  <a:ea typeface="Times New Roman"/>
                  <a:cs typeface="Times New Roman"/>
                  <a:sym typeface="Times New Roman"/>
                </a:rPr>
                <a:t>Explainability: apply SHAP to the best-performing model to show which features drive its price predictions</a:t>
              </a:r>
            </a:p>
          </p:txBody>
        </p:sp>
      </p:gr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737360"/>
            <a:chOff x="0" y="0"/>
            <a:chExt cx="24384000" cy="2316480"/>
          </a:xfrm>
        </p:grpSpPr>
        <p:sp>
          <p:nvSpPr>
            <p:cNvPr id="3" name="Freeform 3"/>
            <p:cNvSpPr/>
            <p:nvPr/>
          </p:nvSpPr>
          <p:spPr>
            <a:xfrm>
              <a:off x="0" y="0"/>
              <a:ext cx="24384000" cy="2316480"/>
            </a:xfrm>
            <a:custGeom>
              <a:avLst/>
              <a:gdLst/>
              <a:ahLst/>
              <a:cxnLst/>
              <a:rect l="l" t="t" r="r" b="b"/>
              <a:pathLst>
                <a:path w="24384000" h="2316480">
                  <a:moveTo>
                    <a:pt x="0" y="0"/>
                  </a:moveTo>
                  <a:lnTo>
                    <a:pt x="24384000" y="0"/>
                  </a:lnTo>
                  <a:lnTo>
                    <a:pt x="24384000" y="2316480"/>
                  </a:lnTo>
                  <a:lnTo>
                    <a:pt x="0" y="2316480"/>
                  </a:lnTo>
                  <a:close/>
                </a:path>
              </a:pathLst>
            </a:custGeom>
            <a:solidFill>
              <a:srgbClr val="DAE3F3"/>
            </a:solidFill>
          </p:spPr>
        </p:sp>
      </p:grpSp>
      <p:grpSp>
        <p:nvGrpSpPr>
          <p:cNvPr id="4" name="Group 4"/>
          <p:cNvGrpSpPr/>
          <p:nvPr/>
        </p:nvGrpSpPr>
        <p:grpSpPr>
          <a:xfrm>
            <a:off x="0" y="9437199"/>
            <a:ext cx="18288000" cy="879615"/>
            <a:chOff x="0" y="0"/>
            <a:chExt cx="24384000" cy="1172820"/>
          </a:xfrm>
        </p:grpSpPr>
        <p:sp>
          <p:nvSpPr>
            <p:cNvPr id="5" name="Freeform 5"/>
            <p:cNvSpPr/>
            <p:nvPr/>
          </p:nvSpPr>
          <p:spPr>
            <a:xfrm>
              <a:off x="0" y="0"/>
              <a:ext cx="24384000" cy="1172845"/>
            </a:xfrm>
            <a:custGeom>
              <a:avLst/>
              <a:gdLst/>
              <a:ahLst/>
              <a:cxnLst/>
              <a:rect l="l" t="t" r="r" b="b"/>
              <a:pathLst>
                <a:path w="24384000" h="1172845">
                  <a:moveTo>
                    <a:pt x="0" y="0"/>
                  </a:moveTo>
                  <a:lnTo>
                    <a:pt x="24384000" y="0"/>
                  </a:lnTo>
                  <a:lnTo>
                    <a:pt x="24384000" y="1172845"/>
                  </a:lnTo>
                  <a:lnTo>
                    <a:pt x="0" y="1172845"/>
                  </a:lnTo>
                  <a:close/>
                </a:path>
              </a:pathLst>
            </a:custGeom>
            <a:solidFill>
              <a:srgbClr val="333F50"/>
            </a:solidFill>
          </p:spPr>
        </p:sp>
      </p:grpSp>
      <p:grpSp>
        <p:nvGrpSpPr>
          <p:cNvPr id="6" name="Group 6"/>
          <p:cNvGrpSpPr/>
          <p:nvPr/>
        </p:nvGrpSpPr>
        <p:grpSpPr>
          <a:xfrm>
            <a:off x="1257300" y="9534525"/>
            <a:ext cx="4114800" cy="547688"/>
            <a:chOff x="0" y="0"/>
            <a:chExt cx="5486400" cy="730250"/>
          </a:xfrm>
        </p:grpSpPr>
        <p:sp>
          <p:nvSpPr>
            <p:cNvPr id="7" name="Freeform 7"/>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2" cstate="print">
                <a:alphaModFix amt="0"/>
              </a:blip>
              <a:stretch>
                <a:fillRect t="-96391" b="-96391"/>
              </a:stretch>
            </a:blipFill>
          </p:spPr>
        </p:sp>
        <p:sp>
          <p:nvSpPr>
            <p:cNvPr id="8" name="TextBox 8"/>
            <p:cNvSpPr txBox="1"/>
            <p:nvPr/>
          </p:nvSpPr>
          <p:spPr>
            <a:xfrm>
              <a:off x="0" y="-19050"/>
              <a:ext cx="5486400" cy="749300"/>
            </a:xfrm>
            <a:prstGeom prst="rect">
              <a:avLst/>
            </a:prstGeom>
          </p:spPr>
          <p:txBody>
            <a:bodyPr lIns="0" tIns="0" rIns="0" bIns="0" rtlCol="0" anchor="ctr"/>
            <a:lstStyle/>
            <a:p>
              <a:pPr algn="l">
                <a:lnSpc>
                  <a:spcPts val="2160"/>
                </a:lnSpc>
              </a:pPr>
              <a:r>
                <a:rPr lang="en-US" sz="1800">
                  <a:solidFill>
                    <a:srgbClr val="FFFFFF"/>
                  </a:solidFill>
                  <a:latin typeface="Times New Roman"/>
                  <a:ea typeface="Times New Roman"/>
                  <a:cs typeface="Times New Roman"/>
                  <a:sym typeface="Times New Roman"/>
                </a:rPr>
                <a:t>Friday, August 1, 2025</a:t>
              </a:r>
            </a:p>
          </p:txBody>
        </p:sp>
      </p:grpSp>
      <p:grpSp>
        <p:nvGrpSpPr>
          <p:cNvPr id="9" name="Group 9"/>
          <p:cNvGrpSpPr/>
          <p:nvPr/>
        </p:nvGrpSpPr>
        <p:grpSpPr>
          <a:xfrm>
            <a:off x="6057900" y="9534525"/>
            <a:ext cx="6172200" cy="547688"/>
            <a:chOff x="0" y="0"/>
            <a:chExt cx="8229600" cy="730250"/>
          </a:xfrm>
        </p:grpSpPr>
        <p:sp>
          <p:nvSpPr>
            <p:cNvPr id="10" name="Freeform 10"/>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blipFill>
              <a:blip r:embed="rId3">
                <a:alphaModFix amt="0"/>
              </a:blip>
              <a:stretch>
                <a:fillRect t="-169587" b="-169587"/>
              </a:stretch>
            </a:blipFill>
          </p:spPr>
        </p:sp>
        <p:sp>
          <p:nvSpPr>
            <p:cNvPr id="11" name="TextBox 11"/>
            <p:cNvSpPr txBox="1"/>
            <p:nvPr/>
          </p:nvSpPr>
          <p:spPr>
            <a:xfrm>
              <a:off x="0" y="-19050"/>
              <a:ext cx="8229600" cy="749300"/>
            </a:xfrm>
            <a:prstGeom prst="rect">
              <a:avLst/>
            </a:prstGeom>
          </p:spPr>
          <p:txBody>
            <a:bodyPr lIns="0" tIns="0" rIns="0" bIns="0" rtlCol="0" anchor="ctr"/>
            <a:lstStyle/>
            <a:p>
              <a:pPr algn="ctr">
                <a:lnSpc>
                  <a:spcPts val="2160"/>
                </a:lnSpc>
              </a:pPr>
              <a:r>
                <a:rPr lang="en-US" sz="1800">
                  <a:solidFill>
                    <a:srgbClr val="FFFFFF"/>
                  </a:solidFill>
                  <a:latin typeface="Times New Roman"/>
                  <a:ea typeface="Times New Roman"/>
                  <a:cs typeface="Times New Roman"/>
                  <a:sym typeface="Times New Roman"/>
                </a:rPr>
                <a:t>Department of Computer Science &amp; Engineering, PUB</a:t>
              </a:r>
            </a:p>
          </p:txBody>
        </p:sp>
      </p:grpSp>
      <p:grpSp>
        <p:nvGrpSpPr>
          <p:cNvPr id="12" name="Group 12"/>
          <p:cNvGrpSpPr/>
          <p:nvPr/>
        </p:nvGrpSpPr>
        <p:grpSpPr>
          <a:xfrm>
            <a:off x="12915900" y="9534525"/>
            <a:ext cx="4114800" cy="547688"/>
            <a:chOff x="0" y="0"/>
            <a:chExt cx="5486400" cy="730250"/>
          </a:xfrm>
        </p:grpSpPr>
        <p:sp>
          <p:nvSpPr>
            <p:cNvPr id="13" name="Freeform 13"/>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2" cstate="print">
                <a:alphaModFix amt="0"/>
              </a:blip>
              <a:stretch>
                <a:fillRect t="-96391" b="-96391"/>
              </a:stretch>
            </a:blipFill>
          </p:spPr>
        </p:sp>
        <p:sp>
          <p:nvSpPr>
            <p:cNvPr id="14" name="TextBox 14"/>
            <p:cNvSpPr txBox="1"/>
            <p:nvPr/>
          </p:nvSpPr>
          <p:spPr>
            <a:xfrm>
              <a:off x="0" y="-19050"/>
              <a:ext cx="5486400" cy="749300"/>
            </a:xfrm>
            <a:prstGeom prst="rect">
              <a:avLst/>
            </a:prstGeom>
          </p:spPr>
          <p:txBody>
            <a:bodyPr lIns="0" tIns="0" rIns="0" bIns="0" rtlCol="0" anchor="ctr"/>
            <a:lstStyle/>
            <a:p>
              <a:pPr algn="r">
                <a:lnSpc>
                  <a:spcPts val="2160"/>
                </a:lnSpc>
              </a:pPr>
              <a:r>
                <a:rPr lang="en-US" sz="1800">
                  <a:solidFill>
                    <a:srgbClr val="FFFFFF"/>
                  </a:solidFill>
                  <a:latin typeface="Times New Roman"/>
                  <a:ea typeface="Times New Roman"/>
                  <a:cs typeface="Times New Roman"/>
                  <a:sym typeface="Times New Roman"/>
                </a:rPr>
                <a:t>12</a:t>
              </a:r>
            </a:p>
          </p:txBody>
        </p:sp>
      </p:grpSp>
      <p:grpSp>
        <p:nvGrpSpPr>
          <p:cNvPr id="15" name="Group 15"/>
          <p:cNvGrpSpPr/>
          <p:nvPr/>
        </p:nvGrpSpPr>
        <p:grpSpPr>
          <a:xfrm>
            <a:off x="769315" y="685800"/>
            <a:ext cx="888463" cy="879615"/>
            <a:chOff x="0" y="0"/>
            <a:chExt cx="1184618" cy="1172820"/>
          </a:xfrm>
        </p:grpSpPr>
        <p:sp>
          <p:nvSpPr>
            <p:cNvPr id="16" name="Freeform 16"/>
            <p:cNvSpPr/>
            <p:nvPr/>
          </p:nvSpPr>
          <p:spPr>
            <a:xfrm>
              <a:off x="0" y="0"/>
              <a:ext cx="1184656" cy="1172845"/>
            </a:xfrm>
            <a:custGeom>
              <a:avLst/>
              <a:gdLst/>
              <a:ahLst/>
              <a:cxnLst/>
              <a:rect l="l" t="t" r="r" b="b"/>
              <a:pathLst>
                <a:path w="1184656" h="1172845">
                  <a:moveTo>
                    <a:pt x="0" y="0"/>
                  </a:moveTo>
                  <a:lnTo>
                    <a:pt x="1184656" y="0"/>
                  </a:lnTo>
                  <a:lnTo>
                    <a:pt x="1184656" y="1172845"/>
                  </a:lnTo>
                  <a:lnTo>
                    <a:pt x="0" y="1172845"/>
                  </a:lnTo>
                  <a:lnTo>
                    <a:pt x="0" y="0"/>
                  </a:lnTo>
                  <a:close/>
                </a:path>
              </a:pathLst>
            </a:custGeom>
            <a:blipFill>
              <a:blip r:embed="rId4"/>
              <a:stretch>
                <a:fillRect r="3" b="2"/>
              </a:stretch>
            </a:blipFill>
          </p:spPr>
        </p:sp>
      </p:grpSp>
      <p:grpSp>
        <p:nvGrpSpPr>
          <p:cNvPr id="17" name="Group 17"/>
          <p:cNvGrpSpPr/>
          <p:nvPr/>
        </p:nvGrpSpPr>
        <p:grpSpPr>
          <a:xfrm>
            <a:off x="-19050" y="1730045"/>
            <a:ext cx="18288000" cy="27432"/>
            <a:chOff x="0" y="0"/>
            <a:chExt cx="24384000" cy="36576"/>
          </a:xfrm>
        </p:grpSpPr>
        <p:sp>
          <p:nvSpPr>
            <p:cNvPr id="18" name="Freeform 18"/>
            <p:cNvSpPr/>
            <p:nvPr/>
          </p:nvSpPr>
          <p:spPr>
            <a:xfrm>
              <a:off x="0" y="0"/>
              <a:ext cx="24384000" cy="36576"/>
            </a:xfrm>
            <a:custGeom>
              <a:avLst/>
              <a:gdLst/>
              <a:ahLst/>
              <a:cxnLst/>
              <a:rect l="l" t="t" r="r" b="b"/>
              <a:pathLst>
                <a:path w="24384000" h="36576">
                  <a:moveTo>
                    <a:pt x="0" y="0"/>
                  </a:moveTo>
                  <a:lnTo>
                    <a:pt x="24384000" y="0"/>
                  </a:lnTo>
                  <a:lnTo>
                    <a:pt x="24384000" y="36576"/>
                  </a:lnTo>
                  <a:lnTo>
                    <a:pt x="0" y="36576"/>
                  </a:lnTo>
                  <a:close/>
                </a:path>
              </a:pathLst>
            </a:custGeom>
            <a:gradFill rotWithShape="1">
              <a:gsLst>
                <a:gs pos="0">
                  <a:srgbClr val="B4C7E7">
                    <a:alpha val="100000"/>
                  </a:srgbClr>
                </a:gs>
                <a:gs pos="36000">
                  <a:srgbClr val="4D79C7">
                    <a:alpha val="100000"/>
                  </a:srgbClr>
                </a:gs>
                <a:gs pos="100000">
                  <a:srgbClr val="222A35">
                    <a:alpha val="100000"/>
                  </a:srgbClr>
                </a:gs>
              </a:gsLst>
              <a:path path="circle">
                <a:fillToRect l="50000" t="-30000" r="50000" b="130000"/>
              </a:path>
              <a:tileRect t="-160000"/>
            </a:gradFill>
          </p:spPr>
        </p:sp>
      </p:grpSp>
      <p:grpSp>
        <p:nvGrpSpPr>
          <p:cNvPr id="19" name="Group 19"/>
          <p:cNvGrpSpPr/>
          <p:nvPr/>
        </p:nvGrpSpPr>
        <p:grpSpPr>
          <a:xfrm>
            <a:off x="1910963" y="521122"/>
            <a:ext cx="15241657" cy="929716"/>
            <a:chOff x="0" y="0"/>
            <a:chExt cx="20322210" cy="1239622"/>
          </a:xfrm>
        </p:grpSpPr>
        <p:sp>
          <p:nvSpPr>
            <p:cNvPr id="20" name="Freeform 20"/>
            <p:cNvSpPr/>
            <p:nvPr/>
          </p:nvSpPr>
          <p:spPr>
            <a:xfrm>
              <a:off x="0" y="0"/>
              <a:ext cx="20322208" cy="1239626"/>
            </a:xfrm>
            <a:custGeom>
              <a:avLst/>
              <a:gdLst/>
              <a:ahLst/>
              <a:cxnLst/>
              <a:rect l="l" t="t" r="r" b="b"/>
              <a:pathLst>
                <a:path w="20322208" h="1239626">
                  <a:moveTo>
                    <a:pt x="0" y="0"/>
                  </a:moveTo>
                  <a:lnTo>
                    <a:pt x="20322208" y="0"/>
                  </a:lnTo>
                  <a:lnTo>
                    <a:pt x="20322208" y="1239626"/>
                  </a:lnTo>
                  <a:lnTo>
                    <a:pt x="0" y="1239626"/>
                  </a:lnTo>
                  <a:close/>
                </a:path>
              </a:pathLst>
            </a:custGeom>
            <a:blipFill>
              <a:blip r:embed="rId3">
                <a:alphaModFix amt="0"/>
              </a:blip>
              <a:stretch>
                <a:fillRect t="-269434" b="-269434"/>
              </a:stretch>
            </a:blipFill>
          </p:spPr>
        </p:sp>
        <p:sp>
          <p:nvSpPr>
            <p:cNvPr id="21" name="TextBox 21"/>
            <p:cNvSpPr txBox="1"/>
            <p:nvPr/>
          </p:nvSpPr>
          <p:spPr>
            <a:xfrm>
              <a:off x="0" y="28575"/>
              <a:ext cx="20322210" cy="1211047"/>
            </a:xfrm>
            <a:prstGeom prst="rect">
              <a:avLst/>
            </a:prstGeom>
          </p:spPr>
          <p:txBody>
            <a:bodyPr lIns="0" tIns="0" rIns="0" bIns="0" rtlCol="0" anchor="b"/>
            <a:lstStyle/>
            <a:p>
              <a:pPr algn="l">
                <a:lnSpc>
                  <a:spcPts val="5184"/>
                </a:lnSpc>
              </a:pPr>
              <a:r>
                <a:rPr lang="en-US" sz="4800" b="1">
                  <a:solidFill>
                    <a:srgbClr val="000000"/>
                  </a:solidFill>
                  <a:latin typeface="Times New Roman Bold"/>
                  <a:ea typeface="Times New Roman Bold"/>
                  <a:cs typeface="Times New Roman Bold"/>
                  <a:sym typeface="Times New Roman Bold"/>
                </a:rPr>
                <a:t>Expected Evaluation Plan</a:t>
              </a:r>
            </a:p>
          </p:txBody>
        </p:sp>
      </p:grpSp>
      <p:sp>
        <p:nvSpPr>
          <p:cNvPr id="22" name="TextBox 22"/>
          <p:cNvSpPr txBox="1"/>
          <p:nvPr/>
        </p:nvSpPr>
        <p:spPr>
          <a:xfrm>
            <a:off x="7789612" y="2063353"/>
            <a:ext cx="2708777" cy="389277"/>
          </a:xfrm>
          <a:prstGeom prst="rect">
            <a:avLst/>
          </a:prstGeom>
        </p:spPr>
        <p:txBody>
          <a:bodyPr lIns="0" tIns="0" rIns="0" bIns="0" rtlCol="0" anchor="t">
            <a:spAutoFit/>
          </a:bodyPr>
          <a:lstStyle/>
          <a:p>
            <a:pPr algn="l">
              <a:lnSpc>
                <a:spcPts val="2520"/>
              </a:lnSpc>
            </a:pPr>
            <a:r>
              <a:rPr lang="en-US" sz="2100" b="1">
                <a:solidFill>
                  <a:srgbClr val="000000"/>
                </a:solidFill>
                <a:latin typeface="Times New Roman Bold"/>
                <a:ea typeface="Times New Roman Bold"/>
                <a:cs typeface="Times New Roman Bold"/>
                <a:sym typeface="Times New Roman Bold"/>
              </a:rPr>
              <a:t>Table 1: </a:t>
            </a:r>
            <a:r>
              <a:rPr lang="en-US" sz="2100">
                <a:solidFill>
                  <a:srgbClr val="000000"/>
                </a:solidFill>
                <a:latin typeface="Times New Roman"/>
                <a:ea typeface="Times New Roman"/>
                <a:cs typeface="Times New Roman"/>
                <a:sym typeface="Times New Roman"/>
              </a:rPr>
              <a:t>Planned Model Comparison and Explainability Plan</a:t>
            </a:r>
          </a:p>
        </p:txBody>
      </p:sp>
      <p:graphicFrame>
        <p:nvGraphicFramePr>
          <p:cNvPr id="23" name="Table 23"/>
          <p:cNvGraphicFramePr>
            <a:graphicFrameLocks noGrp="1"/>
          </p:cNvGraphicFramePr>
          <p:nvPr/>
        </p:nvGraphicFramePr>
        <p:xfrm>
          <a:off x="1910964" y="2620154"/>
          <a:ext cx="15087601" cy="5567680"/>
        </p:xfrm>
        <a:graphic>
          <a:graphicData uri="http://schemas.openxmlformats.org/drawingml/2006/table">
            <a:tbl>
              <a:tblPr/>
              <a:tblGrid>
                <a:gridCol w="2114491"/>
                <a:gridCol w="7901685"/>
                <a:gridCol w="2539828"/>
                <a:gridCol w="2531597"/>
              </a:tblGrid>
              <a:tr h="552450">
                <a:tc>
                  <a:txBody>
                    <a:bodyPr/>
                    <a:lstStyle/>
                    <a:p>
                      <a:pPr algn="ctr">
                        <a:lnSpc>
                          <a:spcPts val="3240"/>
                        </a:lnSpc>
                        <a:defRPr/>
                      </a:pPr>
                      <a:r>
                        <a:rPr lang="en-US" sz="2700" b="1">
                          <a:solidFill>
                            <a:srgbClr val="FFFFFF"/>
                          </a:solidFill>
                          <a:latin typeface="Times New Roman Bold"/>
                          <a:ea typeface="Times New Roman Bold"/>
                          <a:cs typeface="Times New Roman Bold"/>
                          <a:sym typeface="Times New Roman Bold"/>
                        </a:rPr>
                        <a:t>Model</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3240"/>
                        </a:lnSpc>
                        <a:defRPr/>
                      </a:pPr>
                      <a:r>
                        <a:rPr lang="en-US" sz="2700" b="1">
                          <a:solidFill>
                            <a:srgbClr val="FFFFFF"/>
                          </a:solidFill>
                          <a:latin typeface="Times New Roman Bold"/>
                          <a:ea typeface="Times New Roman Bold"/>
                          <a:cs typeface="Times New Roman Bold"/>
                          <a:sym typeface="Times New Roman Bold"/>
                        </a:rPr>
                        <a:t>Role in the Study</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3240"/>
                        </a:lnSpc>
                        <a:defRPr/>
                      </a:pPr>
                      <a:r>
                        <a:rPr lang="en-US" sz="2700" b="1">
                          <a:solidFill>
                            <a:srgbClr val="FFFFFF"/>
                          </a:solidFill>
                          <a:latin typeface="Times New Roman Bold"/>
                          <a:ea typeface="Times New Roman Bold"/>
                          <a:cs typeface="Times New Roman Bold"/>
                          <a:sym typeface="Times New Roman Bold"/>
                        </a:rPr>
                        <a:t>Evaluation Metrics</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3240"/>
                        </a:lnSpc>
                        <a:defRPr/>
                      </a:pPr>
                      <a:r>
                        <a:rPr lang="en-US" sz="2700" b="1">
                          <a:solidFill>
                            <a:srgbClr val="FFFFFF"/>
                          </a:solidFill>
                          <a:latin typeface="Times New Roman Bold"/>
                          <a:ea typeface="Times New Roman Bold"/>
                          <a:cs typeface="Times New Roman Bold"/>
                          <a:sym typeface="Times New Roman Bold"/>
                        </a:rPr>
                        <a:t>Status</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r>
              <a:tr h="552450">
                <a:tc>
                  <a:txBody>
                    <a:bodyPr/>
                    <a:lstStyle/>
                    <a:p>
                      <a:pPr algn="ctr">
                        <a:lnSpc>
                          <a:spcPts val="3240"/>
                        </a:lnSpc>
                        <a:defRPr/>
                      </a:pPr>
                      <a:r>
                        <a:rPr lang="en-US" sz="2700">
                          <a:solidFill>
                            <a:srgbClr val="000000"/>
                          </a:solidFill>
                          <a:latin typeface="Times New Roman"/>
                          <a:ea typeface="Times New Roman"/>
                          <a:cs typeface="Times New Roman"/>
                          <a:sym typeface="Times New Roman"/>
                        </a:rPr>
                        <a:t>Linear Regression</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4472C4"/>
                    </a:solidFill>
                  </a:tcPr>
                </a:tc>
                <a:tc>
                  <a:txBody>
                    <a:bodyPr/>
                    <a:lstStyle/>
                    <a:p>
                      <a:pPr algn="ctr">
                        <a:lnSpc>
                          <a:spcPts val="3240"/>
                        </a:lnSpc>
                        <a:defRPr/>
                      </a:pPr>
                      <a:r>
                        <a:rPr lang="en-US" sz="2700">
                          <a:solidFill>
                            <a:srgbClr val="000000"/>
                          </a:solidFill>
                          <a:latin typeface="Calibri (MS)"/>
                          <a:ea typeface="Calibri (MS)"/>
                          <a:cs typeface="Calibri (MS)"/>
                          <a:sym typeface="Calibri (MS)"/>
                        </a:rPr>
                        <a:t>Baseline price predictor</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4472C4"/>
                    </a:solidFill>
                  </a:tcPr>
                </a:tc>
                <a:tc>
                  <a:txBody>
                    <a:bodyPr/>
                    <a:lstStyle/>
                    <a:p>
                      <a:pPr algn="ctr">
                        <a:lnSpc>
                          <a:spcPts val="3240"/>
                        </a:lnSpc>
                        <a:defRPr/>
                      </a:pPr>
                      <a:r>
                        <a:rPr lang="en-US" sz="2700">
                          <a:solidFill>
                            <a:srgbClr val="000000"/>
                          </a:solidFill>
                          <a:latin typeface="Calibri (MS)"/>
                          <a:ea typeface="Calibri (MS)"/>
                          <a:cs typeface="Calibri (MS)"/>
                          <a:sym typeface="Calibri (MS)"/>
                        </a:rPr>
                        <a:t>MAE, RMSE, R²</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4472C4"/>
                    </a:solidFill>
                  </a:tcPr>
                </a:tc>
                <a:tc>
                  <a:txBody>
                    <a:bodyPr/>
                    <a:lstStyle/>
                    <a:p>
                      <a:pPr algn="ctr">
                        <a:lnSpc>
                          <a:spcPts val="3240"/>
                        </a:lnSpc>
                        <a:defRPr/>
                      </a:pPr>
                      <a:r>
                        <a:rPr lang="en-US" sz="2700">
                          <a:solidFill>
                            <a:srgbClr val="000000"/>
                          </a:solidFill>
                          <a:latin typeface="Calibri (MS)"/>
                          <a:ea typeface="Calibri (MS)"/>
                          <a:cs typeface="Calibri (MS)"/>
                          <a:sym typeface="Calibri (MS)"/>
                        </a:rPr>
                        <a:t>Planned</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4472C4"/>
                    </a:solidFill>
                  </a:tcPr>
                </a:tc>
              </a:tr>
              <a:tr h="552450">
                <a:tc>
                  <a:txBody>
                    <a:bodyPr/>
                    <a:lstStyle/>
                    <a:p>
                      <a:pPr algn="ctr">
                        <a:lnSpc>
                          <a:spcPts val="3240"/>
                        </a:lnSpc>
                        <a:defRPr/>
                      </a:pPr>
                      <a:r>
                        <a:rPr lang="en-US" sz="2700">
                          <a:solidFill>
                            <a:srgbClr val="000000"/>
                          </a:solidFill>
                          <a:latin typeface="Times New Roman"/>
                          <a:ea typeface="Times New Roman"/>
                          <a:cs typeface="Times New Roman"/>
                          <a:sym typeface="Times New Roman"/>
                        </a:rPr>
                        <a:t>Random Forest</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3240"/>
                        </a:lnSpc>
                        <a:defRPr/>
                      </a:pPr>
                      <a:r>
                        <a:rPr lang="en-US" sz="2700">
                          <a:solidFill>
                            <a:srgbClr val="000000"/>
                          </a:solidFill>
                          <a:latin typeface="Calibri (MS)"/>
                          <a:ea typeface="Calibri (MS)"/>
                          <a:cs typeface="Calibri (MS)"/>
                          <a:sym typeface="Calibri (MS)"/>
                        </a:rPr>
                        <a:t>Non-linear baseline handling categorical features</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3240"/>
                        </a:lnSpc>
                        <a:defRPr/>
                      </a:pPr>
                      <a:r>
                        <a:rPr lang="en-US" sz="2700">
                          <a:solidFill>
                            <a:srgbClr val="000000"/>
                          </a:solidFill>
                          <a:latin typeface="Calibri (MS)"/>
                          <a:ea typeface="Calibri (MS)"/>
                          <a:cs typeface="Calibri (MS)"/>
                          <a:sym typeface="Calibri (MS)"/>
                        </a:rPr>
                        <a:t>MAE, RMSE, R²</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3240"/>
                        </a:lnSpc>
                        <a:defRPr/>
                      </a:pPr>
                      <a:r>
                        <a:rPr lang="en-US" sz="2700">
                          <a:solidFill>
                            <a:srgbClr val="000000"/>
                          </a:solidFill>
                          <a:latin typeface="Calibri (MS)"/>
                          <a:ea typeface="Calibri (MS)"/>
                          <a:cs typeface="Calibri (MS)"/>
                          <a:sym typeface="Calibri (MS)"/>
                        </a:rPr>
                        <a:t>Planned</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r>
              <a:tr h="552450">
                <a:tc>
                  <a:txBody>
                    <a:bodyPr/>
                    <a:lstStyle/>
                    <a:p>
                      <a:pPr algn="ctr">
                        <a:lnSpc>
                          <a:spcPts val="3240"/>
                        </a:lnSpc>
                        <a:defRPr/>
                      </a:pPr>
                      <a:r>
                        <a:rPr lang="en-US" sz="2700">
                          <a:solidFill>
                            <a:srgbClr val="000000"/>
                          </a:solidFill>
                          <a:latin typeface="Times New Roman"/>
                          <a:ea typeface="Times New Roman"/>
                          <a:cs typeface="Times New Roman"/>
                          <a:sym typeface="Times New Roman"/>
                        </a:rPr>
                        <a:t>XGBoost</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4472C4"/>
                    </a:solidFill>
                  </a:tcPr>
                </a:tc>
                <a:tc>
                  <a:txBody>
                    <a:bodyPr/>
                    <a:lstStyle/>
                    <a:p>
                      <a:pPr algn="ctr">
                        <a:lnSpc>
                          <a:spcPts val="3240"/>
                        </a:lnSpc>
                        <a:defRPr/>
                      </a:pPr>
                      <a:r>
                        <a:rPr lang="en-US" sz="2700">
                          <a:solidFill>
                            <a:srgbClr val="000000"/>
                          </a:solidFill>
                          <a:latin typeface="Calibri (MS)"/>
                          <a:ea typeface="Calibri (MS)"/>
                          <a:cs typeface="Calibri (MS)"/>
                          <a:sym typeface="Calibri (MS)"/>
                        </a:rPr>
                        <a:t>Primary gradient-boosted model</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4472C4"/>
                    </a:solidFill>
                  </a:tcPr>
                </a:tc>
                <a:tc>
                  <a:txBody>
                    <a:bodyPr/>
                    <a:lstStyle/>
                    <a:p>
                      <a:pPr algn="ctr">
                        <a:lnSpc>
                          <a:spcPts val="3240"/>
                        </a:lnSpc>
                        <a:defRPr/>
                      </a:pPr>
                      <a:r>
                        <a:rPr lang="en-US" sz="2700">
                          <a:solidFill>
                            <a:srgbClr val="000000"/>
                          </a:solidFill>
                          <a:latin typeface="Calibri (MS)"/>
                          <a:ea typeface="Calibri (MS)"/>
                          <a:cs typeface="Calibri (MS)"/>
                          <a:sym typeface="Calibri (MS)"/>
                        </a:rPr>
                        <a:t>MAE, RMSE, R²</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4472C4"/>
                    </a:solidFill>
                  </a:tcPr>
                </a:tc>
                <a:tc>
                  <a:txBody>
                    <a:bodyPr/>
                    <a:lstStyle/>
                    <a:p>
                      <a:pPr algn="ctr">
                        <a:lnSpc>
                          <a:spcPts val="3240"/>
                        </a:lnSpc>
                        <a:defRPr/>
                      </a:pPr>
                      <a:r>
                        <a:rPr lang="en-US" sz="2700">
                          <a:solidFill>
                            <a:srgbClr val="000000"/>
                          </a:solidFill>
                          <a:latin typeface="Calibri (MS)"/>
                          <a:ea typeface="Calibri (MS)"/>
                          <a:cs typeface="Calibri (MS)"/>
                          <a:sym typeface="Calibri (MS)"/>
                        </a:rPr>
                        <a:t>Planned</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4472C4"/>
                    </a:solidFill>
                  </a:tcPr>
                </a:tc>
              </a:tr>
              <a:tr h="552450">
                <a:tc>
                  <a:txBody>
                    <a:bodyPr/>
                    <a:lstStyle/>
                    <a:p>
                      <a:pPr algn="ctr">
                        <a:lnSpc>
                          <a:spcPts val="3240"/>
                        </a:lnSpc>
                        <a:defRPr/>
                      </a:pPr>
                      <a:r>
                        <a:rPr lang="en-US" sz="2700">
                          <a:solidFill>
                            <a:srgbClr val="000000"/>
                          </a:solidFill>
                          <a:latin typeface="Times New Roman"/>
                          <a:ea typeface="Times New Roman"/>
                          <a:cs typeface="Times New Roman"/>
                          <a:sym typeface="Times New Roman"/>
                        </a:rPr>
                        <a:t>Best Model + SHAP</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3240"/>
                        </a:lnSpc>
                        <a:defRPr/>
                      </a:pPr>
                      <a:r>
                        <a:rPr lang="en-US" sz="2700">
                          <a:solidFill>
                            <a:srgbClr val="000000"/>
                          </a:solidFill>
                          <a:latin typeface="Calibri (MS)"/>
                          <a:ea typeface="Calibri (MS)"/>
                          <a:cs typeface="Calibri (MS)"/>
                          <a:sym typeface="Calibri (MS)"/>
                        </a:rPr>
                        <a:t>Explain feature contributions (category, brand, platform, etc.)</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3240"/>
                        </a:lnSpc>
                        <a:defRPr/>
                      </a:pPr>
                      <a:r>
                        <a:rPr lang="en-US" sz="2700">
                          <a:solidFill>
                            <a:srgbClr val="000000"/>
                          </a:solidFill>
                          <a:latin typeface="Calibri (MS)"/>
                          <a:ea typeface="Calibri (MS)"/>
                          <a:cs typeface="Calibri (MS)"/>
                          <a:sym typeface="Calibri (MS)"/>
                        </a:rPr>
                        <a:t>Global &amp; local SHAP values</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3240"/>
                        </a:lnSpc>
                        <a:defRPr/>
                      </a:pPr>
                      <a:r>
                        <a:rPr lang="en-US" sz="2700">
                          <a:solidFill>
                            <a:srgbClr val="000000"/>
                          </a:solidFill>
                          <a:latin typeface="Calibri (MS)"/>
                          <a:ea typeface="Calibri (MS)"/>
                          <a:cs typeface="Calibri (MS)"/>
                          <a:sym typeface="Calibri (MS)"/>
                        </a:rPr>
                        <a:t>Planned</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r>
              <a:tr h="552450">
                <a:tc>
                  <a:txBody>
                    <a:bodyPr/>
                    <a:lstStyle/>
                    <a:p>
                      <a:pPr algn="ctr">
                        <a:lnSpc>
                          <a:spcPts val="3240"/>
                        </a:lnSpc>
                        <a:defRPr/>
                      </a:pPr>
                      <a:r>
                        <a:rPr lang="en-US" sz="2700">
                          <a:solidFill>
                            <a:srgbClr val="000000"/>
                          </a:solidFill>
                          <a:latin typeface="Times New Roman"/>
                          <a:ea typeface="Times New Roman"/>
                          <a:cs typeface="Times New Roman"/>
                          <a:sym typeface="Times New Roman"/>
                        </a:rPr>
                        <a:t>5-fold Cross-Validation</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4472C4"/>
                    </a:solidFill>
                  </a:tcPr>
                </a:tc>
                <a:tc>
                  <a:txBody>
                    <a:bodyPr/>
                    <a:lstStyle/>
                    <a:p>
                      <a:pPr algn="ctr">
                        <a:lnSpc>
                          <a:spcPts val="3240"/>
                        </a:lnSpc>
                        <a:defRPr/>
                      </a:pPr>
                      <a:r>
                        <a:rPr lang="en-US" sz="2700">
                          <a:solidFill>
                            <a:srgbClr val="000000"/>
                          </a:solidFill>
                          <a:latin typeface="Calibri (MS)"/>
                          <a:ea typeface="Calibri (MS)"/>
                          <a:cs typeface="Calibri (MS)"/>
                          <a:sym typeface="Calibri (MS)"/>
                        </a:rPr>
                        <a:t>Check robustness across data splits</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4472C4"/>
                    </a:solidFill>
                  </a:tcPr>
                </a:tc>
                <a:tc>
                  <a:txBody>
                    <a:bodyPr/>
                    <a:lstStyle/>
                    <a:p>
                      <a:pPr algn="ctr">
                        <a:lnSpc>
                          <a:spcPts val="3240"/>
                        </a:lnSpc>
                        <a:defRPr/>
                      </a:pPr>
                      <a:r>
                        <a:rPr lang="en-US" sz="2700">
                          <a:solidFill>
                            <a:srgbClr val="000000"/>
                          </a:solidFill>
                          <a:latin typeface="Calibri (MS)"/>
                          <a:ea typeface="Calibri (MS)"/>
                          <a:cs typeface="Calibri (MS)"/>
                          <a:sym typeface="Calibri (MS)"/>
                        </a:rPr>
                        <a:t>Mean ± SD of RMSE</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4472C4"/>
                    </a:solidFill>
                  </a:tcPr>
                </a:tc>
                <a:tc>
                  <a:txBody>
                    <a:bodyPr/>
                    <a:lstStyle/>
                    <a:p>
                      <a:pPr algn="ctr">
                        <a:lnSpc>
                          <a:spcPts val="3240"/>
                        </a:lnSpc>
                        <a:defRPr/>
                      </a:pPr>
                      <a:r>
                        <a:rPr lang="en-US" sz="2700">
                          <a:solidFill>
                            <a:srgbClr val="000000"/>
                          </a:solidFill>
                          <a:latin typeface="Calibri (MS)"/>
                          <a:ea typeface="Calibri (MS)"/>
                          <a:cs typeface="Calibri (MS)"/>
                          <a:sym typeface="Calibri (MS)"/>
                        </a:rPr>
                        <a:t>Planned</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4472C4"/>
                    </a:solidFill>
                  </a:tcPr>
                </a:tc>
              </a:tr>
            </a:tbl>
          </a:graphicData>
        </a:graphic>
      </p:graphicFrame>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737360"/>
            <a:chOff x="0" y="0"/>
            <a:chExt cx="24384000" cy="2316480"/>
          </a:xfrm>
        </p:grpSpPr>
        <p:sp>
          <p:nvSpPr>
            <p:cNvPr id="3" name="Freeform 3"/>
            <p:cNvSpPr/>
            <p:nvPr/>
          </p:nvSpPr>
          <p:spPr>
            <a:xfrm>
              <a:off x="0" y="0"/>
              <a:ext cx="24384000" cy="2316480"/>
            </a:xfrm>
            <a:custGeom>
              <a:avLst/>
              <a:gdLst/>
              <a:ahLst/>
              <a:cxnLst/>
              <a:rect l="l" t="t" r="r" b="b"/>
              <a:pathLst>
                <a:path w="24384000" h="2316480">
                  <a:moveTo>
                    <a:pt x="0" y="0"/>
                  </a:moveTo>
                  <a:lnTo>
                    <a:pt x="24384000" y="0"/>
                  </a:lnTo>
                  <a:lnTo>
                    <a:pt x="24384000" y="2316480"/>
                  </a:lnTo>
                  <a:lnTo>
                    <a:pt x="0" y="2316480"/>
                  </a:lnTo>
                  <a:close/>
                </a:path>
              </a:pathLst>
            </a:custGeom>
            <a:solidFill>
              <a:srgbClr val="DAE3F3"/>
            </a:solidFill>
          </p:spPr>
        </p:sp>
      </p:grpSp>
      <p:grpSp>
        <p:nvGrpSpPr>
          <p:cNvPr id="4" name="Group 4"/>
          <p:cNvGrpSpPr/>
          <p:nvPr/>
        </p:nvGrpSpPr>
        <p:grpSpPr>
          <a:xfrm>
            <a:off x="0" y="9437199"/>
            <a:ext cx="18288000" cy="879615"/>
            <a:chOff x="0" y="0"/>
            <a:chExt cx="24384000" cy="1172820"/>
          </a:xfrm>
        </p:grpSpPr>
        <p:sp>
          <p:nvSpPr>
            <p:cNvPr id="5" name="Freeform 5"/>
            <p:cNvSpPr/>
            <p:nvPr/>
          </p:nvSpPr>
          <p:spPr>
            <a:xfrm>
              <a:off x="0" y="0"/>
              <a:ext cx="24384000" cy="1172845"/>
            </a:xfrm>
            <a:custGeom>
              <a:avLst/>
              <a:gdLst/>
              <a:ahLst/>
              <a:cxnLst/>
              <a:rect l="l" t="t" r="r" b="b"/>
              <a:pathLst>
                <a:path w="24384000" h="1172845">
                  <a:moveTo>
                    <a:pt x="0" y="0"/>
                  </a:moveTo>
                  <a:lnTo>
                    <a:pt x="24384000" y="0"/>
                  </a:lnTo>
                  <a:lnTo>
                    <a:pt x="24384000" y="1172845"/>
                  </a:lnTo>
                  <a:lnTo>
                    <a:pt x="0" y="1172845"/>
                  </a:lnTo>
                  <a:close/>
                </a:path>
              </a:pathLst>
            </a:custGeom>
            <a:solidFill>
              <a:srgbClr val="333F50"/>
            </a:solidFill>
          </p:spPr>
        </p:sp>
      </p:grpSp>
      <p:grpSp>
        <p:nvGrpSpPr>
          <p:cNvPr id="6" name="Group 6"/>
          <p:cNvGrpSpPr/>
          <p:nvPr/>
        </p:nvGrpSpPr>
        <p:grpSpPr>
          <a:xfrm>
            <a:off x="1257300" y="9534525"/>
            <a:ext cx="4114800" cy="547688"/>
            <a:chOff x="0" y="0"/>
            <a:chExt cx="5486400" cy="730250"/>
          </a:xfrm>
        </p:grpSpPr>
        <p:sp>
          <p:nvSpPr>
            <p:cNvPr id="7" name="Freeform 7"/>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2" cstate="print">
                <a:alphaModFix amt="0"/>
              </a:blip>
              <a:stretch>
                <a:fillRect t="-96391" b="-96391"/>
              </a:stretch>
            </a:blipFill>
          </p:spPr>
        </p:sp>
        <p:sp>
          <p:nvSpPr>
            <p:cNvPr id="8" name="TextBox 8"/>
            <p:cNvSpPr txBox="1"/>
            <p:nvPr/>
          </p:nvSpPr>
          <p:spPr>
            <a:xfrm>
              <a:off x="0" y="-19050"/>
              <a:ext cx="5486400" cy="749300"/>
            </a:xfrm>
            <a:prstGeom prst="rect">
              <a:avLst/>
            </a:prstGeom>
          </p:spPr>
          <p:txBody>
            <a:bodyPr lIns="0" tIns="0" rIns="0" bIns="0" rtlCol="0" anchor="ctr"/>
            <a:lstStyle/>
            <a:p>
              <a:pPr algn="l">
                <a:lnSpc>
                  <a:spcPts val="2160"/>
                </a:lnSpc>
              </a:pPr>
              <a:r>
                <a:rPr lang="en-US" sz="1800">
                  <a:solidFill>
                    <a:srgbClr val="FFFFFF"/>
                  </a:solidFill>
                  <a:latin typeface="Times New Roman"/>
                  <a:ea typeface="Times New Roman"/>
                  <a:cs typeface="Times New Roman"/>
                  <a:sym typeface="Times New Roman"/>
                </a:rPr>
                <a:t>Friday, August 1, 2025</a:t>
              </a:r>
            </a:p>
          </p:txBody>
        </p:sp>
      </p:grpSp>
      <p:grpSp>
        <p:nvGrpSpPr>
          <p:cNvPr id="9" name="Group 9"/>
          <p:cNvGrpSpPr/>
          <p:nvPr/>
        </p:nvGrpSpPr>
        <p:grpSpPr>
          <a:xfrm>
            <a:off x="6057900" y="9534525"/>
            <a:ext cx="6172200" cy="547688"/>
            <a:chOff x="0" y="0"/>
            <a:chExt cx="8229600" cy="730250"/>
          </a:xfrm>
        </p:grpSpPr>
        <p:sp>
          <p:nvSpPr>
            <p:cNvPr id="10" name="Freeform 10"/>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blipFill>
              <a:blip r:embed="rId3">
                <a:alphaModFix amt="0"/>
              </a:blip>
              <a:stretch>
                <a:fillRect t="-169587" b="-169587"/>
              </a:stretch>
            </a:blipFill>
          </p:spPr>
        </p:sp>
        <p:sp>
          <p:nvSpPr>
            <p:cNvPr id="11" name="TextBox 11"/>
            <p:cNvSpPr txBox="1"/>
            <p:nvPr/>
          </p:nvSpPr>
          <p:spPr>
            <a:xfrm>
              <a:off x="0" y="-19050"/>
              <a:ext cx="8229600" cy="749300"/>
            </a:xfrm>
            <a:prstGeom prst="rect">
              <a:avLst/>
            </a:prstGeom>
          </p:spPr>
          <p:txBody>
            <a:bodyPr lIns="0" tIns="0" rIns="0" bIns="0" rtlCol="0" anchor="ctr"/>
            <a:lstStyle/>
            <a:p>
              <a:pPr algn="ctr">
                <a:lnSpc>
                  <a:spcPts val="2160"/>
                </a:lnSpc>
              </a:pPr>
              <a:r>
                <a:rPr lang="en-US" sz="1800">
                  <a:solidFill>
                    <a:srgbClr val="FFFFFF"/>
                  </a:solidFill>
                  <a:latin typeface="Times New Roman"/>
                  <a:ea typeface="Times New Roman"/>
                  <a:cs typeface="Times New Roman"/>
                  <a:sym typeface="Times New Roman"/>
                </a:rPr>
                <a:t>Department of Computer Science &amp; Engineering, PUB</a:t>
              </a:r>
            </a:p>
          </p:txBody>
        </p:sp>
      </p:grpSp>
      <p:grpSp>
        <p:nvGrpSpPr>
          <p:cNvPr id="12" name="Group 12"/>
          <p:cNvGrpSpPr/>
          <p:nvPr/>
        </p:nvGrpSpPr>
        <p:grpSpPr>
          <a:xfrm>
            <a:off x="12915900" y="9534525"/>
            <a:ext cx="4114800" cy="547688"/>
            <a:chOff x="0" y="0"/>
            <a:chExt cx="5486400" cy="730250"/>
          </a:xfrm>
        </p:grpSpPr>
        <p:sp>
          <p:nvSpPr>
            <p:cNvPr id="13" name="Freeform 13"/>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2" cstate="print">
                <a:alphaModFix amt="0"/>
              </a:blip>
              <a:stretch>
                <a:fillRect t="-96391" b="-96391"/>
              </a:stretch>
            </a:blipFill>
          </p:spPr>
        </p:sp>
        <p:sp>
          <p:nvSpPr>
            <p:cNvPr id="14" name="TextBox 14"/>
            <p:cNvSpPr txBox="1"/>
            <p:nvPr/>
          </p:nvSpPr>
          <p:spPr>
            <a:xfrm>
              <a:off x="0" y="-19050"/>
              <a:ext cx="5486400" cy="749300"/>
            </a:xfrm>
            <a:prstGeom prst="rect">
              <a:avLst/>
            </a:prstGeom>
          </p:spPr>
          <p:txBody>
            <a:bodyPr lIns="0" tIns="0" rIns="0" bIns="0" rtlCol="0" anchor="ctr"/>
            <a:lstStyle/>
            <a:p>
              <a:pPr algn="r">
                <a:lnSpc>
                  <a:spcPts val="2160"/>
                </a:lnSpc>
              </a:pPr>
              <a:r>
                <a:rPr lang="en-US" sz="1800">
                  <a:solidFill>
                    <a:srgbClr val="FFFFFF"/>
                  </a:solidFill>
                  <a:latin typeface="Times New Roman"/>
                  <a:ea typeface="Times New Roman"/>
                  <a:cs typeface="Times New Roman"/>
                  <a:sym typeface="Times New Roman"/>
                </a:rPr>
                <a:t>13</a:t>
              </a:r>
            </a:p>
          </p:txBody>
        </p:sp>
      </p:grpSp>
      <p:grpSp>
        <p:nvGrpSpPr>
          <p:cNvPr id="15" name="Group 15"/>
          <p:cNvGrpSpPr/>
          <p:nvPr/>
        </p:nvGrpSpPr>
        <p:grpSpPr>
          <a:xfrm>
            <a:off x="769315" y="685800"/>
            <a:ext cx="888463" cy="879615"/>
            <a:chOff x="0" y="0"/>
            <a:chExt cx="1184618" cy="1172820"/>
          </a:xfrm>
        </p:grpSpPr>
        <p:sp>
          <p:nvSpPr>
            <p:cNvPr id="16" name="Freeform 16"/>
            <p:cNvSpPr/>
            <p:nvPr/>
          </p:nvSpPr>
          <p:spPr>
            <a:xfrm>
              <a:off x="0" y="0"/>
              <a:ext cx="1184656" cy="1172845"/>
            </a:xfrm>
            <a:custGeom>
              <a:avLst/>
              <a:gdLst/>
              <a:ahLst/>
              <a:cxnLst/>
              <a:rect l="l" t="t" r="r" b="b"/>
              <a:pathLst>
                <a:path w="1184656" h="1172845">
                  <a:moveTo>
                    <a:pt x="0" y="0"/>
                  </a:moveTo>
                  <a:lnTo>
                    <a:pt x="1184656" y="0"/>
                  </a:lnTo>
                  <a:lnTo>
                    <a:pt x="1184656" y="1172845"/>
                  </a:lnTo>
                  <a:lnTo>
                    <a:pt x="0" y="1172845"/>
                  </a:lnTo>
                  <a:lnTo>
                    <a:pt x="0" y="0"/>
                  </a:lnTo>
                  <a:close/>
                </a:path>
              </a:pathLst>
            </a:custGeom>
            <a:blipFill>
              <a:blip r:embed="rId4"/>
              <a:stretch>
                <a:fillRect r="3" b="2"/>
              </a:stretch>
            </a:blipFill>
          </p:spPr>
        </p:sp>
      </p:grpSp>
      <p:grpSp>
        <p:nvGrpSpPr>
          <p:cNvPr id="17" name="Group 17"/>
          <p:cNvGrpSpPr/>
          <p:nvPr/>
        </p:nvGrpSpPr>
        <p:grpSpPr>
          <a:xfrm>
            <a:off x="-19050" y="1730045"/>
            <a:ext cx="18288000" cy="27432"/>
            <a:chOff x="0" y="0"/>
            <a:chExt cx="24384000" cy="36576"/>
          </a:xfrm>
        </p:grpSpPr>
        <p:sp>
          <p:nvSpPr>
            <p:cNvPr id="18" name="Freeform 18"/>
            <p:cNvSpPr/>
            <p:nvPr/>
          </p:nvSpPr>
          <p:spPr>
            <a:xfrm>
              <a:off x="0" y="0"/>
              <a:ext cx="24384000" cy="36576"/>
            </a:xfrm>
            <a:custGeom>
              <a:avLst/>
              <a:gdLst/>
              <a:ahLst/>
              <a:cxnLst/>
              <a:rect l="l" t="t" r="r" b="b"/>
              <a:pathLst>
                <a:path w="24384000" h="36576">
                  <a:moveTo>
                    <a:pt x="0" y="0"/>
                  </a:moveTo>
                  <a:lnTo>
                    <a:pt x="24384000" y="0"/>
                  </a:lnTo>
                  <a:lnTo>
                    <a:pt x="24384000" y="36576"/>
                  </a:lnTo>
                  <a:lnTo>
                    <a:pt x="0" y="36576"/>
                  </a:lnTo>
                  <a:close/>
                </a:path>
              </a:pathLst>
            </a:custGeom>
            <a:gradFill rotWithShape="1">
              <a:gsLst>
                <a:gs pos="0">
                  <a:srgbClr val="B4C7E7">
                    <a:alpha val="100000"/>
                  </a:srgbClr>
                </a:gs>
                <a:gs pos="36000">
                  <a:srgbClr val="4D79C7">
                    <a:alpha val="100000"/>
                  </a:srgbClr>
                </a:gs>
                <a:gs pos="100000">
                  <a:srgbClr val="222A35">
                    <a:alpha val="100000"/>
                  </a:srgbClr>
                </a:gs>
              </a:gsLst>
              <a:path path="circle">
                <a:fillToRect l="50000" t="-30000" r="50000" b="130000"/>
              </a:path>
              <a:tileRect t="-160000"/>
            </a:gradFill>
          </p:spPr>
        </p:sp>
      </p:grpSp>
      <p:grpSp>
        <p:nvGrpSpPr>
          <p:cNvPr id="19" name="Group 19"/>
          <p:cNvGrpSpPr/>
          <p:nvPr/>
        </p:nvGrpSpPr>
        <p:grpSpPr>
          <a:xfrm>
            <a:off x="1910963" y="521122"/>
            <a:ext cx="15241657" cy="929716"/>
            <a:chOff x="0" y="0"/>
            <a:chExt cx="20322210" cy="1239622"/>
          </a:xfrm>
        </p:grpSpPr>
        <p:sp>
          <p:nvSpPr>
            <p:cNvPr id="20" name="Freeform 20"/>
            <p:cNvSpPr/>
            <p:nvPr/>
          </p:nvSpPr>
          <p:spPr>
            <a:xfrm>
              <a:off x="0" y="0"/>
              <a:ext cx="20322208" cy="1239626"/>
            </a:xfrm>
            <a:custGeom>
              <a:avLst/>
              <a:gdLst/>
              <a:ahLst/>
              <a:cxnLst/>
              <a:rect l="l" t="t" r="r" b="b"/>
              <a:pathLst>
                <a:path w="20322208" h="1239626">
                  <a:moveTo>
                    <a:pt x="0" y="0"/>
                  </a:moveTo>
                  <a:lnTo>
                    <a:pt x="20322208" y="0"/>
                  </a:lnTo>
                  <a:lnTo>
                    <a:pt x="20322208" y="1239626"/>
                  </a:lnTo>
                  <a:lnTo>
                    <a:pt x="0" y="1239626"/>
                  </a:lnTo>
                  <a:close/>
                </a:path>
              </a:pathLst>
            </a:custGeom>
            <a:blipFill>
              <a:blip r:embed="rId3">
                <a:alphaModFix amt="0"/>
              </a:blip>
              <a:stretch>
                <a:fillRect t="-269434" b="-269434"/>
              </a:stretch>
            </a:blipFill>
          </p:spPr>
        </p:sp>
        <p:sp>
          <p:nvSpPr>
            <p:cNvPr id="21" name="TextBox 21"/>
            <p:cNvSpPr txBox="1"/>
            <p:nvPr/>
          </p:nvSpPr>
          <p:spPr>
            <a:xfrm>
              <a:off x="0" y="28575"/>
              <a:ext cx="20322210" cy="1211047"/>
            </a:xfrm>
            <a:prstGeom prst="rect">
              <a:avLst/>
            </a:prstGeom>
          </p:spPr>
          <p:txBody>
            <a:bodyPr lIns="0" tIns="0" rIns="0" bIns="0" rtlCol="0" anchor="b"/>
            <a:lstStyle/>
            <a:p>
              <a:pPr algn="l">
                <a:lnSpc>
                  <a:spcPts val="5184"/>
                </a:lnSpc>
              </a:pPr>
              <a:r>
                <a:rPr lang="en-US" sz="4800" b="1">
                  <a:solidFill>
                    <a:srgbClr val="000000"/>
                  </a:solidFill>
                  <a:latin typeface="Times New Roman Bold"/>
                  <a:ea typeface="Times New Roman Bold"/>
                  <a:cs typeface="Times New Roman Bold"/>
                  <a:sym typeface="Times New Roman Bold"/>
                </a:rPr>
                <a:t>Exploratory Data Insights</a:t>
              </a:r>
            </a:p>
          </p:txBody>
        </p:sp>
      </p:grpSp>
      <p:grpSp>
        <p:nvGrpSpPr>
          <p:cNvPr id="22" name="Group 22"/>
          <p:cNvGrpSpPr/>
          <p:nvPr/>
        </p:nvGrpSpPr>
        <p:grpSpPr>
          <a:xfrm>
            <a:off x="1910963" y="2709929"/>
            <a:ext cx="15119737" cy="2215991"/>
            <a:chOff x="0" y="0"/>
            <a:chExt cx="20159650" cy="2954655"/>
          </a:xfrm>
        </p:grpSpPr>
        <p:sp>
          <p:nvSpPr>
            <p:cNvPr id="23" name="Freeform 23"/>
            <p:cNvSpPr/>
            <p:nvPr/>
          </p:nvSpPr>
          <p:spPr>
            <a:xfrm>
              <a:off x="0" y="0"/>
              <a:ext cx="20159650" cy="2954656"/>
            </a:xfrm>
            <a:custGeom>
              <a:avLst/>
              <a:gdLst/>
              <a:ahLst/>
              <a:cxnLst/>
              <a:rect l="l" t="t" r="r" b="b"/>
              <a:pathLst>
                <a:path w="20159650" h="2954656">
                  <a:moveTo>
                    <a:pt x="0" y="0"/>
                  </a:moveTo>
                  <a:lnTo>
                    <a:pt x="20159650" y="0"/>
                  </a:lnTo>
                  <a:lnTo>
                    <a:pt x="20159650" y="2954656"/>
                  </a:lnTo>
                  <a:lnTo>
                    <a:pt x="0" y="2954656"/>
                  </a:lnTo>
                  <a:close/>
                </a:path>
              </a:pathLst>
            </a:custGeom>
            <a:blipFill>
              <a:blip r:embed="rId3">
                <a:alphaModFix amt="0"/>
              </a:blip>
              <a:stretch>
                <a:fillRect t="-82946" b="-82946"/>
              </a:stretch>
            </a:blipFill>
          </p:spPr>
        </p:sp>
        <p:sp>
          <p:nvSpPr>
            <p:cNvPr id="24" name="TextBox 24"/>
            <p:cNvSpPr txBox="1"/>
            <p:nvPr/>
          </p:nvSpPr>
          <p:spPr>
            <a:xfrm>
              <a:off x="0" y="-19050"/>
              <a:ext cx="20159650" cy="2973705"/>
            </a:xfrm>
            <a:prstGeom prst="rect">
              <a:avLst/>
            </a:prstGeom>
          </p:spPr>
          <p:txBody>
            <a:bodyPr lIns="0" tIns="0" rIns="0" bIns="0" rtlCol="0" anchor="ctr"/>
            <a:lstStyle/>
            <a:p>
              <a:pPr marL="488632" lvl="1" indent="-244316" algn="l">
                <a:lnSpc>
                  <a:spcPts val="3240"/>
                </a:lnSpc>
                <a:buFont typeface="Arial"/>
                <a:buChar char="•"/>
              </a:pPr>
              <a:r>
                <a:rPr lang="en-US" sz="2700">
                  <a:solidFill>
                    <a:srgbClr val="000000"/>
                  </a:solidFill>
                  <a:latin typeface="Times New Roman"/>
                  <a:ea typeface="Times New Roman"/>
                  <a:cs typeface="Times New Roman"/>
                  <a:sym typeface="Times New Roman"/>
                </a:rPr>
                <a:t>Platform split: 4,536 listings are from Pickaboo and 1,959 from Daraz, out of 6,504 scraped listings in total</a:t>
              </a:r>
            </a:p>
            <a:p>
              <a:pPr marL="488632" lvl="1" indent="-244316" algn="l">
                <a:lnSpc>
                  <a:spcPts val="3240"/>
                </a:lnSpc>
                <a:buFont typeface="Arial"/>
                <a:buChar char="•"/>
              </a:pPr>
              <a:r>
                <a:rPr lang="en-US" sz="2700">
                  <a:solidFill>
                    <a:srgbClr val="000000"/>
                  </a:solidFill>
                  <a:latin typeface="Times New Roman"/>
                  <a:ea typeface="Times New Roman"/>
                  <a:cs typeface="Times New Roman"/>
                  <a:sym typeface="Times New Roman"/>
                </a:rPr>
                <a:t>Category mix: audio accessories are the largest group (~23%), followed by power &amp; cable accessories (~21%) and keyboards &amp; mice (~10%)</a:t>
              </a:r>
            </a:p>
            <a:p>
              <a:pPr marL="488632" lvl="1" indent="-244316" algn="l">
                <a:lnSpc>
                  <a:spcPts val="3240"/>
                </a:lnSpc>
                <a:buFont typeface="Arial"/>
                <a:buChar char="•"/>
              </a:pPr>
              <a:r>
                <a:rPr lang="en-US" sz="2700">
                  <a:solidFill>
                    <a:srgbClr val="000000"/>
                  </a:solidFill>
                  <a:latin typeface="Times New Roman"/>
                  <a:ea typeface="Times New Roman"/>
                  <a:cs typeface="Times New Roman"/>
                  <a:sym typeface="Times New Roman"/>
                </a:rPr>
                <a:t>Price spread: category strongly drives price — median price is about Tk 37,700 for laptops and Tk 22,200 for monitors, versus roughly Tk 500–600 for cables and audio accessories</a:t>
              </a:r>
            </a:p>
            <a:p>
              <a:pPr marL="488632" lvl="1" indent="-244316" algn="l">
                <a:lnSpc>
                  <a:spcPts val="3240"/>
                </a:lnSpc>
                <a:buFont typeface="Arial"/>
                <a:buChar char="•"/>
              </a:pPr>
              <a:r>
                <a:rPr lang="en-US" sz="2700">
                  <a:solidFill>
                    <a:srgbClr val="000000"/>
                  </a:solidFill>
                  <a:latin typeface="Times New Roman"/>
                  <a:ea typeface="Times New Roman"/>
                  <a:cs typeface="Times New Roman"/>
                  <a:sym typeface="Times New Roman"/>
                </a:rPr>
                <a:t>Brand coverage: about 28% of listings show "No Brand," concentrated mostly on Daraz</a:t>
              </a:r>
            </a:p>
            <a:p>
              <a:pPr marL="488632" lvl="1" indent="-244316" algn="l">
                <a:lnSpc>
                  <a:spcPts val="3240"/>
                </a:lnSpc>
                <a:buFont typeface="Arial"/>
                <a:buChar char="•"/>
              </a:pPr>
              <a:r>
                <a:rPr lang="en-US" sz="2700">
                  <a:solidFill>
                    <a:srgbClr val="000000"/>
                  </a:solidFill>
                  <a:latin typeface="Times New Roman"/>
                  <a:ea typeface="Times New Roman"/>
                  <a:cs typeface="Times New Roman"/>
                  <a:sym typeface="Times New Roman"/>
                </a:rPr>
                <a:t>Rating coverage: only about 1,800 of 6,504 listings (≈28%) carry a customer rating, so rating will be used as a secondary feature</a:t>
              </a:r>
            </a:p>
          </p:txBody>
        </p:sp>
      </p:gr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737360"/>
            <a:chOff x="0" y="0"/>
            <a:chExt cx="24384000" cy="2316480"/>
          </a:xfrm>
        </p:grpSpPr>
        <p:sp>
          <p:nvSpPr>
            <p:cNvPr id="3" name="Freeform 3"/>
            <p:cNvSpPr/>
            <p:nvPr/>
          </p:nvSpPr>
          <p:spPr>
            <a:xfrm>
              <a:off x="0" y="0"/>
              <a:ext cx="24384000" cy="2316480"/>
            </a:xfrm>
            <a:custGeom>
              <a:avLst/>
              <a:gdLst/>
              <a:ahLst/>
              <a:cxnLst/>
              <a:rect l="l" t="t" r="r" b="b"/>
              <a:pathLst>
                <a:path w="24384000" h="2316480">
                  <a:moveTo>
                    <a:pt x="0" y="0"/>
                  </a:moveTo>
                  <a:lnTo>
                    <a:pt x="24384000" y="0"/>
                  </a:lnTo>
                  <a:lnTo>
                    <a:pt x="24384000" y="2316480"/>
                  </a:lnTo>
                  <a:lnTo>
                    <a:pt x="0" y="2316480"/>
                  </a:lnTo>
                  <a:close/>
                </a:path>
              </a:pathLst>
            </a:custGeom>
            <a:solidFill>
              <a:srgbClr val="DAE3F3"/>
            </a:solidFill>
          </p:spPr>
        </p:sp>
      </p:grpSp>
      <p:grpSp>
        <p:nvGrpSpPr>
          <p:cNvPr id="4" name="Group 4"/>
          <p:cNvGrpSpPr/>
          <p:nvPr/>
        </p:nvGrpSpPr>
        <p:grpSpPr>
          <a:xfrm>
            <a:off x="0" y="9437199"/>
            <a:ext cx="18288000" cy="879615"/>
            <a:chOff x="0" y="0"/>
            <a:chExt cx="24384000" cy="1172820"/>
          </a:xfrm>
        </p:grpSpPr>
        <p:sp>
          <p:nvSpPr>
            <p:cNvPr id="5" name="Freeform 5"/>
            <p:cNvSpPr/>
            <p:nvPr/>
          </p:nvSpPr>
          <p:spPr>
            <a:xfrm>
              <a:off x="0" y="0"/>
              <a:ext cx="24384000" cy="1172845"/>
            </a:xfrm>
            <a:custGeom>
              <a:avLst/>
              <a:gdLst/>
              <a:ahLst/>
              <a:cxnLst/>
              <a:rect l="l" t="t" r="r" b="b"/>
              <a:pathLst>
                <a:path w="24384000" h="1172845">
                  <a:moveTo>
                    <a:pt x="0" y="0"/>
                  </a:moveTo>
                  <a:lnTo>
                    <a:pt x="24384000" y="0"/>
                  </a:lnTo>
                  <a:lnTo>
                    <a:pt x="24384000" y="1172845"/>
                  </a:lnTo>
                  <a:lnTo>
                    <a:pt x="0" y="1172845"/>
                  </a:lnTo>
                  <a:close/>
                </a:path>
              </a:pathLst>
            </a:custGeom>
            <a:solidFill>
              <a:srgbClr val="333F50"/>
            </a:solidFill>
          </p:spPr>
        </p:sp>
      </p:grpSp>
      <p:grpSp>
        <p:nvGrpSpPr>
          <p:cNvPr id="6" name="Group 6"/>
          <p:cNvGrpSpPr/>
          <p:nvPr/>
        </p:nvGrpSpPr>
        <p:grpSpPr>
          <a:xfrm>
            <a:off x="1257300" y="9534525"/>
            <a:ext cx="4114800" cy="547688"/>
            <a:chOff x="0" y="0"/>
            <a:chExt cx="5486400" cy="730250"/>
          </a:xfrm>
        </p:grpSpPr>
        <p:sp>
          <p:nvSpPr>
            <p:cNvPr id="7" name="Freeform 7"/>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2" cstate="print">
                <a:alphaModFix amt="0"/>
              </a:blip>
              <a:stretch>
                <a:fillRect t="-96391" b="-96391"/>
              </a:stretch>
            </a:blipFill>
          </p:spPr>
        </p:sp>
        <p:sp>
          <p:nvSpPr>
            <p:cNvPr id="8" name="TextBox 8"/>
            <p:cNvSpPr txBox="1"/>
            <p:nvPr/>
          </p:nvSpPr>
          <p:spPr>
            <a:xfrm>
              <a:off x="0" y="-19050"/>
              <a:ext cx="5486400" cy="749300"/>
            </a:xfrm>
            <a:prstGeom prst="rect">
              <a:avLst/>
            </a:prstGeom>
          </p:spPr>
          <p:txBody>
            <a:bodyPr lIns="0" tIns="0" rIns="0" bIns="0" rtlCol="0" anchor="ctr"/>
            <a:lstStyle/>
            <a:p>
              <a:pPr algn="l">
                <a:lnSpc>
                  <a:spcPts val="2160"/>
                </a:lnSpc>
              </a:pPr>
              <a:r>
                <a:rPr lang="en-US" sz="1800">
                  <a:solidFill>
                    <a:srgbClr val="FFFFFF"/>
                  </a:solidFill>
                  <a:latin typeface="Times New Roman"/>
                  <a:ea typeface="Times New Roman"/>
                  <a:cs typeface="Times New Roman"/>
                  <a:sym typeface="Times New Roman"/>
                </a:rPr>
                <a:t>Friday, August 1, 2025</a:t>
              </a:r>
            </a:p>
          </p:txBody>
        </p:sp>
      </p:grpSp>
      <p:grpSp>
        <p:nvGrpSpPr>
          <p:cNvPr id="9" name="Group 9"/>
          <p:cNvGrpSpPr/>
          <p:nvPr/>
        </p:nvGrpSpPr>
        <p:grpSpPr>
          <a:xfrm>
            <a:off x="6057900" y="9534525"/>
            <a:ext cx="6172200" cy="547688"/>
            <a:chOff x="0" y="0"/>
            <a:chExt cx="8229600" cy="730250"/>
          </a:xfrm>
        </p:grpSpPr>
        <p:sp>
          <p:nvSpPr>
            <p:cNvPr id="10" name="Freeform 10"/>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blipFill>
              <a:blip r:embed="rId3">
                <a:alphaModFix amt="0"/>
              </a:blip>
              <a:stretch>
                <a:fillRect t="-169587" b="-169587"/>
              </a:stretch>
            </a:blipFill>
          </p:spPr>
        </p:sp>
        <p:sp>
          <p:nvSpPr>
            <p:cNvPr id="11" name="TextBox 11"/>
            <p:cNvSpPr txBox="1"/>
            <p:nvPr/>
          </p:nvSpPr>
          <p:spPr>
            <a:xfrm>
              <a:off x="0" y="-19050"/>
              <a:ext cx="8229600" cy="749300"/>
            </a:xfrm>
            <a:prstGeom prst="rect">
              <a:avLst/>
            </a:prstGeom>
          </p:spPr>
          <p:txBody>
            <a:bodyPr lIns="0" tIns="0" rIns="0" bIns="0" rtlCol="0" anchor="ctr"/>
            <a:lstStyle/>
            <a:p>
              <a:pPr algn="ctr">
                <a:lnSpc>
                  <a:spcPts val="2160"/>
                </a:lnSpc>
              </a:pPr>
              <a:r>
                <a:rPr lang="en-US" sz="1800">
                  <a:solidFill>
                    <a:srgbClr val="FFFFFF"/>
                  </a:solidFill>
                  <a:latin typeface="Times New Roman"/>
                  <a:ea typeface="Times New Roman"/>
                  <a:cs typeface="Times New Roman"/>
                  <a:sym typeface="Times New Roman"/>
                </a:rPr>
                <a:t>Department of Computer Science &amp; Engineering, PUB</a:t>
              </a:r>
            </a:p>
          </p:txBody>
        </p:sp>
      </p:grpSp>
      <p:grpSp>
        <p:nvGrpSpPr>
          <p:cNvPr id="12" name="Group 12"/>
          <p:cNvGrpSpPr/>
          <p:nvPr/>
        </p:nvGrpSpPr>
        <p:grpSpPr>
          <a:xfrm>
            <a:off x="12915900" y="9534525"/>
            <a:ext cx="4114800" cy="547688"/>
            <a:chOff x="0" y="0"/>
            <a:chExt cx="5486400" cy="730250"/>
          </a:xfrm>
        </p:grpSpPr>
        <p:sp>
          <p:nvSpPr>
            <p:cNvPr id="13" name="Freeform 13"/>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2" cstate="print">
                <a:alphaModFix amt="0"/>
              </a:blip>
              <a:stretch>
                <a:fillRect t="-96391" b="-96391"/>
              </a:stretch>
            </a:blipFill>
          </p:spPr>
        </p:sp>
        <p:sp>
          <p:nvSpPr>
            <p:cNvPr id="14" name="TextBox 14"/>
            <p:cNvSpPr txBox="1"/>
            <p:nvPr/>
          </p:nvSpPr>
          <p:spPr>
            <a:xfrm>
              <a:off x="0" y="-19050"/>
              <a:ext cx="5486400" cy="749300"/>
            </a:xfrm>
            <a:prstGeom prst="rect">
              <a:avLst/>
            </a:prstGeom>
          </p:spPr>
          <p:txBody>
            <a:bodyPr lIns="0" tIns="0" rIns="0" bIns="0" rtlCol="0" anchor="ctr"/>
            <a:lstStyle/>
            <a:p>
              <a:pPr algn="r">
                <a:lnSpc>
                  <a:spcPts val="2160"/>
                </a:lnSpc>
              </a:pPr>
              <a:r>
                <a:rPr lang="en-US" sz="1800">
                  <a:solidFill>
                    <a:srgbClr val="FFFFFF"/>
                  </a:solidFill>
                  <a:latin typeface="Times New Roman"/>
                  <a:ea typeface="Times New Roman"/>
                  <a:cs typeface="Times New Roman"/>
                  <a:sym typeface="Times New Roman"/>
                </a:rPr>
                <a:t>14</a:t>
              </a:r>
            </a:p>
          </p:txBody>
        </p:sp>
      </p:grpSp>
      <p:grpSp>
        <p:nvGrpSpPr>
          <p:cNvPr id="15" name="Group 15"/>
          <p:cNvGrpSpPr/>
          <p:nvPr/>
        </p:nvGrpSpPr>
        <p:grpSpPr>
          <a:xfrm>
            <a:off x="769315" y="685800"/>
            <a:ext cx="888463" cy="879615"/>
            <a:chOff x="0" y="0"/>
            <a:chExt cx="1184618" cy="1172820"/>
          </a:xfrm>
        </p:grpSpPr>
        <p:sp>
          <p:nvSpPr>
            <p:cNvPr id="16" name="Freeform 16"/>
            <p:cNvSpPr/>
            <p:nvPr/>
          </p:nvSpPr>
          <p:spPr>
            <a:xfrm>
              <a:off x="0" y="0"/>
              <a:ext cx="1184656" cy="1172845"/>
            </a:xfrm>
            <a:custGeom>
              <a:avLst/>
              <a:gdLst/>
              <a:ahLst/>
              <a:cxnLst/>
              <a:rect l="l" t="t" r="r" b="b"/>
              <a:pathLst>
                <a:path w="1184656" h="1172845">
                  <a:moveTo>
                    <a:pt x="0" y="0"/>
                  </a:moveTo>
                  <a:lnTo>
                    <a:pt x="1184656" y="0"/>
                  </a:lnTo>
                  <a:lnTo>
                    <a:pt x="1184656" y="1172845"/>
                  </a:lnTo>
                  <a:lnTo>
                    <a:pt x="0" y="1172845"/>
                  </a:lnTo>
                  <a:lnTo>
                    <a:pt x="0" y="0"/>
                  </a:lnTo>
                  <a:close/>
                </a:path>
              </a:pathLst>
            </a:custGeom>
            <a:blipFill>
              <a:blip r:embed="rId4"/>
              <a:stretch>
                <a:fillRect r="3" b="2"/>
              </a:stretch>
            </a:blipFill>
          </p:spPr>
        </p:sp>
      </p:grpSp>
      <p:grpSp>
        <p:nvGrpSpPr>
          <p:cNvPr id="17" name="Group 17"/>
          <p:cNvGrpSpPr/>
          <p:nvPr/>
        </p:nvGrpSpPr>
        <p:grpSpPr>
          <a:xfrm>
            <a:off x="-19050" y="1730045"/>
            <a:ext cx="18288000" cy="27432"/>
            <a:chOff x="0" y="0"/>
            <a:chExt cx="24384000" cy="36576"/>
          </a:xfrm>
        </p:grpSpPr>
        <p:sp>
          <p:nvSpPr>
            <p:cNvPr id="18" name="Freeform 18"/>
            <p:cNvSpPr/>
            <p:nvPr/>
          </p:nvSpPr>
          <p:spPr>
            <a:xfrm>
              <a:off x="0" y="0"/>
              <a:ext cx="24384000" cy="36576"/>
            </a:xfrm>
            <a:custGeom>
              <a:avLst/>
              <a:gdLst/>
              <a:ahLst/>
              <a:cxnLst/>
              <a:rect l="l" t="t" r="r" b="b"/>
              <a:pathLst>
                <a:path w="24384000" h="36576">
                  <a:moveTo>
                    <a:pt x="0" y="0"/>
                  </a:moveTo>
                  <a:lnTo>
                    <a:pt x="24384000" y="0"/>
                  </a:lnTo>
                  <a:lnTo>
                    <a:pt x="24384000" y="36576"/>
                  </a:lnTo>
                  <a:lnTo>
                    <a:pt x="0" y="36576"/>
                  </a:lnTo>
                  <a:close/>
                </a:path>
              </a:pathLst>
            </a:custGeom>
            <a:gradFill rotWithShape="1">
              <a:gsLst>
                <a:gs pos="0">
                  <a:srgbClr val="B4C7E7">
                    <a:alpha val="100000"/>
                  </a:srgbClr>
                </a:gs>
                <a:gs pos="36000">
                  <a:srgbClr val="4D79C7">
                    <a:alpha val="100000"/>
                  </a:srgbClr>
                </a:gs>
                <a:gs pos="100000">
                  <a:srgbClr val="222A35">
                    <a:alpha val="100000"/>
                  </a:srgbClr>
                </a:gs>
              </a:gsLst>
              <a:path path="circle">
                <a:fillToRect l="50000" t="-30000" r="50000" b="130000"/>
              </a:path>
              <a:tileRect t="-160000"/>
            </a:gradFill>
          </p:spPr>
        </p:sp>
      </p:grpSp>
      <p:grpSp>
        <p:nvGrpSpPr>
          <p:cNvPr id="19" name="Group 19"/>
          <p:cNvGrpSpPr/>
          <p:nvPr/>
        </p:nvGrpSpPr>
        <p:grpSpPr>
          <a:xfrm>
            <a:off x="1910963" y="521122"/>
            <a:ext cx="15241657" cy="929716"/>
            <a:chOff x="0" y="0"/>
            <a:chExt cx="20322210" cy="1239622"/>
          </a:xfrm>
        </p:grpSpPr>
        <p:sp>
          <p:nvSpPr>
            <p:cNvPr id="20" name="Freeform 20"/>
            <p:cNvSpPr/>
            <p:nvPr/>
          </p:nvSpPr>
          <p:spPr>
            <a:xfrm>
              <a:off x="0" y="0"/>
              <a:ext cx="20322208" cy="1239626"/>
            </a:xfrm>
            <a:custGeom>
              <a:avLst/>
              <a:gdLst/>
              <a:ahLst/>
              <a:cxnLst/>
              <a:rect l="l" t="t" r="r" b="b"/>
              <a:pathLst>
                <a:path w="20322208" h="1239626">
                  <a:moveTo>
                    <a:pt x="0" y="0"/>
                  </a:moveTo>
                  <a:lnTo>
                    <a:pt x="20322208" y="0"/>
                  </a:lnTo>
                  <a:lnTo>
                    <a:pt x="20322208" y="1239626"/>
                  </a:lnTo>
                  <a:lnTo>
                    <a:pt x="0" y="1239626"/>
                  </a:lnTo>
                  <a:close/>
                </a:path>
              </a:pathLst>
            </a:custGeom>
            <a:blipFill>
              <a:blip r:embed="rId3">
                <a:alphaModFix amt="0"/>
              </a:blip>
              <a:stretch>
                <a:fillRect t="-269434" b="-269434"/>
              </a:stretch>
            </a:blipFill>
          </p:spPr>
        </p:sp>
        <p:sp>
          <p:nvSpPr>
            <p:cNvPr id="21" name="TextBox 21"/>
            <p:cNvSpPr txBox="1"/>
            <p:nvPr/>
          </p:nvSpPr>
          <p:spPr>
            <a:xfrm>
              <a:off x="0" y="28575"/>
              <a:ext cx="20322210" cy="1211047"/>
            </a:xfrm>
            <a:prstGeom prst="rect">
              <a:avLst/>
            </a:prstGeom>
          </p:spPr>
          <p:txBody>
            <a:bodyPr lIns="0" tIns="0" rIns="0" bIns="0" rtlCol="0" anchor="b"/>
            <a:lstStyle/>
            <a:p>
              <a:pPr algn="l">
                <a:lnSpc>
                  <a:spcPts val="5184"/>
                </a:lnSpc>
              </a:pPr>
              <a:r>
                <a:rPr lang="en-US" sz="4800" b="1">
                  <a:solidFill>
                    <a:srgbClr val="000000"/>
                  </a:solidFill>
                  <a:latin typeface="Times New Roman Bold"/>
                  <a:ea typeface="Times New Roman Bold"/>
                  <a:cs typeface="Times New Roman Bold"/>
                  <a:sym typeface="Times New Roman Bold"/>
                </a:rPr>
                <a:t>Beneficiaries</a:t>
              </a:r>
            </a:p>
          </p:txBody>
        </p:sp>
      </p:grpSp>
      <p:grpSp>
        <p:nvGrpSpPr>
          <p:cNvPr id="22" name="Group 22"/>
          <p:cNvGrpSpPr/>
          <p:nvPr/>
        </p:nvGrpSpPr>
        <p:grpSpPr>
          <a:xfrm>
            <a:off x="1910963" y="2488387"/>
            <a:ext cx="15119737" cy="3313834"/>
            <a:chOff x="0" y="0"/>
            <a:chExt cx="20159650" cy="4418445"/>
          </a:xfrm>
        </p:grpSpPr>
        <p:sp>
          <p:nvSpPr>
            <p:cNvPr id="23" name="Freeform 23"/>
            <p:cNvSpPr/>
            <p:nvPr/>
          </p:nvSpPr>
          <p:spPr>
            <a:xfrm>
              <a:off x="0" y="0"/>
              <a:ext cx="20159650" cy="4418449"/>
            </a:xfrm>
            <a:custGeom>
              <a:avLst/>
              <a:gdLst/>
              <a:ahLst/>
              <a:cxnLst/>
              <a:rect l="l" t="t" r="r" b="b"/>
              <a:pathLst>
                <a:path w="20159650" h="4418449">
                  <a:moveTo>
                    <a:pt x="0" y="0"/>
                  </a:moveTo>
                  <a:lnTo>
                    <a:pt x="20159650" y="0"/>
                  </a:lnTo>
                  <a:lnTo>
                    <a:pt x="20159650" y="4418449"/>
                  </a:lnTo>
                  <a:lnTo>
                    <a:pt x="0" y="4418449"/>
                  </a:lnTo>
                  <a:close/>
                </a:path>
              </a:pathLst>
            </a:custGeom>
            <a:blipFill>
              <a:blip r:embed="rId3">
                <a:alphaModFix amt="0"/>
              </a:blip>
              <a:stretch>
                <a:fillRect t="-68005" b="-9799"/>
              </a:stretch>
            </a:blipFill>
          </p:spPr>
        </p:sp>
        <p:sp>
          <p:nvSpPr>
            <p:cNvPr id="24" name="TextBox 24"/>
            <p:cNvSpPr txBox="1"/>
            <p:nvPr/>
          </p:nvSpPr>
          <p:spPr>
            <a:xfrm>
              <a:off x="0" y="-19050"/>
              <a:ext cx="20159650" cy="4437495"/>
            </a:xfrm>
            <a:prstGeom prst="rect">
              <a:avLst/>
            </a:prstGeom>
          </p:spPr>
          <p:txBody>
            <a:bodyPr lIns="0" tIns="0" rIns="0" bIns="0" rtlCol="0" anchor="ctr"/>
            <a:lstStyle/>
            <a:p>
              <a:pPr marL="488632" lvl="1" indent="-244316" algn="l">
                <a:lnSpc>
                  <a:spcPts val="3240"/>
                </a:lnSpc>
                <a:buFont typeface="Arial"/>
                <a:buChar char="•"/>
              </a:pPr>
              <a:r>
                <a:rPr lang="en-US" sz="2700">
                  <a:solidFill>
                    <a:srgbClr val="000000"/>
                  </a:solidFill>
                  <a:latin typeface="Times New Roman"/>
                  <a:ea typeface="Times New Roman"/>
                  <a:cs typeface="Times New Roman"/>
                  <a:sym typeface="Times New Roman"/>
                </a:rPr>
                <a:t>Online shoppers: can quickly check whether a listed electronics price is reasonable before buying</a:t>
              </a:r>
            </a:p>
            <a:p>
              <a:pPr marL="488632" lvl="1" indent="-244316" algn="l">
                <a:lnSpc>
                  <a:spcPts val="3240"/>
                </a:lnSpc>
                <a:buFont typeface="Arial"/>
                <a:buChar char="•"/>
              </a:pPr>
              <a:r>
                <a:rPr lang="en-US" sz="2700">
                  <a:solidFill>
                    <a:srgbClr val="000000"/>
                  </a:solidFill>
                  <a:latin typeface="Times New Roman"/>
                  <a:ea typeface="Times New Roman"/>
                  <a:cs typeface="Times New Roman"/>
                  <a:sym typeface="Times New Roman"/>
                </a:rPr>
                <a:t>Sellers and platforms (Daraz, Pickaboo, and similar marketplaces): get a data-driven reference for setting competitive prices</a:t>
              </a:r>
            </a:p>
            <a:p>
              <a:pPr marL="488632" lvl="1" indent="-244316" algn="l">
                <a:lnSpc>
                  <a:spcPts val="3240"/>
                </a:lnSpc>
                <a:buFont typeface="Arial"/>
                <a:buChar char="•"/>
              </a:pPr>
              <a:r>
                <a:rPr lang="en-US" sz="2700">
                  <a:solidFill>
                    <a:srgbClr val="000000"/>
                  </a:solidFill>
                  <a:latin typeface="Times New Roman"/>
                  <a:ea typeface="Times New Roman"/>
                  <a:cs typeface="Times New Roman"/>
                  <a:sym typeface="Times New Roman"/>
                </a:rPr>
                <a:t>Researchers and students: gain a reusable, cleaned Bangladeshi e-commerce dataset and pipeline for future machine learning studies</a:t>
              </a:r>
            </a:p>
          </p:txBody>
        </p:sp>
      </p:gr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737360"/>
            <a:chOff x="0" y="0"/>
            <a:chExt cx="24384000" cy="2316480"/>
          </a:xfrm>
        </p:grpSpPr>
        <p:sp>
          <p:nvSpPr>
            <p:cNvPr id="3" name="Freeform 3"/>
            <p:cNvSpPr/>
            <p:nvPr/>
          </p:nvSpPr>
          <p:spPr>
            <a:xfrm>
              <a:off x="0" y="0"/>
              <a:ext cx="24384000" cy="2316480"/>
            </a:xfrm>
            <a:custGeom>
              <a:avLst/>
              <a:gdLst/>
              <a:ahLst/>
              <a:cxnLst/>
              <a:rect l="l" t="t" r="r" b="b"/>
              <a:pathLst>
                <a:path w="24384000" h="2316480">
                  <a:moveTo>
                    <a:pt x="0" y="0"/>
                  </a:moveTo>
                  <a:lnTo>
                    <a:pt x="24384000" y="0"/>
                  </a:lnTo>
                  <a:lnTo>
                    <a:pt x="24384000" y="2316480"/>
                  </a:lnTo>
                  <a:lnTo>
                    <a:pt x="0" y="2316480"/>
                  </a:lnTo>
                  <a:close/>
                </a:path>
              </a:pathLst>
            </a:custGeom>
            <a:solidFill>
              <a:srgbClr val="DAE3F3"/>
            </a:solidFill>
          </p:spPr>
        </p:sp>
      </p:grpSp>
      <p:grpSp>
        <p:nvGrpSpPr>
          <p:cNvPr id="4" name="Group 4"/>
          <p:cNvGrpSpPr/>
          <p:nvPr/>
        </p:nvGrpSpPr>
        <p:grpSpPr>
          <a:xfrm>
            <a:off x="0" y="9437199"/>
            <a:ext cx="18288000" cy="879615"/>
            <a:chOff x="0" y="0"/>
            <a:chExt cx="24384000" cy="1172820"/>
          </a:xfrm>
        </p:grpSpPr>
        <p:sp>
          <p:nvSpPr>
            <p:cNvPr id="5" name="Freeform 5"/>
            <p:cNvSpPr/>
            <p:nvPr/>
          </p:nvSpPr>
          <p:spPr>
            <a:xfrm>
              <a:off x="0" y="0"/>
              <a:ext cx="24384000" cy="1172845"/>
            </a:xfrm>
            <a:custGeom>
              <a:avLst/>
              <a:gdLst/>
              <a:ahLst/>
              <a:cxnLst/>
              <a:rect l="l" t="t" r="r" b="b"/>
              <a:pathLst>
                <a:path w="24384000" h="1172845">
                  <a:moveTo>
                    <a:pt x="0" y="0"/>
                  </a:moveTo>
                  <a:lnTo>
                    <a:pt x="24384000" y="0"/>
                  </a:lnTo>
                  <a:lnTo>
                    <a:pt x="24384000" y="1172845"/>
                  </a:lnTo>
                  <a:lnTo>
                    <a:pt x="0" y="1172845"/>
                  </a:lnTo>
                  <a:close/>
                </a:path>
              </a:pathLst>
            </a:custGeom>
            <a:solidFill>
              <a:srgbClr val="333F50"/>
            </a:solidFill>
          </p:spPr>
        </p:sp>
      </p:grpSp>
      <p:grpSp>
        <p:nvGrpSpPr>
          <p:cNvPr id="6" name="Group 6"/>
          <p:cNvGrpSpPr/>
          <p:nvPr/>
        </p:nvGrpSpPr>
        <p:grpSpPr>
          <a:xfrm>
            <a:off x="1257300" y="9534525"/>
            <a:ext cx="4114800" cy="547688"/>
            <a:chOff x="0" y="0"/>
            <a:chExt cx="5486400" cy="730250"/>
          </a:xfrm>
        </p:grpSpPr>
        <p:sp>
          <p:nvSpPr>
            <p:cNvPr id="7" name="Freeform 7"/>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2" cstate="print">
                <a:alphaModFix amt="0"/>
              </a:blip>
              <a:stretch>
                <a:fillRect t="-96391" b="-96391"/>
              </a:stretch>
            </a:blipFill>
          </p:spPr>
        </p:sp>
        <p:sp>
          <p:nvSpPr>
            <p:cNvPr id="8" name="TextBox 8"/>
            <p:cNvSpPr txBox="1"/>
            <p:nvPr/>
          </p:nvSpPr>
          <p:spPr>
            <a:xfrm>
              <a:off x="0" y="-19050"/>
              <a:ext cx="5486400" cy="749300"/>
            </a:xfrm>
            <a:prstGeom prst="rect">
              <a:avLst/>
            </a:prstGeom>
          </p:spPr>
          <p:txBody>
            <a:bodyPr lIns="0" tIns="0" rIns="0" bIns="0" rtlCol="0" anchor="ctr"/>
            <a:lstStyle/>
            <a:p>
              <a:pPr algn="l">
                <a:lnSpc>
                  <a:spcPts val="2160"/>
                </a:lnSpc>
              </a:pPr>
              <a:r>
                <a:rPr lang="en-US" sz="1800">
                  <a:solidFill>
                    <a:srgbClr val="FFFFFF"/>
                  </a:solidFill>
                  <a:latin typeface="Times New Roman"/>
                  <a:ea typeface="Times New Roman"/>
                  <a:cs typeface="Times New Roman"/>
                  <a:sym typeface="Times New Roman"/>
                </a:rPr>
                <a:t>Friday, August 1, 2025</a:t>
              </a:r>
            </a:p>
          </p:txBody>
        </p:sp>
      </p:grpSp>
      <p:grpSp>
        <p:nvGrpSpPr>
          <p:cNvPr id="9" name="Group 9"/>
          <p:cNvGrpSpPr/>
          <p:nvPr/>
        </p:nvGrpSpPr>
        <p:grpSpPr>
          <a:xfrm>
            <a:off x="6057900" y="9534525"/>
            <a:ext cx="6172200" cy="547688"/>
            <a:chOff x="0" y="0"/>
            <a:chExt cx="8229600" cy="730250"/>
          </a:xfrm>
        </p:grpSpPr>
        <p:sp>
          <p:nvSpPr>
            <p:cNvPr id="10" name="Freeform 10"/>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blipFill>
              <a:blip r:embed="rId3">
                <a:alphaModFix amt="0"/>
              </a:blip>
              <a:stretch>
                <a:fillRect t="-169587" b="-169587"/>
              </a:stretch>
            </a:blipFill>
          </p:spPr>
        </p:sp>
        <p:sp>
          <p:nvSpPr>
            <p:cNvPr id="11" name="TextBox 11"/>
            <p:cNvSpPr txBox="1"/>
            <p:nvPr/>
          </p:nvSpPr>
          <p:spPr>
            <a:xfrm>
              <a:off x="0" y="-19050"/>
              <a:ext cx="8229600" cy="749300"/>
            </a:xfrm>
            <a:prstGeom prst="rect">
              <a:avLst/>
            </a:prstGeom>
          </p:spPr>
          <p:txBody>
            <a:bodyPr lIns="0" tIns="0" rIns="0" bIns="0" rtlCol="0" anchor="ctr"/>
            <a:lstStyle/>
            <a:p>
              <a:pPr algn="ctr">
                <a:lnSpc>
                  <a:spcPts val="2160"/>
                </a:lnSpc>
              </a:pPr>
              <a:r>
                <a:rPr lang="en-US" sz="1800">
                  <a:solidFill>
                    <a:srgbClr val="FFFFFF"/>
                  </a:solidFill>
                  <a:latin typeface="Times New Roman"/>
                  <a:ea typeface="Times New Roman"/>
                  <a:cs typeface="Times New Roman"/>
                  <a:sym typeface="Times New Roman"/>
                </a:rPr>
                <a:t>Department of Computer Science &amp; Engineering, PUB</a:t>
              </a:r>
            </a:p>
          </p:txBody>
        </p:sp>
      </p:grpSp>
      <p:grpSp>
        <p:nvGrpSpPr>
          <p:cNvPr id="12" name="Group 12"/>
          <p:cNvGrpSpPr/>
          <p:nvPr/>
        </p:nvGrpSpPr>
        <p:grpSpPr>
          <a:xfrm>
            <a:off x="12915900" y="9534525"/>
            <a:ext cx="4114800" cy="547688"/>
            <a:chOff x="0" y="0"/>
            <a:chExt cx="5486400" cy="730250"/>
          </a:xfrm>
        </p:grpSpPr>
        <p:sp>
          <p:nvSpPr>
            <p:cNvPr id="13" name="Freeform 13"/>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2" cstate="print">
                <a:alphaModFix amt="0"/>
              </a:blip>
              <a:stretch>
                <a:fillRect t="-96391" b="-96391"/>
              </a:stretch>
            </a:blipFill>
          </p:spPr>
        </p:sp>
        <p:sp>
          <p:nvSpPr>
            <p:cNvPr id="14" name="TextBox 14"/>
            <p:cNvSpPr txBox="1"/>
            <p:nvPr/>
          </p:nvSpPr>
          <p:spPr>
            <a:xfrm>
              <a:off x="0" y="-19050"/>
              <a:ext cx="5486400" cy="749300"/>
            </a:xfrm>
            <a:prstGeom prst="rect">
              <a:avLst/>
            </a:prstGeom>
          </p:spPr>
          <p:txBody>
            <a:bodyPr lIns="0" tIns="0" rIns="0" bIns="0" rtlCol="0" anchor="ctr"/>
            <a:lstStyle/>
            <a:p>
              <a:pPr algn="r">
                <a:lnSpc>
                  <a:spcPts val="2160"/>
                </a:lnSpc>
              </a:pPr>
              <a:r>
                <a:rPr lang="en-US" sz="1800">
                  <a:solidFill>
                    <a:srgbClr val="FFFFFF"/>
                  </a:solidFill>
                  <a:latin typeface="Times New Roman"/>
                  <a:ea typeface="Times New Roman"/>
                  <a:cs typeface="Times New Roman"/>
                  <a:sym typeface="Times New Roman"/>
                </a:rPr>
                <a:t>15</a:t>
              </a:r>
            </a:p>
          </p:txBody>
        </p:sp>
      </p:grpSp>
      <p:grpSp>
        <p:nvGrpSpPr>
          <p:cNvPr id="15" name="Group 15"/>
          <p:cNvGrpSpPr/>
          <p:nvPr/>
        </p:nvGrpSpPr>
        <p:grpSpPr>
          <a:xfrm>
            <a:off x="769315" y="685800"/>
            <a:ext cx="888463" cy="879615"/>
            <a:chOff x="0" y="0"/>
            <a:chExt cx="1184618" cy="1172820"/>
          </a:xfrm>
        </p:grpSpPr>
        <p:sp>
          <p:nvSpPr>
            <p:cNvPr id="16" name="Freeform 16"/>
            <p:cNvSpPr/>
            <p:nvPr/>
          </p:nvSpPr>
          <p:spPr>
            <a:xfrm>
              <a:off x="0" y="0"/>
              <a:ext cx="1184656" cy="1172845"/>
            </a:xfrm>
            <a:custGeom>
              <a:avLst/>
              <a:gdLst/>
              <a:ahLst/>
              <a:cxnLst/>
              <a:rect l="l" t="t" r="r" b="b"/>
              <a:pathLst>
                <a:path w="1184656" h="1172845">
                  <a:moveTo>
                    <a:pt x="0" y="0"/>
                  </a:moveTo>
                  <a:lnTo>
                    <a:pt x="1184656" y="0"/>
                  </a:lnTo>
                  <a:lnTo>
                    <a:pt x="1184656" y="1172845"/>
                  </a:lnTo>
                  <a:lnTo>
                    <a:pt x="0" y="1172845"/>
                  </a:lnTo>
                  <a:lnTo>
                    <a:pt x="0" y="0"/>
                  </a:lnTo>
                  <a:close/>
                </a:path>
              </a:pathLst>
            </a:custGeom>
            <a:blipFill>
              <a:blip r:embed="rId4"/>
              <a:stretch>
                <a:fillRect r="3" b="2"/>
              </a:stretch>
            </a:blipFill>
          </p:spPr>
        </p:sp>
      </p:grpSp>
      <p:grpSp>
        <p:nvGrpSpPr>
          <p:cNvPr id="17" name="Group 17"/>
          <p:cNvGrpSpPr/>
          <p:nvPr/>
        </p:nvGrpSpPr>
        <p:grpSpPr>
          <a:xfrm>
            <a:off x="-19050" y="1730045"/>
            <a:ext cx="18288000" cy="27432"/>
            <a:chOff x="0" y="0"/>
            <a:chExt cx="24384000" cy="36576"/>
          </a:xfrm>
        </p:grpSpPr>
        <p:sp>
          <p:nvSpPr>
            <p:cNvPr id="18" name="Freeform 18"/>
            <p:cNvSpPr/>
            <p:nvPr/>
          </p:nvSpPr>
          <p:spPr>
            <a:xfrm>
              <a:off x="0" y="0"/>
              <a:ext cx="24384000" cy="36576"/>
            </a:xfrm>
            <a:custGeom>
              <a:avLst/>
              <a:gdLst/>
              <a:ahLst/>
              <a:cxnLst/>
              <a:rect l="l" t="t" r="r" b="b"/>
              <a:pathLst>
                <a:path w="24384000" h="36576">
                  <a:moveTo>
                    <a:pt x="0" y="0"/>
                  </a:moveTo>
                  <a:lnTo>
                    <a:pt x="24384000" y="0"/>
                  </a:lnTo>
                  <a:lnTo>
                    <a:pt x="24384000" y="36576"/>
                  </a:lnTo>
                  <a:lnTo>
                    <a:pt x="0" y="36576"/>
                  </a:lnTo>
                  <a:close/>
                </a:path>
              </a:pathLst>
            </a:custGeom>
            <a:gradFill rotWithShape="1">
              <a:gsLst>
                <a:gs pos="0">
                  <a:srgbClr val="B4C7E7">
                    <a:alpha val="100000"/>
                  </a:srgbClr>
                </a:gs>
                <a:gs pos="36000">
                  <a:srgbClr val="4D79C7">
                    <a:alpha val="100000"/>
                  </a:srgbClr>
                </a:gs>
                <a:gs pos="100000">
                  <a:srgbClr val="222A35">
                    <a:alpha val="100000"/>
                  </a:srgbClr>
                </a:gs>
              </a:gsLst>
              <a:path path="circle">
                <a:fillToRect l="50000" t="-30000" r="50000" b="130000"/>
              </a:path>
              <a:tileRect t="-160000"/>
            </a:gradFill>
          </p:spPr>
        </p:sp>
      </p:grpSp>
      <p:grpSp>
        <p:nvGrpSpPr>
          <p:cNvPr id="19" name="Group 19"/>
          <p:cNvGrpSpPr/>
          <p:nvPr/>
        </p:nvGrpSpPr>
        <p:grpSpPr>
          <a:xfrm>
            <a:off x="1910963" y="521122"/>
            <a:ext cx="15241657" cy="929716"/>
            <a:chOff x="0" y="0"/>
            <a:chExt cx="20322210" cy="1239622"/>
          </a:xfrm>
        </p:grpSpPr>
        <p:sp>
          <p:nvSpPr>
            <p:cNvPr id="20" name="Freeform 20"/>
            <p:cNvSpPr/>
            <p:nvPr/>
          </p:nvSpPr>
          <p:spPr>
            <a:xfrm>
              <a:off x="0" y="0"/>
              <a:ext cx="20322208" cy="1239626"/>
            </a:xfrm>
            <a:custGeom>
              <a:avLst/>
              <a:gdLst/>
              <a:ahLst/>
              <a:cxnLst/>
              <a:rect l="l" t="t" r="r" b="b"/>
              <a:pathLst>
                <a:path w="20322208" h="1239626">
                  <a:moveTo>
                    <a:pt x="0" y="0"/>
                  </a:moveTo>
                  <a:lnTo>
                    <a:pt x="20322208" y="0"/>
                  </a:lnTo>
                  <a:lnTo>
                    <a:pt x="20322208" y="1239626"/>
                  </a:lnTo>
                  <a:lnTo>
                    <a:pt x="0" y="1239626"/>
                  </a:lnTo>
                  <a:close/>
                </a:path>
              </a:pathLst>
            </a:custGeom>
            <a:blipFill>
              <a:blip r:embed="rId3">
                <a:alphaModFix amt="0"/>
              </a:blip>
              <a:stretch>
                <a:fillRect t="-269434" b="-269434"/>
              </a:stretch>
            </a:blipFill>
          </p:spPr>
        </p:sp>
        <p:sp>
          <p:nvSpPr>
            <p:cNvPr id="21" name="TextBox 21"/>
            <p:cNvSpPr txBox="1"/>
            <p:nvPr/>
          </p:nvSpPr>
          <p:spPr>
            <a:xfrm>
              <a:off x="0" y="28575"/>
              <a:ext cx="20322210" cy="1211047"/>
            </a:xfrm>
            <a:prstGeom prst="rect">
              <a:avLst/>
            </a:prstGeom>
          </p:spPr>
          <p:txBody>
            <a:bodyPr lIns="0" tIns="0" rIns="0" bIns="0" rtlCol="0" anchor="b"/>
            <a:lstStyle/>
            <a:p>
              <a:pPr algn="l">
                <a:lnSpc>
                  <a:spcPts val="5184"/>
                </a:lnSpc>
              </a:pPr>
              <a:r>
                <a:rPr lang="en-US" sz="4800" b="1">
                  <a:solidFill>
                    <a:srgbClr val="000000"/>
                  </a:solidFill>
                  <a:latin typeface="Times New Roman Bold"/>
                  <a:ea typeface="Times New Roman Bold"/>
                  <a:cs typeface="Times New Roman Bold"/>
                  <a:sym typeface="Times New Roman Bold"/>
                </a:rPr>
                <a:t>Conclusion</a:t>
              </a:r>
            </a:p>
          </p:txBody>
        </p:sp>
      </p:grpSp>
      <p:sp>
        <p:nvSpPr>
          <p:cNvPr id="22" name="TextBox 22"/>
          <p:cNvSpPr txBox="1"/>
          <p:nvPr/>
        </p:nvSpPr>
        <p:spPr>
          <a:xfrm>
            <a:off x="2002403" y="2351665"/>
            <a:ext cx="14683664" cy="4427611"/>
          </a:xfrm>
          <a:prstGeom prst="rect">
            <a:avLst/>
          </a:prstGeom>
        </p:spPr>
        <p:txBody>
          <a:bodyPr lIns="0" tIns="0" rIns="0" bIns="0" rtlCol="0" anchor="t">
            <a:spAutoFit/>
          </a:bodyPr>
          <a:lstStyle/>
          <a:p>
            <a:pPr algn="just">
              <a:lnSpc>
                <a:spcPts val="3240"/>
              </a:lnSpc>
            </a:pPr>
            <a:r>
              <a:rPr lang="en-US" sz="2700">
                <a:solidFill>
                  <a:srgbClr val="000000"/>
                </a:solidFill>
                <a:latin typeface="Times New Roman"/>
                <a:ea typeface="Times New Roman"/>
                <a:cs typeface="Times New Roman"/>
                <a:sym typeface="Times New Roman"/>
              </a:rPr>
              <a:t>This thesis proposes an explainable machine learning framework to predict the price of consumer electronics listed on Bangladeshi e-commerce platforms, using real listings scraped from Daraz and Pickaboo. By comparing Linear Regression, Random Forest, and XGBoost, and applying SHAP to explain the strongest model, the work aims to show not just how accurately price can be predicted, but which product attributes — such as category, brand, and platform — drive it. If successful, the resulting model and its explanations can help buyers judge fair pricing and give sellers and platforms a transparent, data-driven pricing reference for Bangladesh’s growing electronics market.</a:t>
            </a: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737360"/>
            <a:chOff x="0" y="0"/>
            <a:chExt cx="24384000" cy="2316480"/>
          </a:xfrm>
        </p:grpSpPr>
        <p:sp>
          <p:nvSpPr>
            <p:cNvPr id="3" name="Freeform 3"/>
            <p:cNvSpPr/>
            <p:nvPr/>
          </p:nvSpPr>
          <p:spPr>
            <a:xfrm>
              <a:off x="0" y="0"/>
              <a:ext cx="24384000" cy="2316480"/>
            </a:xfrm>
            <a:custGeom>
              <a:avLst/>
              <a:gdLst/>
              <a:ahLst/>
              <a:cxnLst/>
              <a:rect l="l" t="t" r="r" b="b"/>
              <a:pathLst>
                <a:path w="24384000" h="2316480">
                  <a:moveTo>
                    <a:pt x="0" y="0"/>
                  </a:moveTo>
                  <a:lnTo>
                    <a:pt x="24384000" y="0"/>
                  </a:lnTo>
                  <a:lnTo>
                    <a:pt x="24384000" y="2316480"/>
                  </a:lnTo>
                  <a:lnTo>
                    <a:pt x="0" y="2316480"/>
                  </a:lnTo>
                  <a:close/>
                </a:path>
              </a:pathLst>
            </a:custGeom>
            <a:solidFill>
              <a:srgbClr val="DAE3F3"/>
            </a:solidFill>
          </p:spPr>
        </p:sp>
      </p:grpSp>
      <p:grpSp>
        <p:nvGrpSpPr>
          <p:cNvPr id="4" name="Group 4"/>
          <p:cNvGrpSpPr/>
          <p:nvPr/>
        </p:nvGrpSpPr>
        <p:grpSpPr>
          <a:xfrm>
            <a:off x="0" y="9437199"/>
            <a:ext cx="18288000" cy="879615"/>
            <a:chOff x="0" y="0"/>
            <a:chExt cx="24384000" cy="1172820"/>
          </a:xfrm>
        </p:grpSpPr>
        <p:sp>
          <p:nvSpPr>
            <p:cNvPr id="5" name="Freeform 5"/>
            <p:cNvSpPr/>
            <p:nvPr/>
          </p:nvSpPr>
          <p:spPr>
            <a:xfrm>
              <a:off x="0" y="0"/>
              <a:ext cx="24384000" cy="1172845"/>
            </a:xfrm>
            <a:custGeom>
              <a:avLst/>
              <a:gdLst/>
              <a:ahLst/>
              <a:cxnLst/>
              <a:rect l="l" t="t" r="r" b="b"/>
              <a:pathLst>
                <a:path w="24384000" h="1172845">
                  <a:moveTo>
                    <a:pt x="0" y="0"/>
                  </a:moveTo>
                  <a:lnTo>
                    <a:pt x="24384000" y="0"/>
                  </a:lnTo>
                  <a:lnTo>
                    <a:pt x="24384000" y="1172845"/>
                  </a:lnTo>
                  <a:lnTo>
                    <a:pt x="0" y="1172845"/>
                  </a:lnTo>
                  <a:close/>
                </a:path>
              </a:pathLst>
            </a:custGeom>
            <a:solidFill>
              <a:srgbClr val="333F50"/>
            </a:solidFill>
          </p:spPr>
        </p:sp>
      </p:grpSp>
      <p:grpSp>
        <p:nvGrpSpPr>
          <p:cNvPr id="6" name="Group 6"/>
          <p:cNvGrpSpPr/>
          <p:nvPr/>
        </p:nvGrpSpPr>
        <p:grpSpPr>
          <a:xfrm>
            <a:off x="1257300" y="9534525"/>
            <a:ext cx="4114800" cy="547688"/>
            <a:chOff x="0" y="0"/>
            <a:chExt cx="5486400" cy="730250"/>
          </a:xfrm>
        </p:grpSpPr>
        <p:sp>
          <p:nvSpPr>
            <p:cNvPr id="7" name="Freeform 7"/>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2" cstate="print">
                <a:alphaModFix amt="0"/>
              </a:blip>
              <a:stretch>
                <a:fillRect t="-96391" b="-96391"/>
              </a:stretch>
            </a:blipFill>
          </p:spPr>
        </p:sp>
        <p:sp>
          <p:nvSpPr>
            <p:cNvPr id="8" name="TextBox 8"/>
            <p:cNvSpPr txBox="1"/>
            <p:nvPr/>
          </p:nvSpPr>
          <p:spPr>
            <a:xfrm>
              <a:off x="0" y="-19050"/>
              <a:ext cx="5486400" cy="749300"/>
            </a:xfrm>
            <a:prstGeom prst="rect">
              <a:avLst/>
            </a:prstGeom>
          </p:spPr>
          <p:txBody>
            <a:bodyPr lIns="0" tIns="0" rIns="0" bIns="0" rtlCol="0" anchor="ctr"/>
            <a:lstStyle/>
            <a:p>
              <a:pPr algn="l">
                <a:lnSpc>
                  <a:spcPts val="2160"/>
                </a:lnSpc>
              </a:pPr>
              <a:r>
                <a:rPr lang="en-US" sz="1800">
                  <a:solidFill>
                    <a:srgbClr val="FFFFFF"/>
                  </a:solidFill>
                  <a:latin typeface="Times New Roman"/>
                  <a:ea typeface="Times New Roman"/>
                  <a:cs typeface="Times New Roman"/>
                  <a:sym typeface="Times New Roman"/>
                </a:rPr>
                <a:t>Friday, August 1, 2025</a:t>
              </a:r>
            </a:p>
          </p:txBody>
        </p:sp>
      </p:grpSp>
      <p:grpSp>
        <p:nvGrpSpPr>
          <p:cNvPr id="9" name="Group 9"/>
          <p:cNvGrpSpPr/>
          <p:nvPr/>
        </p:nvGrpSpPr>
        <p:grpSpPr>
          <a:xfrm>
            <a:off x="6057900" y="9534525"/>
            <a:ext cx="6172200" cy="547688"/>
            <a:chOff x="0" y="0"/>
            <a:chExt cx="8229600" cy="730250"/>
          </a:xfrm>
        </p:grpSpPr>
        <p:sp>
          <p:nvSpPr>
            <p:cNvPr id="10" name="Freeform 10"/>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blipFill>
              <a:blip r:embed="rId3">
                <a:alphaModFix amt="0"/>
              </a:blip>
              <a:stretch>
                <a:fillRect t="-169587" b="-169587"/>
              </a:stretch>
            </a:blipFill>
          </p:spPr>
        </p:sp>
        <p:sp>
          <p:nvSpPr>
            <p:cNvPr id="11" name="TextBox 11"/>
            <p:cNvSpPr txBox="1"/>
            <p:nvPr/>
          </p:nvSpPr>
          <p:spPr>
            <a:xfrm>
              <a:off x="0" y="-19050"/>
              <a:ext cx="8229600" cy="749300"/>
            </a:xfrm>
            <a:prstGeom prst="rect">
              <a:avLst/>
            </a:prstGeom>
          </p:spPr>
          <p:txBody>
            <a:bodyPr lIns="0" tIns="0" rIns="0" bIns="0" rtlCol="0" anchor="ctr"/>
            <a:lstStyle/>
            <a:p>
              <a:pPr algn="ctr">
                <a:lnSpc>
                  <a:spcPts val="2160"/>
                </a:lnSpc>
              </a:pPr>
              <a:r>
                <a:rPr lang="en-US" sz="1800">
                  <a:solidFill>
                    <a:srgbClr val="FFFFFF"/>
                  </a:solidFill>
                  <a:latin typeface="Times New Roman"/>
                  <a:ea typeface="Times New Roman"/>
                  <a:cs typeface="Times New Roman"/>
                  <a:sym typeface="Times New Roman"/>
                </a:rPr>
                <a:t>Department of Computer Science &amp; Engineering, PUB</a:t>
              </a:r>
            </a:p>
          </p:txBody>
        </p:sp>
      </p:grpSp>
      <p:grpSp>
        <p:nvGrpSpPr>
          <p:cNvPr id="12" name="Group 12"/>
          <p:cNvGrpSpPr/>
          <p:nvPr/>
        </p:nvGrpSpPr>
        <p:grpSpPr>
          <a:xfrm>
            <a:off x="12915900" y="9534525"/>
            <a:ext cx="4114800" cy="547688"/>
            <a:chOff x="0" y="0"/>
            <a:chExt cx="5486400" cy="730250"/>
          </a:xfrm>
        </p:grpSpPr>
        <p:sp>
          <p:nvSpPr>
            <p:cNvPr id="13" name="Freeform 13"/>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2" cstate="print">
                <a:alphaModFix amt="0"/>
              </a:blip>
              <a:stretch>
                <a:fillRect t="-96391" b="-96391"/>
              </a:stretch>
            </a:blipFill>
          </p:spPr>
        </p:sp>
        <p:sp>
          <p:nvSpPr>
            <p:cNvPr id="14" name="TextBox 14"/>
            <p:cNvSpPr txBox="1"/>
            <p:nvPr/>
          </p:nvSpPr>
          <p:spPr>
            <a:xfrm>
              <a:off x="0" y="-19050"/>
              <a:ext cx="5486400" cy="749300"/>
            </a:xfrm>
            <a:prstGeom prst="rect">
              <a:avLst/>
            </a:prstGeom>
          </p:spPr>
          <p:txBody>
            <a:bodyPr lIns="0" tIns="0" rIns="0" bIns="0" rtlCol="0" anchor="ctr"/>
            <a:lstStyle/>
            <a:p>
              <a:pPr algn="r">
                <a:lnSpc>
                  <a:spcPts val="2160"/>
                </a:lnSpc>
              </a:pPr>
              <a:r>
                <a:rPr lang="en-US" sz="1800">
                  <a:solidFill>
                    <a:srgbClr val="FFFFFF"/>
                  </a:solidFill>
                  <a:latin typeface="Times New Roman"/>
                  <a:ea typeface="Times New Roman"/>
                  <a:cs typeface="Times New Roman"/>
                  <a:sym typeface="Times New Roman"/>
                </a:rPr>
                <a:t>16</a:t>
              </a:r>
            </a:p>
          </p:txBody>
        </p:sp>
      </p:grpSp>
      <p:grpSp>
        <p:nvGrpSpPr>
          <p:cNvPr id="15" name="Group 15"/>
          <p:cNvGrpSpPr/>
          <p:nvPr/>
        </p:nvGrpSpPr>
        <p:grpSpPr>
          <a:xfrm>
            <a:off x="769315" y="685800"/>
            <a:ext cx="888463" cy="879615"/>
            <a:chOff x="0" y="0"/>
            <a:chExt cx="1184618" cy="1172820"/>
          </a:xfrm>
        </p:grpSpPr>
        <p:sp>
          <p:nvSpPr>
            <p:cNvPr id="16" name="Freeform 16"/>
            <p:cNvSpPr/>
            <p:nvPr/>
          </p:nvSpPr>
          <p:spPr>
            <a:xfrm>
              <a:off x="0" y="0"/>
              <a:ext cx="1184656" cy="1172845"/>
            </a:xfrm>
            <a:custGeom>
              <a:avLst/>
              <a:gdLst/>
              <a:ahLst/>
              <a:cxnLst/>
              <a:rect l="l" t="t" r="r" b="b"/>
              <a:pathLst>
                <a:path w="1184656" h="1172845">
                  <a:moveTo>
                    <a:pt x="0" y="0"/>
                  </a:moveTo>
                  <a:lnTo>
                    <a:pt x="1184656" y="0"/>
                  </a:lnTo>
                  <a:lnTo>
                    <a:pt x="1184656" y="1172845"/>
                  </a:lnTo>
                  <a:lnTo>
                    <a:pt x="0" y="1172845"/>
                  </a:lnTo>
                  <a:lnTo>
                    <a:pt x="0" y="0"/>
                  </a:lnTo>
                  <a:close/>
                </a:path>
              </a:pathLst>
            </a:custGeom>
            <a:blipFill>
              <a:blip r:embed="rId4"/>
              <a:stretch>
                <a:fillRect r="3" b="2"/>
              </a:stretch>
            </a:blipFill>
          </p:spPr>
        </p:sp>
      </p:grpSp>
      <p:grpSp>
        <p:nvGrpSpPr>
          <p:cNvPr id="17" name="Group 17"/>
          <p:cNvGrpSpPr/>
          <p:nvPr/>
        </p:nvGrpSpPr>
        <p:grpSpPr>
          <a:xfrm>
            <a:off x="-19050" y="1730045"/>
            <a:ext cx="18288000" cy="27432"/>
            <a:chOff x="0" y="0"/>
            <a:chExt cx="24384000" cy="36576"/>
          </a:xfrm>
        </p:grpSpPr>
        <p:sp>
          <p:nvSpPr>
            <p:cNvPr id="18" name="Freeform 18"/>
            <p:cNvSpPr/>
            <p:nvPr/>
          </p:nvSpPr>
          <p:spPr>
            <a:xfrm>
              <a:off x="0" y="0"/>
              <a:ext cx="24384000" cy="36576"/>
            </a:xfrm>
            <a:custGeom>
              <a:avLst/>
              <a:gdLst/>
              <a:ahLst/>
              <a:cxnLst/>
              <a:rect l="l" t="t" r="r" b="b"/>
              <a:pathLst>
                <a:path w="24384000" h="36576">
                  <a:moveTo>
                    <a:pt x="0" y="0"/>
                  </a:moveTo>
                  <a:lnTo>
                    <a:pt x="24384000" y="0"/>
                  </a:lnTo>
                  <a:lnTo>
                    <a:pt x="24384000" y="36576"/>
                  </a:lnTo>
                  <a:lnTo>
                    <a:pt x="0" y="36576"/>
                  </a:lnTo>
                  <a:close/>
                </a:path>
              </a:pathLst>
            </a:custGeom>
            <a:gradFill rotWithShape="1">
              <a:gsLst>
                <a:gs pos="0">
                  <a:srgbClr val="B4C7E7">
                    <a:alpha val="100000"/>
                  </a:srgbClr>
                </a:gs>
                <a:gs pos="36000">
                  <a:srgbClr val="4D79C7">
                    <a:alpha val="100000"/>
                  </a:srgbClr>
                </a:gs>
                <a:gs pos="100000">
                  <a:srgbClr val="222A35">
                    <a:alpha val="100000"/>
                  </a:srgbClr>
                </a:gs>
              </a:gsLst>
              <a:path path="circle">
                <a:fillToRect l="50000" t="-30000" r="50000" b="130000"/>
              </a:path>
              <a:tileRect t="-160000"/>
            </a:gradFill>
          </p:spPr>
        </p:sp>
      </p:grpSp>
      <p:grpSp>
        <p:nvGrpSpPr>
          <p:cNvPr id="19" name="Group 19"/>
          <p:cNvGrpSpPr/>
          <p:nvPr/>
        </p:nvGrpSpPr>
        <p:grpSpPr>
          <a:xfrm>
            <a:off x="1910963" y="521122"/>
            <a:ext cx="15241657" cy="929716"/>
            <a:chOff x="0" y="0"/>
            <a:chExt cx="20322210" cy="1239622"/>
          </a:xfrm>
        </p:grpSpPr>
        <p:sp>
          <p:nvSpPr>
            <p:cNvPr id="20" name="Freeform 20"/>
            <p:cNvSpPr/>
            <p:nvPr/>
          </p:nvSpPr>
          <p:spPr>
            <a:xfrm>
              <a:off x="0" y="0"/>
              <a:ext cx="20322208" cy="1239626"/>
            </a:xfrm>
            <a:custGeom>
              <a:avLst/>
              <a:gdLst/>
              <a:ahLst/>
              <a:cxnLst/>
              <a:rect l="l" t="t" r="r" b="b"/>
              <a:pathLst>
                <a:path w="20322208" h="1239626">
                  <a:moveTo>
                    <a:pt x="0" y="0"/>
                  </a:moveTo>
                  <a:lnTo>
                    <a:pt x="20322208" y="0"/>
                  </a:lnTo>
                  <a:lnTo>
                    <a:pt x="20322208" y="1239626"/>
                  </a:lnTo>
                  <a:lnTo>
                    <a:pt x="0" y="1239626"/>
                  </a:lnTo>
                  <a:close/>
                </a:path>
              </a:pathLst>
            </a:custGeom>
            <a:blipFill>
              <a:blip r:embed="rId3">
                <a:alphaModFix amt="0"/>
              </a:blip>
              <a:stretch>
                <a:fillRect t="-269434" b="-269434"/>
              </a:stretch>
            </a:blipFill>
          </p:spPr>
        </p:sp>
        <p:sp>
          <p:nvSpPr>
            <p:cNvPr id="21" name="TextBox 21"/>
            <p:cNvSpPr txBox="1"/>
            <p:nvPr/>
          </p:nvSpPr>
          <p:spPr>
            <a:xfrm>
              <a:off x="0" y="28575"/>
              <a:ext cx="20322210" cy="1211047"/>
            </a:xfrm>
            <a:prstGeom prst="rect">
              <a:avLst/>
            </a:prstGeom>
          </p:spPr>
          <p:txBody>
            <a:bodyPr lIns="0" tIns="0" rIns="0" bIns="0" rtlCol="0" anchor="b"/>
            <a:lstStyle/>
            <a:p>
              <a:pPr algn="l">
                <a:lnSpc>
                  <a:spcPts val="5184"/>
                </a:lnSpc>
              </a:pPr>
              <a:r>
                <a:rPr lang="en-US" sz="4800" b="1">
                  <a:solidFill>
                    <a:srgbClr val="000000"/>
                  </a:solidFill>
                  <a:latin typeface="Times New Roman Bold"/>
                  <a:ea typeface="Times New Roman Bold"/>
                  <a:cs typeface="Times New Roman Bold"/>
                  <a:sym typeface="Times New Roman Bold"/>
                </a:rPr>
                <a:t>Future Work</a:t>
              </a:r>
            </a:p>
          </p:txBody>
        </p:sp>
      </p:grpSp>
      <p:sp>
        <p:nvSpPr>
          <p:cNvPr id="22" name="TextBox 22"/>
          <p:cNvSpPr txBox="1"/>
          <p:nvPr/>
        </p:nvSpPr>
        <p:spPr>
          <a:xfrm>
            <a:off x="2002403" y="2351665"/>
            <a:ext cx="14936857" cy="4427611"/>
          </a:xfrm>
          <a:prstGeom prst="rect">
            <a:avLst/>
          </a:prstGeom>
        </p:spPr>
        <p:txBody>
          <a:bodyPr lIns="0" tIns="0" rIns="0" bIns="0" rtlCol="0" anchor="t">
            <a:spAutoFit/>
          </a:bodyPr>
          <a:lstStyle/>
          <a:p>
            <a:pPr algn="l">
              <a:lnSpc>
                <a:spcPts val="3240"/>
              </a:lnSpc>
            </a:pPr>
            <a:r>
              <a:rPr lang="en-US" sz="2700">
                <a:solidFill>
                  <a:srgbClr val="000000"/>
                </a:solidFill>
                <a:latin typeface="Times New Roman"/>
                <a:ea typeface="Times New Roman"/>
                <a:cs typeface="Times New Roman"/>
                <a:sym typeface="Times New Roman"/>
              </a:rPr>
              <a:t>Planned extensions include enlarging the dataset with more product categories and additional Bangladeshi marketplaces, incorporating product images and specification text as features, and tracking price changes over time to support dynamic rather than one-off price prediction. The pipeline could also be extended into a lightweight web tool that lets shoppers check a fair price range for a product before purchase.</a:t>
            </a: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737360"/>
            <a:chOff x="0" y="0"/>
            <a:chExt cx="24384000" cy="2316480"/>
          </a:xfrm>
        </p:grpSpPr>
        <p:sp>
          <p:nvSpPr>
            <p:cNvPr id="3" name="Freeform 3"/>
            <p:cNvSpPr/>
            <p:nvPr/>
          </p:nvSpPr>
          <p:spPr>
            <a:xfrm>
              <a:off x="0" y="0"/>
              <a:ext cx="24384000" cy="2316480"/>
            </a:xfrm>
            <a:custGeom>
              <a:avLst/>
              <a:gdLst/>
              <a:ahLst/>
              <a:cxnLst/>
              <a:rect l="l" t="t" r="r" b="b"/>
              <a:pathLst>
                <a:path w="24384000" h="2316480">
                  <a:moveTo>
                    <a:pt x="0" y="0"/>
                  </a:moveTo>
                  <a:lnTo>
                    <a:pt x="24384000" y="0"/>
                  </a:lnTo>
                  <a:lnTo>
                    <a:pt x="24384000" y="2316480"/>
                  </a:lnTo>
                  <a:lnTo>
                    <a:pt x="0" y="2316480"/>
                  </a:lnTo>
                  <a:close/>
                </a:path>
              </a:pathLst>
            </a:custGeom>
            <a:solidFill>
              <a:srgbClr val="DAE3F3"/>
            </a:solidFill>
          </p:spPr>
        </p:sp>
      </p:grpSp>
      <p:grpSp>
        <p:nvGrpSpPr>
          <p:cNvPr id="4" name="Group 4"/>
          <p:cNvGrpSpPr/>
          <p:nvPr/>
        </p:nvGrpSpPr>
        <p:grpSpPr>
          <a:xfrm>
            <a:off x="0" y="9437199"/>
            <a:ext cx="18288000" cy="879615"/>
            <a:chOff x="0" y="0"/>
            <a:chExt cx="24384000" cy="1172820"/>
          </a:xfrm>
        </p:grpSpPr>
        <p:sp>
          <p:nvSpPr>
            <p:cNvPr id="5" name="Freeform 5"/>
            <p:cNvSpPr/>
            <p:nvPr/>
          </p:nvSpPr>
          <p:spPr>
            <a:xfrm>
              <a:off x="0" y="0"/>
              <a:ext cx="24384000" cy="1172845"/>
            </a:xfrm>
            <a:custGeom>
              <a:avLst/>
              <a:gdLst/>
              <a:ahLst/>
              <a:cxnLst/>
              <a:rect l="l" t="t" r="r" b="b"/>
              <a:pathLst>
                <a:path w="24384000" h="1172845">
                  <a:moveTo>
                    <a:pt x="0" y="0"/>
                  </a:moveTo>
                  <a:lnTo>
                    <a:pt x="24384000" y="0"/>
                  </a:lnTo>
                  <a:lnTo>
                    <a:pt x="24384000" y="1172845"/>
                  </a:lnTo>
                  <a:lnTo>
                    <a:pt x="0" y="1172845"/>
                  </a:lnTo>
                  <a:close/>
                </a:path>
              </a:pathLst>
            </a:custGeom>
            <a:solidFill>
              <a:srgbClr val="333F50"/>
            </a:solidFill>
          </p:spPr>
        </p:sp>
      </p:grpSp>
      <p:grpSp>
        <p:nvGrpSpPr>
          <p:cNvPr id="6" name="Group 6"/>
          <p:cNvGrpSpPr/>
          <p:nvPr/>
        </p:nvGrpSpPr>
        <p:grpSpPr>
          <a:xfrm>
            <a:off x="1257300" y="9534525"/>
            <a:ext cx="4114800" cy="547688"/>
            <a:chOff x="0" y="0"/>
            <a:chExt cx="5486400" cy="730250"/>
          </a:xfrm>
        </p:grpSpPr>
        <p:sp>
          <p:nvSpPr>
            <p:cNvPr id="7" name="Freeform 7"/>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2" cstate="print">
                <a:alphaModFix amt="0"/>
              </a:blip>
              <a:stretch>
                <a:fillRect t="-96391" b="-96391"/>
              </a:stretch>
            </a:blipFill>
          </p:spPr>
        </p:sp>
        <p:sp>
          <p:nvSpPr>
            <p:cNvPr id="8" name="TextBox 8"/>
            <p:cNvSpPr txBox="1"/>
            <p:nvPr/>
          </p:nvSpPr>
          <p:spPr>
            <a:xfrm>
              <a:off x="0" y="-19050"/>
              <a:ext cx="5486400" cy="749300"/>
            </a:xfrm>
            <a:prstGeom prst="rect">
              <a:avLst/>
            </a:prstGeom>
          </p:spPr>
          <p:txBody>
            <a:bodyPr lIns="0" tIns="0" rIns="0" bIns="0" rtlCol="0" anchor="ctr"/>
            <a:lstStyle/>
            <a:p>
              <a:pPr algn="l">
                <a:lnSpc>
                  <a:spcPts val="2160"/>
                </a:lnSpc>
              </a:pPr>
              <a:r>
                <a:rPr lang="en-US" sz="1800">
                  <a:solidFill>
                    <a:srgbClr val="FFFFFF"/>
                  </a:solidFill>
                  <a:latin typeface="Times New Roman"/>
                  <a:ea typeface="Times New Roman"/>
                  <a:cs typeface="Times New Roman"/>
                  <a:sym typeface="Times New Roman"/>
                </a:rPr>
                <a:t>Friday, August 1, 2025</a:t>
              </a:r>
            </a:p>
          </p:txBody>
        </p:sp>
      </p:grpSp>
      <p:grpSp>
        <p:nvGrpSpPr>
          <p:cNvPr id="9" name="Group 9"/>
          <p:cNvGrpSpPr/>
          <p:nvPr/>
        </p:nvGrpSpPr>
        <p:grpSpPr>
          <a:xfrm>
            <a:off x="6057900" y="9534525"/>
            <a:ext cx="6172200" cy="547688"/>
            <a:chOff x="0" y="0"/>
            <a:chExt cx="8229600" cy="730250"/>
          </a:xfrm>
        </p:grpSpPr>
        <p:sp>
          <p:nvSpPr>
            <p:cNvPr id="10" name="Freeform 10"/>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blipFill>
              <a:blip r:embed="rId3">
                <a:alphaModFix amt="0"/>
              </a:blip>
              <a:stretch>
                <a:fillRect t="-169587" b="-169587"/>
              </a:stretch>
            </a:blipFill>
          </p:spPr>
        </p:sp>
        <p:sp>
          <p:nvSpPr>
            <p:cNvPr id="11" name="TextBox 11"/>
            <p:cNvSpPr txBox="1"/>
            <p:nvPr/>
          </p:nvSpPr>
          <p:spPr>
            <a:xfrm>
              <a:off x="0" y="-19050"/>
              <a:ext cx="8229600" cy="749300"/>
            </a:xfrm>
            <a:prstGeom prst="rect">
              <a:avLst/>
            </a:prstGeom>
          </p:spPr>
          <p:txBody>
            <a:bodyPr lIns="0" tIns="0" rIns="0" bIns="0" rtlCol="0" anchor="ctr"/>
            <a:lstStyle/>
            <a:p>
              <a:pPr algn="ctr">
                <a:lnSpc>
                  <a:spcPts val="2160"/>
                </a:lnSpc>
              </a:pPr>
              <a:r>
                <a:rPr lang="en-US" sz="1800">
                  <a:solidFill>
                    <a:srgbClr val="FFFFFF"/>
                  </a:solidFill>
                  <a:latin typeface="Times New Roman"/>
                  <a:ea typeface="Times New Roman"/>
                  <a:cs typeface="Times New Roman"/>
                  <a:sym typeface="Times New Roman"/>
                </a:rPr>
                <a:t>Department of Computer Science &amp; Engineering, PUB</a:t>
              </a:r>
            </a:p>
          </p:txBody>
        </p:sp>
      </p:grpSp>
      <p:grpSp>
        <p:nvGrpSpPr>
          <p:cNvPr id="12" name="Group 12"/>
          <p:cNvGrpSpPr/>
          <p:nvPr/>
        </p:nvGrpSpPr>
        <p:grpSpPr>
          <a:xfrm>
            <a:off x="12915900" y="9534525"/>
            <a:ext cx="4114800" cy="547688"/>
            <a:chOff x="0" y="0"/>
            <a:chExt cx="5486400" cy="730250"/>
          </a:xfrm>
        </p:grpSpPr>
        <p:sp>
          <p:nvSpPr>
            <p:cNvPr id="13" name="Freeform 13"/>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2" cstate="print">
                <a:alphaModFix amt="0"/>
              </a:blip>
              <a:stretch>
                <a:fillRect t="-96391" b="-96391"/>
              </a:stretch>
            </a:blipFill>
          </p:spPr>
        </p:sp>
        <p:sp>
          <p:nvSpPr>
            <p:cNvPr id="14" name="TextBox 14"/>
            <p:cNvSpPr txBox="1"/>
            <p:nvPr/>
          </p:nvSpPr>
          <p:spPr>
            <a:xfrm>
              <a:off x="0" y="-19050"/>
              <a:ext cx="5486400" cy="749300"/>
            </a:xfrm>
            <a:prstGeom prst="rect">
              <a:avLst/>
            </a:prstGeom>
          </p:spPr>
          <p:txBody>
            <a:bodyPr lIns="0" tIns="0" rIns="0" bIns="0" rtlCol="0" anchor="ctr"/>
            <a:lstStyle/>
            <a:p>
              <a:pPr algn="r">
                <a:lnSpc>
                  <a:spcPts val="2160"/>
                </a:lnSpc>
              </a:pPr>
              <a:r>
                <a:rPr lang="en-US" sz="1800">
                  <a:solidFill>
                    <a:srgbClr val="FFFFFF"/>
                  </a:solidFill>
                  <a:latin typeface="Times New Roman"/>
                  <a:ea typeface="Times New Roman"/>
                  <a:cs typeface="Times New Roman"/>
                  <a:sym typeface="Times New Roman"/>
                </a:rPr>
                <a:t>17</a:t>
              </a:r>
            </a:p>
          </p:txBody>
        </p:sp>
      </p:grpSp>
      <p:grpSp>
        <p:nvGrpSpPr>
          <p:cNvPr id="15" name="Group 15"/>
          <p:cNvGrpSpPr/>
          <p:nvPr/>
        </p:nvGrpSpPr>
        <p:grpSpPr>
          <a:xfrm>
            <a:off x="769315" y="685800"/>
            <a:ext cx="888463" cy="879615"/>
            <a:chOff x="0" y="0"/>
            <a:chExt cx="1184618" cy="1172820"/>
          </a:xfrm>
        </p:grpSpPr>
        <p:sp>
          <p:nvSpPr>
            <p:cNvPr id="16" name="Freeform 16"/>
            <p:cNvSpPr/>
            <p:nvPr/>
          </p:nvSpPr>
          <p:spPr>
            <a:xfrm>
              <a:off x="0" y="0"/>
              <a:ext cx="1184656" cy="1172845"/>
            </a:xfrm>
            <a:custGeom>
              <a:avLst/>
              <a:gdLst/>
              <a:ahLst/>
              <a:cxnLst/>
              <a:rect l="l" t="t" r="r" b="b"/>
              <a:pathLst>
                <a:path w="1184656" h="1172845">
                  <a:moveTo>
                    <a:pt x="0" y="0"/>
                  </a:moveTo>
                  <a:lnTo>
                    <a:pt x="1184656" y="0"/>
                  </a:lnTo>
                  <a:lnTo>
                    <a:pt x="1184656" y="1172845"/>
                  </a:lnTo>
                  <a:lnTo>
                    <a:pt x="0" y="1172845"/>
                  </a:lnTo>
                  <a:lnTo>
                    <a:pt x="0" y="0"/>
                  </a:lnTo>
                  <a:close/>
                </a:path>
              </a:pathLst>
            </a:custGeom>
            <a:blipFill>
              <a:blip r:embed="rId4"/>
              <a:stretch>
                <a:fillRect r="3" b="2"/>
              </a:stretch>
            </a:blipFill>
          </p:spPr>
        </p:sp>
      </p:grpSp>
      <p:grpSp>
        <p:nvGrpSpPr>
          <p:cNvPr id="17" name="Group 17"/>
          <p:cNvGrpSpPr/>
          <p:nvPr/>
        </p:nvGrpSpPr>
        <p:grpSpPr>
          <a:xfrm>
            <a:off x="-19050" y="1730045"/>
            <a:ext cx="18288000" cy="27432"/>
            <a:chOff x="0" y="0"/>
            <a:chExt cx="24384000" cy="36576"/>
          </a:xfrm>
        </p:grpSpPr>
        <p:sp>
          <p:nvSpPr>
            <p:cNvPr id="18" name="Freeform 18"/>
            <p:cNvSpPr/>
            <p:nvPr/>
          </p:nvSpPr>
          <p:spPr>
            <a:xfrm>
              <a:off x="0" y="0"/>
              <a:ext cx="24384000" cy="36576"/>
            </a:xfrm>
            <a:custGeom>
              <a:avLst/>
              <a:gdLst/>
              <a:ahLst/>
              <a:cxnLst/>
              <a:rect l="l" t="t" r="r" b="b"/>
              <a:pathLst>
                <a:path w="24384000" h="36576">
                  <a:moveTo>
                    <a:pt x="0" y="0"/>
                  </a:moveTo>
                  <a:lnTo>
                    <a:pt x="24384000" y="0"/>
                  </a:lnTo>
                  <a:lnTo>
                    <a:pt x="24384000" y="36576"/>
                  </a:lnTo>
                  <a:lnTo>
                    <a:pt x="0" y="36576"/>
                  </a:lnTo>
                  <a:close/>
                </a:path>
              </a:pathLst>
            </a:custGeom>
            <a:gradFill rotWithShape="1">
              <a:gsLst>
                <a:gs pos="0">
                  <a:srgbClr val="B4C7E7">
                    <a:alpha val="100000"/>
                  </a:srgbClr>
                </a:gs>
                <a:gs pos="36000">
                  <a:srgbClr val="4D79C7">
                    <a:alpha val="100000"/>
                  </a:srgbClr>
                </a:gs>
                <a:gs pos="100000">
                  <a:srgbClr val="222A35">
                    <a:alpha val="100000"/>
                  </a:srgbClr>
                </a:gs>
              </a:gsLst>
              <a:path path="circle">
                <a:fillToRect l="50000" t="-30000" r="50000" b="130000"/>
              </a:path>
              <a:tileRect t="-160000"/>
            </a:gradFill>
          </p:spPr>
        </p:sp>
      </p:grpSp>
      <p:grpSp>
        <p:nvGrpSpPr>
          <p:cNvPr id="19" name="Group 19"/>
          <p:cNvGrpSpPr/>
          <p:nvPr/>
        </p:nvGrpSpPr>
        <p:grpSpPr>
          <a:xfrm>
            <a:off x="1910963" y="521122"/>
            <a:ext cx="15241657" cy="929716"/>
            <a:chOff x="0" y="0"/>
            <a:chExt cx="20322210" cy="1239622"/>
          </a:xfrm>
        </p:grpSpPr>
        <p:sp>
          <p:nvSpPr>
            <p:cNvPr id="20" name="Freeform 20"/>
            <p:cNvSpPr/>
            <p:nvPr/>
          </p:nvSpPr>
          <p:spPr>
            <a:xfrm>
              <a:off x="0" y="0"/>
              <a:ext cx="20322208" cy="1239626"/>
            </a:xfrm>
            <a:custGeom>
              <a:avLst/>
              <a:gdLst/>
              <a:ahLst/>
              <a:cxnLst/>
              <a:rect l="l" t="t" r="r" b="b"/>
              <a:pathLst>
                <a:path w="20322208" h="1239626">
                  <a:moveTo>
                    <a:pt x="0" y="0"/>
                  </a:moveTo>
                  <a:lnTo>
                    <a:pt x="20322208" y="0"/>
                  </a:lnTo>
                  <a:lnTo>
                    <a:pt x="20322208" y="1239626"/>
                  </a:lnTo>
                  <a:lnTo>
                    <a:pt x="0" y="1239626"/>
                  </a:lnTo>
                  <a:close/>
                </a:path>
              </a:pathLst>
            </a:custGeom>
            <a:blipFill>
              <a:blip r:embed="rId3">
                <a:alphaModFix amt="0"/>
              </a:blip>
              <a:stretch>
                <a:fillRect t="-269434" b="-269434"/>
              </a:stretch>
            </a:blipFill>
          </p:spPr>
        </p:sp>
        <p:sp>
          <p:nvSpPr>
            <p:cNvPr id="21" name="TextBox 21"/>
            <p:cNvSpPr txBox="1"/>
            <p:nvPr/>
          </p:nvSpPr>
          <p:spPr>
            <a:xfrm>
              <a:off x="0" y="28575"/>
              <a:ext cx="20322210" cy="1211047"/>
            </a:xfrm>
            <a:prstGeom prst="rect">
              <a:avLst/>
            </a:prstGeom>
          </p:spPr>
          <p:txBody>
            <a:bodyPr lIns="0" tIns="0" rIns="0" bIns="0" rtlCol="0" anchor="b"/>
            <a:lstStyle/>
            <a:p>
              <a:pPr algn="l">
                <a:lnSpc>
                  <a:spcPts val="5184"/>
                </a:lnSpc>
              </a:pPr>
              <a:r>
                <a:rPr lang="en-US" sz="4800" b="1">
                  <a:solidFill>
                    <a:srgbClr val="000000"/>
                  </a:solidFill>
                  <a:latin typeface="Times New Roman Bold"/>
                  <a:ea typeface="Times New Roman Bold"/>
                  <a:cs typeface="Times New Roman Bold"/>
                  <a:sym typeface="Times New Roman Bold"/>
                </a:rPr>
                <a:t>References</a:t>
              </a:r>
            </a:p>
          </p:txBody>
        </p:sp>
      </p:grpSp>
      <p:sp>
        <p:nvSpPr>
          <p:cNvPr id="22" name="TextBox 22"/>
          <p:cNvSpPr txBox="1"/>
          <p:nvPr/>
        </p:nvSpPr>
        <p:spPr>
          <a:xfrm>
            <a:off x="2002403" y="2063352"/>
            <a:ext cx="15294997" cy="6155531"/>
          </a:xfrm>
          <a:prstGeom prst="rect">
            <a:avLst/>
          </a:prstGeom>
        </p:spPr>
        <p:txBody>
          <a:bodyPr wrap="square" lIns="0" tIns="0" rIns="0" bIns="0" rtlCol="0" anchor="t">
            <a:spAutoFit/>
          </a:bodyPr>
          <a:lstStyle/>
          <a:p>
            <a:pPr marL="514350" indent="-514350" algn="just">
              <a:lnSpc>
                <a:spcPts val="3240"/>
              </a:lnSpc>
              <a:buFont typeface="+mj-lt"/>
              <a:buAutoNum type="arabicPeriod"/>
            </a:pPr>
            <a:r>
              <a:rPr lang="en-US" sz="2700" dirty="0" err="1">
                <a:solidFill>
                  <a:srgbClr val="000000"/>
                </a:solidFill>
                <a:latin typeface="Times New Roman"/>
                <a:ea typeface="Times New Roman"/>
                <a:cs typeface="Times New Roman"/>
                <a:sym typeface="Times New Roman"/>
              </a:rPr>
              <a:t>Talukder</a:t>
            </a:r>
            <a:r>
              <a:rPr lang="en-US" sz="2700" dirty="0">
                <a:solidFill>
                  <a:srgbClr val="000000"/>
                </a:solidFill>
                <a:latin typeface="Times New Roman"/>
                <a:ea typeface="Times New Roman"/>
                <a:cs typeface="Times New Roman"/>
                <a:sym typeface="Times New Roman"/>
              </a:rPr>
              <a:t>, F. H. (</a:t>
            </a:r>
            <a:r>
              <a:rPr lang="en-US" sz="2700" dirty="0" err="1">
                <a:solidFill>
                  <a:srgbClr val="000000"/>
                </a:solidFill>
                <a:latin typeface="Times New Roman"/>
                <a:ea typeface="Times New Roman"/>
                <a:cs typeface="Times New Roman"/>
                <a:sym typeface="Times New Roman"/>
              </a:rPr>
              <a:t>n.d</a:t>
            </a:r>
            <a:r>
              <a:rPr lang="en-US" sz="2700" dirty="0">
                <a:solidFill>
                  <a:srgbClr val="000000"/>
                </a:solidFill>
                <a:latin typeface="Times New Roman"/>
                <a:ea typeface="Times New Roman"/>
                <a:cs typeface="Times New Roman"/>
                <a:sym typeface="Times New Roman"/>
              </a:rPr>
              <a:t>.). Bangladeshi E-Commerce Dataset (</a:t>
            </a:r>
            <a:r>
              <a:rPr lang="en-US" sz="2700" dirty="0" err="1">
                <a:solidFill>
                  <a:srgbClr val="000000"/>
                </a:solidFill>
                <a:latin typeface="Times New Roman"/>
                <a:ea typeface="Times New Roman"/>
                <a:cs typeface="Times New Roman"/>
                <a:sym typeface="Times New Roman"/>
              </a:rPr>
              <a:t>Daraz</a:t>
            </a:r>
            <a:r>
              <a:rPr lang="en-US" sz="2700" dirty="0">
                <a:solidFill>
                  <a:srgbClr val="000000"/>
                </a:solidFill>
                <a:latin typeface="Times New Roman"/>
                <a:ea typeface="Times New Roman"/>
                <a:cs typeface="Times New Roman"/>
                <a:sym typeface="Times New Roman"/>
              </a:rPr>
              <a:t> and </a:t>
            </a:r>
            <a:r>
              <a:rPr lang="en-US" sz="2700" dirty="0" err="1">
                <a:solidFill>
                  <a:srgbClr val="000000"/>
                </a:solidFill>
                <a:latin typeface="Times New Roman"/>
                <a:ea typeface="Times New Roman"/>
                <a:cs typeface="Times New Roman"/>
                <a:sym typeface="Times New Roman"/>
              </a:rPr>
              <a:t>Pickaboo</a:t>
            </a:r>
            <a:r>
              <a:rPr lang="en-US" sz="2700" dirty="0">
                <a:solidFill>
                  <a:srgbClr val="000000"/>
                </a:solidFill>
                <a:latin typeface="Times New Roman"/>
                <a:ea typeface="Times New Roman"/>
                <a:cs typeface="Times New Roman"/>
                <a:sym typeface="Times New Roman"/>
              </a:rPr>
              <a:t>) [Data set]. </a:t>
            </a:r>
            <a:r>
              <a:rPr lang="en-US" sz="2700" dirty="0" err="1">
                <a:solidFill>
                  <a:srgbClr val="000000"/>
                </a:solidFill>
                <a:latin typeface="Times New Roman"/>
                <a:ea typeface="Times New Roman"/>
                <a:cs typeface="Times New Roman"/>
                <a:sym typeface="Times New Roman"/>
              </a:rPr>
              <a:t>Kaggle</a:t>
            </a:r>
            <a:r>
              <a:rPr lang="en-US" sz="2700" dirty="0">
                <a:solidFill>
                  <a:srgbClr val="000000"/>
                </a:solidFill>
                <a:latin typeface="Times New Roman"/>
                <a:ea typeface="Times New Roman"/>
                <a:cs typeface="Times New Roman"/>
                <a:sym typeface="Times New Roman"/>
              </a:rPr>
              <a:t>. </a:t>
            </a:r>
            <a:r>
              <a:rPr lang="en-US" sz="2700" dirty="0" smtClean="0">
                <a:solidFill>
                  <a:srgbClr val="000000"/>
                </a:solidFill>
                <a:latin typeface="Times New Roman"/>
                <a:ea typeface="Times New Roman"/>
                <a:cs typeface="Times New Roman"/>
                <a:sym typeface="Times New Roman"/>
              </a:rPr>
              <a:t>kaggle.com/datasets/</a:t>
            </a:r>
            <a:r>
              <a:rPr lang="en-US" sz="2700" dirty="0" err="1" smtClean="0">
                <a:solidFill>
                  <a:srgbClr val="000000"/>
                </a:solidFill>
                <a:latin typeface="Times New Roman"/>
                <a:ea typeface="Times New Roman"/>
                <a:cs typeface="Times New Roman"/>
                <a:sym typeface="Times New Roman"/>
              </a:rPr>
              <a:t>fahimhasantalukder</a:t>
            </a:r>
            <a:r>
              <a:rPr lang="en-US" sz="2700" dirty="0" smtClean="0">
                <a:solidFill>
                  <a:srgbClr val="000000"/>
                </a:solidFill>
                <a:latin typeface="Times New Roman"/>
                <a:ea typeface="Times New Roman"/>
                <a:cs typeface="Times New Roman"/>
                <a:sym typeface="Times New Roman"/>
              </a:rPr>
              <a:t>/</a:t>
            </a:r>
            <a:r>
              <a:rPr lang="en-US" sz="2700" dirty="0" err="1" smtClean="0">
                <a:solidFill>
                  <a:srgbClr val="000000"/>
                </a:solidFill>
                <a:latin typeface="Times New Roman"/>
                <a:ea typeface="Times New Roman"/>
                <a:cs typeface="Times New Roman"/>
                <a:sym typeface="Times New Roman"/>
              </a:rPr>
              <a:t>bangladeshi</a:t>
            </a:r>
            <a:r>
              <a:rPr lang="en-US" sz="2700" dirty="0" smtClean="0">
                <a:solidFill>
                  <a:srgbClr val="000000"/>
                </a:solidFill>
                <a:latin typeface="Times New Roman"/>
                <a:ea typeface="Times New Roman"/>
                <a:cs typeface="Times New Roman"/>
                <a:sym typeface="Times New Roman"/>
              </a:rPr>
              <a:t>-e-commerce-dataset-</a:t>
            </a:r>
            <a:r>
              <a:rPr lang="en-US" sz="2700" dirty="0" err="1" smtClean="0">
                <a:solidFill>
                  <a:srgbClr val="000000"/>
                </a:solidFill>
                <a:latin typeface="Times New Roman"/>
                <a:ea typeface="Times New Roman"/>
                <a:cs typeface="Times New Roman"/>
                <a:sym typeface="Times New Roman"/>
              </a:rPr>
              <a:t>daraz</a:t>
            </a:r>
            <a:r>
              <a:rPr lang="en-US" sz="2700" dirty="0" smtClean="0">
                <a:solidFill>
                  <a:srgbClr val="000000"/>
                </a:solidFill>
                <a:latin typeface="Times New Roman"/>
                <a:ea typeface="Times New Roman"/>
                <a:cs typeface="Times New Roman"/>
                <a:sym typeface="Times New Roman"/>
              </a:rPr>
              <a:t>-and-</a:t>
            </a:r>
            <a:r>
              <a:rPr lang="en-US" sz="2700" dirty="0" err="1" smtClean="0">
                <a:solidFill>
                  <a:srgbClr val="000000"/>
                </a:solidFill>
                <a:latin typeface="Times New Roman"/>
                <a:ea typeface="Times New Roman"/>
                <a:cs typeface="Times New Roman"/>
                <a:sym typeface="Times New Roman"/>
              </a:rPr>
              <a:t>pickaboo</a:t>
            </a:r>
            <a:endParaRPr lang="en-US" sz="2700" dirty="0" smtClean="0">
              <a:solidFill>
                <a:srgbClr val="000000"/>
              </a:solidFill>
              <a:latin typeface="Times New Roman"/>
              <a:ea typeface="Times New Roman"/>
              <a:cs typeface="Times New Roman"/>
              <a:sym typeface="Times New Roman"/>
            </a:endParaRPr>
          </a:p>
          <a:p>
            <a:pPr marL="514350" indent="-514350" algn="just">
              <a:lnSpc>
                <a:spcPts val="3240"/>
              </a:lnSpc>
              <a:buFont typeface="+mj-lt"/>
              <a:buAutoNum type="arabicPeriod"/>
            </a:pPr>
            <a:endParaRPr lang="en-US" sz="2700" dirty="0">
              <a:solidFill>
                <a:srgbClr val="000000"/>
              </a:solidFill>
              <a:latin typeface="Times New Roman"/>
              <a:ea typeface="Times New Roman"/>
              <a:cs typeface="Times New Roman"/>
              <a:sym typeface="Times New Roman"/>
            </a:endParaRPr>
          </a:p>
          <a:p>
            <a:pPr marL="514350" indent="-514350" algn="just">
              <a:lnSpc>
                <a:spcPts val="3240"/>
              </a:lnSpc>
              <a:buFont typeface="+mj-lt"/>
              <a:buAutoNum type="arabicPeriod"/>
            </a:pPr>
            <a:r>
              <a:rPr lang="en-US" sz="2700" dirty="0" err="1">
                <a:solidFill>
                  <a:srgbClr val="000000"/>
                </a:solidFill>
                <a:latin typeface="Times New Roman"/>
                <a:ea typeface="Times New Roman"/>
                <a:cs typeface="Times New Roman"/>
                <a:sym typeface="Times New Roman"/>
              </a:rPr>
              <a:t>Yoshi</a:t>
            </a:r>
            <a:r>
              <a:rPr lang="en-US" sz="2700" dirty="0">
                <a:solidFill>
                  <a:srgbClr val="000000"/>
                </a:solidFill>
                <a:latin typeface="Times New Roman"/>
                <a:ea typeface="Times New Roman"/>
                <a:cs typeface="Times New Roman"/>
                <a:sym typeface="Times New Roman"/>
              </a:rPr>
              <a:t>, A. M., </a:t>
            </a:r>
            <a:r>
              <a:rPr lang="en-US" sz="2700" dirty="0" err="1">
                <a:solidFill>
                  <a:srgbClr val="000000"/>
                </a:solidFill>
                <a:latin typeface="Times New Roman"/>
                <a:ea typeface="Times New Roman"/>
                <a:cs typeface="Times New Roman"/>
                <a:sym typeface="Times New Roman"/>
              </a:rPr>
              <a:t>Rohan</a:t>
            </a:r>
            <a:r>
              <a:rPr lang="en-US" sz="2700" dirty="0">
                <a:solidFill>
                  <a:srgbClr val="000000"/>
                </a:solidFill>
                <a:latin typeface="Times New Roman"/>
                <a:ea typeface="Times New Roman"/>
                <a:cs typeface="Times New Roman"/>
                <a:sym typeface="Times New Roman"/>
              </a:rPr>
              <a:t>, A., </a:t>
            </a:r>
            <a:r>
              <a:rPr lang="en-US" sz="2700" dirty="0" err="1">
                <a:solidFill>
                  <a:srgbClr val="000000"/>
                </a:solidFill>
                <a:latin typeface="Times New Roman"/>
                <a:ea typeface="Times New Roman"/>
                <a:cs typeface="Times New Roman"/>
                <a:sym typeface="Times New Roman"/>
              </a:rPr>
              <a:t>Mitu</a:t>
            </a:r>
            <a:r>
              <a:rPr lang="en-US" sz="2700" dirty="0">
                <a:solidFill>
                  <a:srgbClr val="000000"/>
                </a:solidFill>
                <a:latin typeface="Times New Roman"/>
                <a:ea typeface="Times New Roman"/>
                <a:cs typeface="Times New Roman"/>
                <a:sym typeface="Times New Roman"/>
              </a:rPr>
              <a:t>, S. A., Rabbi, M. M. K., </a:t>
            </a:r>
            <a:r>
              <a:rPr lang="en-US" sz="2700" dirty="0" err="1">
                <a:solidFill>
                  <a:srgbClr val="000000"/>
                </a:solidFill>
                <a:latin typeface="Times New Roman"/>
                <a:ea typeface="Times New Roman"/>
                <a:cs typeface="Times New Roman"/>
                <a:sym typeface="Times New Roman"/>
              </a:rPr>
              <a:t>Akther</a:t>
            </a:r>
            <a:r>
              <a:rPr lang="en-US" sz="2700" dirty="0">
                <a:solidFill>
                  <a:srgbClr val="000000"/>
                </a:solidFill>
                <a:latin typeface="Times New Roman"/>
                <a:ea typeface="Times New Roman"/>
                <a:cs typeface="Times New Roman"/>
                <a:sym typeface="Times New Roman"/>
              </a:rPr>
              <a:t>, S., &amp; Ahmed, K. R. (2025). Real-time dynamic pricing using machine learning: Integrating customer sentiment and predictive models for e-commerce. International Journal of Advanced Computer Science and Applications, 16(9</a:t>
            </a:r>
            <a:r>
              <a:rPr lang="en-US" sz="2700" dirty="0" smtClean="0">
                <a:solidFill>
                  <a:srgbClr val="000000"/>
                </a:solidFill>
                <a:latin typeface="Times New Roman"/>
                <a:ea typeface="Times New Roman"/>
                <a:cs typeface="Times New Roman"/>
                <a:sym typeface="Times New Roman"/>
              </a:rPr>
              <a:t>).</a:t>
            </a:r>
          </a:p>
          <a:p>
            <a:pPr marL="514350" indent="-514350" algn="just">
              <a:lnSpc>
                <a:spcPts val="3240"/>
              </a:lnSpc>
              <a:buFont typeface="+mj-lt"/>
              <a:buAutoNum type="arabicPeriod"/>
            </a:pPr>
            <a:endParaRPr lang="en-US" sz="2700" dirty="0">
              <a:solidFill>
                <a:srgbClr val="000000"/>
              </a:solidFill>
              <a:latin typeface="Times New Roman"/>
              <a:ea typeface="Times New Roman"/>
              <a:cs typeface="Times New Roman"/>
              <a:sym typeface="Times New Roman"/>
            </a:endParaRPr>
          </a:p>
          <a:p>
            <a:pPr marL="514350" indent="-514350" algn="just">
              <a:lnSpc>
                <a:spcPts val="3240"/>
              </a:lnSpc>
              <a:buFont typeface="+mj-lt"/>
              <a:buAutoNum type="arabicPeriod"/>
            </a:pPr>
            <a:r>
              <a:rPr lang="en-US" sz="2700" dirty="0" err="1">
                <a:solidFill>
                  <a:srgbClr val="000000"/>
                </a:solidFill>
                <a:latin typeface="Times New Roman"/>
                <a:ea typeface="Times New Roman"/>
                <a:cs typeface="Times New Roman"/>
                <a:sym typeface="Times New Roman"/>
              </a:rPr>
              <a:t>Toan</a:t>
            </a:r>
            <a:r>
              <a:rPr lang="en-US" sz="2700" dirty="0">
                <a:solidFill>
                  <a:srgbClr val="000000"/>
                </a:solidFill>
                <a:latin typeface="Times New Roman"/>
                <a:ea typeface="Times New Roman"/>
                <a:cs typeface="Times New Roman"/>
                <a:sym typeface="Times New Roman"/>
              </a:rPr>
              <a:t>, L. T., </a:t>
            </a:r>
            <a:r>
              <a:rPr lang="en-US" sz="2700" dirty="0" err="1">
                <a:solidFill>
                  <a:srgbClr val="000000"/>
                </a:solidFill>
                <a:latin typeface="Times New Roman"/>
                <a:ea typeface="Times New Roman"/>
                <a:cs typeface="Times New Roman"/>
                <a:sym typeface="Times New Roman"/>
              </a:rPr>
              <a:t>Giang</a:t>
            </a:r>
            <a:r>
              <a:rPr lang="en-US" sz="2700" dirty="0">
                <a:solidFill>
                  <a:srgbClr val="000000"/>
                </a:solidFill>
                <a:latin typeface="Times New Roman"/>
                <a:ea typeface="Times New Roman"/>
                <a:cs typeface="Times New Roman"/>
                <a:sym typeface="Times New Roman"/>
              </a:rPr>
              <a:t>, N. X. H., &amp; </a:t>
            </a:r>
            <a:r>
              <a:rPr lang="en-US" sz="2700" dirty="0" err="1">
                <a:solidFill>
                  <a:srgbClr val="000000"/>
                </a:solidFill>
                <a:latin typeface="Times New Roman"/>
                <a:ea typeface="Times New Roman"/>
                <a:cs typeface="Times New Roman"/>
                <a:sym typeface="Times New Roman"/>
              </a:rPr>
              <a:t>Thuan</a:t>
            </a:r>
            <a:r>
              <a:rPr lang="en-US" sz="2700" dirty="0">
                <a:solidFill>
                  <a:srgbClr val="000000"/>
                </a:solidFill>
                <a:latin typeface="Times New Roman"/>
                <a:ea typeface="Times New Roman"/>
                <a:cs typeface="Times New Roman"/>
                <a:sym typeface="Times New Roman"/>
              </a:rPr>
              <a:t>, N. H. (2023). Identify and predict incorrect prices by machine learning model. CTU Journal of Innovation and Sustainable Development, 15(2), 35–44</a:t>
            </a:r>
            <a:r>
              <a:rPr lang="en-US" sz="2700" dirty="0" smtClean="0">
                <a:solidFill>
                  <a:srgbClr val="000000"/>
                </a:solidFill>
                <a:latin typeface="Times New Roman"/>
                <a:ea typeface="Times New Roman"/>
                <a:cs typeface="Times New Roman"/>
                <a:sym typeface="Times New Roman"/>
              </a:rPr>
              <a:t>.</a:t>
            </a:r>
          </a:p>
          <a:p>
            <a:pPr marL="514350" indent="-514350" algn="just">
              <a:lnSpc>
                <a:spcPts val="3240"/>
              </a:lnSpc>
              <a:buFont typeface="+mj-lt"/>
              <a:buAutoNum type="arabicPeriod"/>
            </a:pPr>
            <a:endParaRPr lang="en-US" sz="2700" dirty="0">
              <a:solidFill>
                <a:srgbClr val="000000"/>
              </a:solidFill>
              <a:latin typeface="Times New Roman"/>
              <a:ea typeface="Times New Roman"/>
              <a:cs typeface="Times New Roman"/>
              <a:sym typeface="Times New Roman"/>
            </a:endParaRPr>
          </a:p>
          <a:p>
            <a:pPr marL="514350" indent="-514350" algn="just">
              <a:lnSpc>
                <a:spcPts val="3240"/>
              </a:lnSpc>
              <a:buFont typeface="+mj-lt"/>
              <a:buAutoNum type="arabicPeriod"/>
            </a:pPr>
            <a:r>
              <a:rPr lang="en-US" sz="2700" dirty="0">
                <a:solidFill>
                  <a:srgbClr val="000000"/>
                </a:solidFill>
                <a:latin typeface="Times New Roman"/>
                <a:ea typeface="Times New Roman"/>
                <a:cs typeface="Times New Roman"/>
                <a:sym typeface="Times New Roman"/>
              </a:rPr>
              <a:t>Lundberg, S. M., &amp; Lee, S.-I. (2017). A unified approach to interpreting model predictions. Advances in Neural Information Processing Systems, 30</a:t>
            </a:r>
            <a:r>
              <a:rPr lang="en-US" sz="2700" dirty="0" smtClean="0">
                <a:solidFill>
                  <a:srgbClr val="000000"/>
                </a:solidFill>
                <a:latin typeface="Times New Roman"/>
                <a:ea typeface="Times New Roman"/>
                <a:cs typeface="Times New Roman"/>
                <a:sym typeface="Times New Roman"/>
              </a:rPr>
              <a:t>.</a:t>
            </a:r>
          </a:p>
          <a:p>
            <a:pPr marL="514350" indent="-514350" algn="just">
              <a:lnSpc>
                <a:spcPts val="3240"/>
              </a:lnSpc>
            </a:pPr>
            <a:endParaRPr lang="en-US" sz="2700" dirty="0">
              <a:solidFill>
                <a:srgbClr val="000000"/>
              </a:solidFill>
              <a:latin typeface="Times New Roman"/>
              <a:ea typeface="Times New Roman"/>
              <a:cs typeface="Times New Roman"/>
              <a:sym typeface="Times New Roman"/>
            </a:endParaRPr>
          </a:p>
          <a:p>
            <a:pPr marL="514350" indent="-514350" algn="just">
              <a:lnSpc>
                <a:spcPts val="3240"/>
              </a:lnSpc>
            </a:pPr>
            <a:r>
              <a:rPr lang="en-US" sz="2700" dirty="0" smtClean="0">
                <a:solidFill>
                  <a:srgbClr val="000000"/>
                </a:solidFill>
                <a:latin typeface="Times New Roman"/>
                <a:ea typeface="Times New Roman"/>
                <a:cs typeface="Times New Roman"/>
                <a:sym typeface="Times New Roman"/>
              </a:rPr>
              <a:t>5. Chen</a:t>
            </a:r>
            <a:r>
              <a:rPr lang="en-US" sz="2700" dirty="0">
                <a:solidFill>
                  <a:srgbClr val="000000"/>
                </a:solidFill>
                <a:latin typeface="Times New Roman"/>
                <a:ea typeface="Times New Roman"/>
                <a:cs typeface="Times New Roman"/>
                <a:sym typeface="Times New Roman"/>
              </a:rPr>
              <a:t>, T., &amp; </a:t>
            </a:r>
            <a:r>
              <a:rPr lang="en-US" sz="2700" dirty="0" err="1">
                <a:solidFill>
                  <a:srgbClr val="000000"/>
                </a:solidFill>
                <a:latin typeface="Times New Roman"/>
                <a:ea typeface="Times New Roman"/>
                <a:cs typeface="Times New Roman"/>
                <a:sym typeface="Times New Roman"/>
              </a:rPr>
              <a:t>Guestrin</a:t>
            </a:r>
            <a:r>
              <a:rPr lang="en-US" sz="2700" dirty="0">
                <a:solidFill>
                  <a:srgbClr val="000000"/>
                </a:solidFill>
                <a:latin typeface="Times New Roman"/>
                <a:ea typeface="Times New Roman"/>
                <a:cs typeface="Times New Roman"/>
                <a:sym typeface="Times New Roman"/>
              </a:rPr>
              <a:t>, C. (2016). </a:t>
            </a:r>
            <a:r>
              <a:rPr lang="en-US" sz="2700" dirty="0" err="1">
                <a:solidFill>
                  <a:srgbClr val="000000"/>
                </a:solidFill>
                <a:latin typeface="Times New Roman"/>
                <a:ea typeface="Times New Roman"/>
                <a:cs typeface="Times New Roman"/>
                <a:sym typeface="Times New Roman"/>
              </a:rPr>
              <a:t>XGBoost</a:t>
            </a:r>
            <a:r>
              <a:rPr lang="en-US" sz="2700" dirty="0">
                <a:solidFill>
                  <a:srgbClr val="000000"/>
                </a:solidFill>
                <a:latin typeface="Times New Roman"/>
                <a:ea typeface="Times New Roman"/>
                <a:cs typeface="Times New Roman"/>
                <a:sym typeface="Times New Roman"/>
              </a:rPr>
              <a:t>: A scalable tree boosting system. Proceedings of the 22nd ACM SIGKDD International Conference on Knowledge Discovery and Data Mining.</a:t>
            </a: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D6DCE5">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0" y="-81667"/>
            <a:ext cx="18288000" cy="9616192"/>
            <a:chOff x="0" y="0"/>
            <a:chExt cx="24384000" cy="12821590"/>
          </a:xfrm>
        </p:grpSpPr>
        <p:sp>
          <p:nvSpPr>
            <p:cNvPr id="3" name="Freeform 3"/>
            <p:cNvSpPr/>
            <p:nvPr/>
          </p:nvSpPr>
          <p:spPr>
            <a:xfrm>
              <a:off x="0" y="0"/>
              <a:ext cx="24384000" cy="12821539"/>
            </a:xfrm>
            <a:custGeom>
              <a:avLst/>
              <a:gdLst/>
              <a:ahLst/>
              <a:cxnLst/>
              <a:rect l="l" t="t" r="r" b="b"/>
              <a:pathLst>
                <a:path w="24384000" h="12821539">
                  <a:moveTo>
                    <a:pt x="0" y="0"/>
                  </a:moveTo>
                  <a:lnTo>
                    <a:pt x="24384000" y="0"/>
                  </a:lnTo>
                  <a:lnTo>
                    <a:pt x="24384000" y="12821539"/>
                  </a:lnTo>
                  <a:lnTo>
                    <a:pt x="0" y="12821539"/>
                  </a:lnTo>
                  <a:close/>
                </a:path>
              </a:pathLst>
            </a:custGeom>
            <a:solidFill>
              <a:srgbClr val="DAE3F3"/>
            </a:solidFill>
          </p:spPr>
        </p:sp>
      </p:grpSp>
      <p:grpSp>
        <p:nvGrpSpPr>
          <p:cNvPr id="4" name="Group 4"/>
          <p:cNvGrpSpPr/>
          <p:nvPr/>
        </p:nvGrpSpPr>
        <p:grpSpPr>
          <a:xfrm>
            <a:off x="0" y="9437199"/>
            <a:ext cx="18288000" cy="879615"/>
            <a:chOff x="0" y="0"/>
            <a:chExt cx="24384000" cy="1172820"/>
          </a:xfrm>
        </p:grpSpPr>
        <p:sp>
          <p:nvSpPr>
            <p:cNvPr id="5" name="Freeform 5"/>
            <p:cNvSpPr/>
            <p:nvPr/>
          </p:nvSpPr>
          <p:spPr>
            <a:xfrm>
              <a:off x="0" y="0"/>
              <a:ext cx="24384000" cy="1172845"/>
            </a:xfrm>
            <a:custGeom>
              <a:avLst/>
              <a:gdLst/>
              <a:ahLst/>
              <a:cxnLst/>
              <a:rect l="l" t="t" r="r" b="b"/>
              <a:pathLst>
                <a:path w="24384000" h="1172845">
                  <a:moveTo>
                    <a:pt x="0" y="0"/>
                  </a:moveTo>
                  <a:lnTo>
                    <a:pt x="24384000" y="0"/>
                  </a:lnTo>
                  <a:lnTo>
                    <a:pt x="24384000" y="1172845"/>
                  </a:lnTo>
                  <a:lnTo>
                    <a:pt x="0" y="1172845"/>
                  </a:lnTo>
                  <a:close/>
                </a:path>
              </a:pathLst>
            </a:custGeom>
            <a:solidFill>
              <a:srgbClr val="333F50"/>
            </a:solidFill>
          </p:spPr>
        </p:sp>
      </p:grpSp>
      <p:grpSp>
        <p:nvGrpSpPr>
          <p:cNvPr id="6" name="Group 6"/>
          <p:cNvGrpSpPr/>
          <p:nvPr/>
        </p:nvGrpSpPr>
        <p:grpSpPr>
          <a:xfrm>
            <a:off x="6057900" y="9534525"/>
            <a:ext cx="6172200" cy="547688"/>
            <a:chOff x="0" y="0"/>
            <a:chExt cx="8229600" cy="730250"/>
          </a:xfrm>
        </p:grpSpPr>
        <p:sp>
          <p:nvSpPr>
            <p:cNvPr id="7" name="Freeform 7"/>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blipFill>
              <a:blip r:embed="rId2">
                <a:alphaModFix amt="0"/>
              </a:blip>
              <a:stretch>
                <a:fillRect t="-169587" b="-169587"/>
              </a:stretch>
            </a:blipFill>
          </p:spPr>
        </p:sp>
        <p:sp>
          <p:nvSpPr>
            <p:cNvPr id="8" name="TextBox 8"/>
            <p:cNvSpPr txBox="1"/>
            <p:nvPr/>
          </p:nvSpPr>
          <p:spPr>
            <a:xfrm>
              <a:off x="0" y="-19050"/>
              <a:ext cx="8229600" cy="749300"/>
            </a:xfrm>
            <a:prstGeom prst="rect">
              <a:avLst/>
            </a:prstGeom>
          </p:spPr>
          <p:txBody>
            <a:bodyPr lIns="0" tIns="0" rIns="0" bIns="0" rtlCol="0" anchor="ctr"/>
            <a:lstStyle/>
            <a:p>
              <a:pPr algn="ctr">
                <a:lnSpc>
                  <a:spcPts val="2160"/>
                </a:lnSpc>
              </a:pPr>
              <a:r>
                <a:rPr lang="en-US" sz="1800">
                  <a:solidFill>
                    <a:srgbClr val="FFFFFF"/>
                  </a:solidFill>
                  <a:latin typeface="Times New Roman"/>
                  <a:ea typeface="Times New Roman"/>
                  <a:cs typeface="Times New Roman"/>
                  <a:sym typeface="Times New Roman"/>
                </a:rPr>
                <a:t>Department of Computer Science &amp; Engineering, PUB</a:t>
              </a:r>
            </a:p>
          </p:txBody>
        </p:sp>
      </p:grpSp>
      <p:sp>
        <p:nvSpPr>
          <p:cNvPr id="9" name="TextBox 9"/>
          <p:cNvSpPr txBox="1"/>
          <p:nvPr/>
        </p:nvSpPr>
        <p:spPr>
          <a:xfrm>
            <a:off x="1880483" y="4934950"/>
            <a:ext cx="4959820" cy="809701"/>
          </a:xfrm>
          <a:prstGeom prst="rect">
            <a:avLst/>
          </a:prstGeom>
        </p:spPr>
        <p:txBody>
          <a:bodyPr lIns="0" tIns="0" rIns="0" bIns="0" rtlCol="0" anchor="t">
            <a:spAutoFit/>
          </a:bodyPr>
          <a:lstStyle/>
          <a:p>
            <a:pPr algn="l">
              <a:lnSpc>
                <a:spcPts val="5184"/>
              </a:lnSpc>
            </a:pPr>
            <a:r>
              <a:rPr lang="en-US" sz="4800" i="1">
                <a:solidFill>
                  <a:srgbClr val="C00000"/>
                </a:solidFill>
                <a:latin typeface="Times New Roman Italics"/>
                <a:ea typeface="Times New Roman Italics"/>
                <a:cs typeface="Times New Roman Italics"/>
                <a:sym typeface="Times New Roman Italics"/>
              </a:rPr>
              <a:t>Any Questions?</a:t>
            </a:r>
          </a:p>
        </p:txBody>
      </p:sp>
      <p:grpSp>
        <p:nvGrpSpPr>
          <p:cNvPr id="10" name="Group 10"/>
          <p:cNvGrpSpPr/>
          <p:nvPr/>
        </p:nvGrpSpPr>
        <p:grpSpPr>
          <a:xfrm>
            <a:off x="1789043" y="3595078"/>
            <a:ext cx="6956746" cy="1366399"/>
            <a:chOff x="0" y="0"/>
            <a:chExt cx="9275661" cy="1821866"/>
          </a:xfrm>
        </p:grpSpPr>
        <p:sp>
          <p:nvSpPr>
            <p:cNvPr id="11" name="Freeform 11"/>
            <p:cNvSpPr/>
            <p:nvPr/>
          </p:nvSpPr>
          <p:spPr>
            <a:xfrm>
              <a:off x="0" y="0"/>
              <a:ext cx="9275666" cy="1821870"/>
            </a:xfrm>
            <a:custGeom>
              <a:avLst/>
              <a:gdLst/>
              <a:ahLst/>
              <a:cxnLst/>
              <a:rect l="l" t="t" r="r" b="b"/>
              <a:pathLst>
                <a:path w="9275666" h="1821870">
                  <a:moveTo>
                    <a:pt x="0" y="0"/>
                  </a:moveTo>
                  <a:lnTo>
                    <a:pt x="9275666" y="0"/>
                  </a:lnTo>
                  <a:lnTo>
                    <a:pt x="9275666" y="1821870"/>
                  </a:lnTo>
                  <a:lnTo>
                    <a:pt x="0" y="1821870"/>
                  </a:lnTo>
                  <a:close/>
                </a:path>
              </a:pathLst>
            </a:custGeom>
            <a:blipFill>
              <a:blip r:embed="rId2">
                <a:alphaModFix amt="0"/>
              </a:blip>
              <a:stretch>
                <a:fillRect t="-49204" b="-49203"/>
              </a:stretch>
            </a:blipFill>
          </p:spPr>
        </p:sp>
        <p:sp>
          <p:nvSpPr>
            <p:cNvPr id="12" name="TextBox 12"/>
            <p:cNvSpPr txBox="1"/>
            <p:nvPr/>
          </p:nvSpPr>
          <p:spPr>
            <a:xfrm>
              <a:off x="0" y="57150"/>
              <a:ext cx="9275661" cy="1764716"/>
            </a:xfrm>
            <a:prstGeom prst="rect">
              <a:avLst/>
            </a:prstGeom>
          </p:spPr>
          <p:txBody>
            <a:bodyPr lIns="0" tIns="0" rIns="0" bIns="0" rtlCol="0" anchor="b"/>
            <a:lstStyle/>
            <a:p>
              <a:pPr algn="l">
                <a:lnSpc>
                  <a:spcPts val="9720"/>
                </a:lnSpc>
              </a:pPr>
              <a:r>
                <a:rPr lang="en-US" sz="9000" b="1">
                  <a:solidFill>
                    <a:srgbClr val="222A35"/>
                  </a:solidFill>
                  <a:latin typeface="Times New Roman Bold"/>
                  <a:ea typeface="Times New Roman Bold"/>
                  <a:cs typeface="Times New Roman Bold"/>
                  <a:sym typeface="Times New Roman Bold"/>
                </a:rPr>
                <a:t>Thank You.</a:t>
              </a:r>
            </a:p>
          </p:txBody>
        </p:sp>
      </p:gr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1687</Words>
  <Application>Microsoft Office PowerPoint</Application>
  <PresentationFormat>Custom</PresentationFormat>
  <Paragraphs>170</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Times New Roman Bold</vt:lpstr>
      <vt:lpstr>Times New Roman</vt:lpstr>
      <vt:lpstr>Times New Roman Italics</vt:lpstr>
      <vt:lpstr>Calibri</vt:lpstr>
      <vt:lpstr>Calibri (MS)</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FY_Thesis_Presentation_Samiul_Alam (2).pptx</dc:title>
  <cp:lastModifiedBy>Samiul Alam</cp:lastModifiedBy>
  <cp:revision>5</cp:revision>
  <dcterms:created xsi:type="dcterms:W3CDTF">2006-08-16T00:00:00Z</dcterms:created>
  <dcterms:modified xsi:type="dcterms:W3CDTF">2026-10-02T02:52:44Z</dcterms:modified>
  <dc:identifier>DAHW0iRaN5w</dc:identifier>
</cp:coreProperties>
</file>